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h8m2QdrRo3bqT8GeDrsOF3LUIC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0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2" name="Google Shape;92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"/>
          <p:cNvCxnSpPr/>
          <p:nvPr/>
        </p:nvCxnSpPr>
        <p:spPr>
          <a:xfrm flipH="1" rot="10800000">
            <a:off x="4781916" y="4112436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5" name="Google Shape;95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6" name="Google Shape;96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52209"/>
            <a:ext cx="3469341" cy="19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598882" y="1737360"/>
            <a:ext cx="87279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98882" y="2888778"/>
            <a:ext cx="82054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rPr>
              <a:t>Heaps and Heap sort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08" name="Google Shape;108;p2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" name="Google Shape;110;p2"/>
          <p:cNvCxnSpPr/>
          <p:nvPr/>
        </p:nvCxnSpPr>
        <p:spPr>
          <a:xfrm flipH="1" rot="10800000">
            <a:off x="0" y="2596822"/>
            <a:ext cx="7904054" cy="68537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19" name="Google Shape;119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0" name="Google Shape;120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1" name="Google Shape;121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22" name="Google Shape;122;p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15792" y="1868710"/>
            <a:ext cx="996874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Heaps and Heapsort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Heap: a partially ordered data structure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Efficient for implementing priority queues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Priority queue: multiset of elements with priorities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Main operations: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Find item with highest priority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Delete item with highest priority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Insert a new item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3" name="Google Shape;133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4" name="Google Shape;134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5" name="Google Shape;135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36" name="Google Shape;136;p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815792" y="1868710"/>
            <a:ext cx="996874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 Priority Queues and Heaps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operating system scheduling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Used in network traffic management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Important algorithms using heaps: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Prim’s Algorithm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Dijkstra’s Algorithm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Huffman Coding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Heaps are also used in Heapsort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7" name="Google Shape;147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8" name="Google Shape;148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9" name="Google Shape;149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50" name="Google Shape;150;p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15792" y="1451853"/>
            <a:ext cx="9968748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a Heap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heap is a binary tree with one key per node satisfying: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Shape Property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The binary tree is essentially complete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All levels are full except possibly the last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The last level is filled from left to right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Heap Property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key in each node is ≥ the keys in its children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Root always contains the largest key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Keys decrease along any root-to-leaf path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left-to-right ordering between nodes at the same level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1" name="Google Shape;161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2" name="Google Shape;162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3" name="Google Shape;163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64" name="Google Shape;164;p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15792" y="1653558"/>
            <a:ext cx="996874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Properties of Heaps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one essentially complete binary tree exists with n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Height of heap = ⌊log₂ n⌋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Root contains the largest element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Any subtree of a heap is also a heap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Representation of a Heap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elements can be stored in an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Stored in top-down, left-to-right order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Array positions: 1 to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Parents occupy first ⌊n/2⌋ positions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Leaves occupy the last ⌈n/2⌉ positions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5" name="Google Shape;175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6" name="Google Shape;176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7" name="Google Shape;177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78" name="Google Shape;178;p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6953" y="1700668"/>
            <a:ext cx="3827872" cy="2347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4023" y="4451332"/>
            <a:ext cx="7372765" cy="1755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8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0" name="Google Shape;19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1" name="Google Shape;191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2" name="Google Shape;192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93" name="Google Shape;193;p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15792" y="1868710"/>
            <a:ext cx="996874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Parent–Child Relationships in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 node at position i: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Left child → 2i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Right child → 2i + 1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Parent → ⌊i/2⌋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condition: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H[i] ≥ max(H[2i], H[2i+1])  for i = 1 … ⌊n/2⌋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3" name="Google Shape;203;p9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4" name="Google Shape;204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5" name="Google Shape;205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6" name="Google Shape;206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07" name="Google Shape;207;p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815792" y="1868710"/>
            <a:ext cx="99687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are heaps?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0338" y="1766487"/>
            <a:ext cx="2593849" cy="1970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0350" y="3732900"/>
            <a:ext cx="6453162" cy="22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10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20" name="Google Shape;220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21" name="Google Shape;221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22" name="Google Shape;222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23" name="Google Shape;223;p1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15792" y="1868710"/>
            <a:ext cx="996874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Construction (Bottom‑Up Method)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main ways to construct a heap: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Top‑down construction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Bottom‑up construction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Bottom‑up heap construction starts with an unordered complete binary tree and converts it into a heap by applying heapify from the last internal node up to the root.</a:t>
            </a:r>
            <a:endParaRPr/>
          </a:p>
        </p:txBody>
      </p:sp>
      <p:pic>
        <p:nvPicPr>
          <p:cNvPr id="226" name="Google Shape;2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11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4" name="Google Shape;234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5" name="Google Shape;235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6" name="Google Shape;236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37" name="Google Shape;237;p1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815792" y="1868710"/>
            <a:ext cx="996874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 of Bottom‑Up Heap Construction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 the input array as a complete binary tree.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Start with the last parent node.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Apply heapify to enforce heap property.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Move upward level by level.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Repeat until the root node is processed.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ensures the entire structure satisfies the heap property</a:t>
            </a:r>
            <a:endParaRPr/>
          </a:p>
        </p:txBody>
      </p:sp>
      <p:pic>
        <p:nvPicPr>
          <p:cNvPr id="240" name="Google Shape;2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12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8" name="Google Shape;248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9" name="Google Shape;249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50" name="Google Shape;250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51" name="Google Shape;251;p1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815792" y="1868710"/>
            <a:ext cx="996874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Heapify Process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node 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Compare the node with its children.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Identify the larger child (for max‑heap).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If the child is larger, Move the child up to position of parent.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Continue this process until the node reaches a position where the heap property is satisfied.</a:t>
            </a:r>
            <a:endParaRPr/>
          </a:p>
        </p:txBody>
      </p:sp>
      <p:pic>
        <p:nvPicPr>
          <p:cNvPr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1" name="Google Shape;261;p1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2" name="Google Shape;262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3" name="Google Shape;263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4" name="Google Shape;264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65" name="Google Shape;265;p1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815792" y="1451853"/>
            <a:ext cx="99687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Bottom‑Up Heap Construction Algorithm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4293" y="1975061"/>
            <a:ext cx="6230763" cy="4694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1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1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7" name="Google Shape;277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8" name="Google Shape;278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9" name="Google Shape;279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80" name="Google Shape;280;p1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815792" y="1451853"/>
            <a:ext cx="99687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Bottom‑Up Heap Construction</a:t>
            </a:r>
            <a:endParaRPr/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list: 2, 9, 7, 6, 5, 8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7716" y="2512640"/>
            <a:ext cx="8333762" cy="3256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1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1" name="Google Shape;291;p1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2" name="Google Shape;292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3" name="Google Shape;293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4" name="Google Shape;294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95" name="Google Shape;295;p1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815792" y="1451853"/>
            <a:ext cx="996874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the heap is a complete binary tree.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nodes: n = 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(h+1)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− 1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of heap: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log₂(n + 1) − 1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5" name="Google Shape;305;p1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6" name="Google Shape;306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7" name="Google Shape;307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8" name="Google Shape;308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09" name="Google Shape;309;p1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815792" y="1451853"/>
            <a:ext cx="996874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worst case, a node may travel from its level to the leaf level.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each level: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One comparison to find the larger child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One comparison to check heap condition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key comparisons for a node at level i: 2(h − 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p1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0" name="Google Shape;320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1" name="Google Shape;321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2" name="Google Shape;322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23" name="Google Shape;323;p1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815792" y="1451853"/>
            <a:ext cx="996874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key comparisons in worst case: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 of Bottom‑Up Heap Construction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Worst‑case comparisons &lt; 2n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Time complexity: Θ(n)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48" y="2725635"/>
            <a:ext cx="10433635" cy="1330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4" name="Google Shape;334;p18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35" name="Google Shape;335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36" name="Google Shape;336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37" name="Google Shape;337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38" name="Google Shape;338;p1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815792" y="1451853"/>
            <a:ext cx="996874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Top-Down Heap Construction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alternative way to build a heap is by inserting elements one by one.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method is called the Top-Down Heap Construction algorithm.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constructs the heap by successive insertions into an existing heap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an empty heap.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Insert elements sequentially.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Each new element is inserted at the last leaf position.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Restore the heap property by moving the element upward.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upward movement is called 'sift-up' or 'bubble-up</a:t>
            </a:r>
            <a:endParaRPr/>
          </a:p>
        </p:txBody>
      </p:sp>
      <p:pic>
        <p:nvPicPr>
          <p:cNvPr id="341" name="Google Shape;3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8" name="Google Shape;348;p19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49" name="Google Shape;349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50" name="Google Shape;350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51" name="Google Shape;351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52" name="Google Shape;352;p1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815792" y="1451853"/>
            <a:ext cx="996874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 Procedure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Insert the new key K at the next available leaf position.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Compare K with its parent.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If parent ≥ K, stop (heap property satisfied).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 Otherwise swap K with its parent.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5: Continue until K reaches correct position or root.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2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2" name="Google Shape;362;p20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63" name="Google Shape;363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64" name="Google Shape;364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65" name="Google Shape;365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66" name="Google Shape;366;p2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815792" y="1451853"/>
            <a:ext cx="996874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we insert elements one by one into a heap.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insertion: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Element is placed at the leaf.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It moves upward until heap property holds.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gradually builds the heap from top to bottom.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inserting 10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4487" y="4327066"/>
            <a:ext cx="7918320" cy="1827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2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7" name="Google Shape;377;p21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78" name="Google Shape;378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79" name="Google Shape;379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80" name="Google Shape;380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81" name="Google Shape;381;p2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815792" y="1451853"/>
            <a:ext cx="9968748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insertion: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 worst case, element moves from leaf to root.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Height of heap = log₂ 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 per insertion = ϴ(log 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2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2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1" name="Google Shape;391;p22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92" name="Google Shape;392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93" name="Google Shape;393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94" name="Google Shape;394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95" name="Google Shape;395;p2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15792" y="1451853"/>
            <a:ext cx="996874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Deletion in a Heap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Deleting an element from a heap usually refers to deleting the root element.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most common operation because the root stores the maximum (in a max-heap) or minimum (in a min-heap) element.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deletion process maintains the heap property after removing the root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2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5" name="Google Shape;405;p2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06" name="Google Shape;406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07" name="Google Shape;407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08" name="Google Shape;408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09" name="Google Shape;409;p2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815792" y="1451853"/>
            <a:ext cx="9968748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Key Deletion from a Heap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Exchange the root key with the last key of the heap.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Decrease the heap size by 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Restore the heap property by performing heapify (sifting the element down the tree).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1218" y="4276233"/>
            <a:ext cx="5472964" cy="229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2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0" name="Google Shape;420;p2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21" name="Google Shape;421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22" name="Google Shape;422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23" name="Google Shape;423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24" name="Google Shape;424;p2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815792" y="1451853"/>
            <a:ext cx="9968748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Heapify after Deletion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swapping the root with the last element: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Check the parent dominance condition.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If the heap property holds, stop.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Otherwise, swap the element with the larger of its children.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Continue until the heap property is satisfied.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2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4" name="Google Shape;434;p2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35" name="Google Shape;435;p2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36" name="Google Shape;436;p2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37" name="Google Shape;437;p2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38" name="Google Shape;438;p2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815792" y="1451853"/>
            <a:ext cx="9968748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Heapify(H[1..n])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k=1; v=H[k]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heap=false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while not heap and 2*k&lt;=n do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{  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j=2*k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j&lt;n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if(H[j] &lt; H[j+1]) j=j+1;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(v &gt;H[j])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heap=true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else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H[k]=H[j]; k=j;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H[k]=v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2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8" name="Google Shape;448;p2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49" name="Google Shape;449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50" name="Google Shape;450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51" name="Google Shape;451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52" name="Google Shape;452;p2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815792" y="1451853"/>
            <a:ext cx="996874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 of Deletion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efficiency of deletion depends on the number of comparisons needed during heapify.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worst case, the element travels from the root to a leaf.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of heap = log₂ 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Therefore, deletion takes ϴ(log n)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2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2" name="Google Shape;462;p2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63" name="Google Shape;463;p2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64" name="Google Shape;464;p2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65" name="Google Shape;465;p2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66" name="Google Shape;466;p2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7"/>
          <p:cNvSpPr/>
          <p:nvPr/>
        </p:nvSpPr>
        <p:spPr>
          <a:xfrm>
            <a:off x="815792" y="1451853"/>
            <a:ext cx="9968748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Heapsort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Heapsort is a sorting algorithm discovered by J. W. Williams.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works in two main stages: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Heap construction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Repeated deletion of the maximum element.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1: Heap Construction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heap for the given array.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step can be done using the bottom-up heap construction algorithm.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 of heap construction = ϴ (n).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2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6" name="Google Shape;476;p28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77" name="Google Shape;477;p2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78" name="Google Shape;478;p2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79" name="Google Shape;479;p2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80" name="Google Shape;480;p2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815792" y="1451853"/>
            <a:ext cx="996874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2: Maximum Deletions.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the root deletion operation repeatedly.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the maximum element n − 1 times.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deletion places the removed element at the end of the array.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the deleted elements are placed at the end of the array, the final array becomes sorted in increasing order.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Heapsort is an in-place sorting algorithm and does not require extra storage.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9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2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0" name="Google Shape;490;p29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91" name="Google Shape;491;p2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92" name="Google Shape;492;p2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93" name="Google Shape;493;p2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94" name="Google Shape;494;p2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9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9"/>
          <p:cNvSpPr/>
          <p:nvPr/>
        </p:nvSpPr>
        <p:spPr>
          <a:xfrm>
            <a:off x="815792" y="1451853"/>
            <a:ext cx="9968748" cy="4862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HeapSort(H[1..n])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HeapBottomUp(H[1..n])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//Construct heap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i ← n downto 2 do</a:t>
            </a:r>
            <a:endParaRPr/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H[1] ↔ H[i]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//H[1] has the max element.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Heapify(H[1..i-1])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//Shift down H[1]</a:t>
            </a:r>
            <a:endParaRPr/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 of Heapsort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1: Heap Construction = ϴ 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2: Repeated deletions = ϴ(n log 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0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3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4" name="Google Shape;504;p30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05" name="Google Shape;505;p3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06" name="Google Shape;506;p3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07" name="Google Shape;507;p3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508" name="Google Shape;508;p3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/>
          <p:nvPr/>
        </p:nvSpPr>
        <p:spPr>
          <a:xfrm>
            <a:off x="815792" y="1451853"/>
            <a:ext cx="9968748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Comparisons During Root Deletions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C(n) be the number of comparisons required to eliminate the root keys from heaps of sizes n, n−1, n−2, ..., 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heap of size k, the height of the heap is approximately log₂k. Heapify requires at most about 2 log₂k comparisons.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 for Total Comparisons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total number of comparisons satisfies the inequality: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 ≤ 2⌊log₂(n−1)⌋ + 2⌊log₂(n−2)⌋ + ... + 2⌊log₂2⌋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can be bounded 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 ≤ 2 Σ (from i=1 to n−1) log₂i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3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8" name="Google Shape;518;p31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19" name="Google Shape;519;p3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20" name="Google Shape;520;p3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21" name="Google Shape;521;p3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522" name="Google Shape;522;p3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1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1"/>
          <p:cNvSpPr/>
          <p:nvPr/>
        </p:nvSpPr>
        <p:spPr>
          <a:xfrm>
            <a:off x="815792" y="1451853"/>
            <a:ext cx="9968748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Upper Bound Simplification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log₂ i ≤ log₂(n−1), we obtain: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 ≤ 2 Σ (from i=1 to n−1) log₂(n−1)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 = 2(n−1) log₂(n−1)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Complexity Result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(n−1)log₂(n−1) ≤ n log₂ n, we get: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 ≤ 2n log₂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 ∈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log n)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2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Heap and Heap Sort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p3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2" name="Google Shape;532;p32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33" name="Google Shape;533;p3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34" name="Google Shape;534;p3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35" name="Google Shape;535;p3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536" name="Google Shape;536;p3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5046" y="1454624"/>
            <a:ext cx="7405401" cy="17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/>
          <p:nvPr/>
        </p:nvSpPr>
        <p:spPr>
          <a:xfrm>
            <a:off x="1209808" y="3701474"/>
            <a:ext cx="853888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Time Complexity: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ϴ(n) + ϴ(n log n) = ϴ(n log 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Worst-case complexity = ϴ(n log 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Average-case complexity = ϴ(n log 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In-place sorting algorithm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extra memory required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Heapsort can be competitive with mergesort but is usually slower than quicksort in practice.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3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7" name="Google Shape;547;p3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48" name="Google Shape;548;p3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49" name="Google Shape;549;p3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50" name="Google Shape;550;p3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551" name="Google Shape;551;p3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" name="Google Shape;55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3"/>
          <p:cNvSpPr/>
          <p:nvPr/>
        </p:nvSpPr>
        <p:spPr>
          <a:xfrm>
            <a:off x="1209808" y="1738208"/>
            <a:ext cx="8538883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a heap be constructed using the bottom-up heap construction algorithm for n=2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h+1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−1 (a full binary tree). The maximum number of comparisons involving nodes at level i 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(h−i)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(h−i)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h−i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(h+i)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B 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(h−i)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0" name="Google Shape;560;p3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1" name="Google Shape;561;p3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62" name="Google Shape;562;p3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63" name="Google Shape;563;p3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64" name="Google Shape;564;p3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565" name="Google Shape;565;p3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7" name="Google Shape;56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4"/>
          <p:cNvSpPr/>
          <p:nvPr/>
        </p:nvSpPr>
        <p:spPr>
          <a:xfrm>
            <a:off x="1209808" y="1738208"/>
            <a:ext cx="8538883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worst-case total number of comparisons in bottom-up heap construction for n elements 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n log⁡n 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n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2(n−log⁡2(n+1))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log⁡n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C. 2(n−log⁡2(n+1))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p3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5" name="Google Shape;575;p3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76" name="Google Shape;576;p3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77" name="Google Shape;577;p3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78" name="Google Shape;578;p3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579" name="Google Shape;579;p3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5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1" name="Google Shape;58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5"/>
          <p:cNvSpPr/>
          <p:nvPr/>
        </p:nvSpPr>
        <p:spPr>
          <a:xfrm>
            <a:off x="591246" y="1738208"/>
            <a:ext cx="8538883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a heap is built by successive insertions (top-down method). If the input array is already arranged in decreasing order, the time complexity of building the heap will be: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ϴ(n)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ϴ(nlog⁡n)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ϴ(log⁡n)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ϴ(n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A : ϴ(n)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8" name="Google Shape;588;p3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9" name="Google Shape;589;p3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90" name="Google Shape;590;p3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91" name="Google Shape;591;p3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592" name="Google Shape;592;p3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593" name="Google Shape;593;p3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6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5" name="Google Shape;59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6"/>
          <p:cNvSpPr/>
          <p:nvPr/>
        </p:nvSpPr>
        <p:spPr>
          <a:xfrm>
            <a:off x="591246" y="1738208"/>
            <a:ext cx="8538883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heap with n elements, deleting the maximum element requires at most how many key comparisons during heapify?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log⁡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2log⁡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n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n log⁡n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 B: 2log⁡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2" name="Google Shape;602;p3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3" name="Google Shape;603;p3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604" name="Google Shape;604;p3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605" name="Google Shape;605;p3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606" name="Google Shape;606;p3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607" name="Google Shape;607;p3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7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37"/>
          <p:cNvSpPr/>
          <p:nvPr/>
        </p:nvSpPr>
        <p:spPr>
          <a:xfrm>
            <a:off x="591246" y="1738208"/>
            <a:ext cx="8538883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comparisons required in the second stage of heapsort satisfies the inequality: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 ≤ 2 ∑ i=1 to n−1 log⁡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 Which of the following is the tightest asymptotic bound?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ϴ(n)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ϴ(nlog⁡n)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ϴ(n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ϴ(log⁡n)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B: O(nlog⁡n)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8"/>
          <p:cNvSpPr/>
          <p:nvPr/>
        </p:nvSpPr>
        <p:spPr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8"/>
          <p:cNvSpPr/>
          <p:nvPr/>
        </p:nvSpPr>
        <p:spPr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739" y="2334597"/>
            <a:ext cx="3150920" cy="1712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8" name="Google Shape;618;p38"/>
          <p:cNvCxnSpPr/>
          <p:nvPr/>
        </p:nvCxnSpPr>
        <p:spPr>
          <a:xfrm>
            <a:off x="4994108" y="3339537"/>
            <a:ext cx="4583156" cy="27277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2020-06-03T14:19:11Z</dcterms:created>
  <dc:creator>Krishna Venkataram</dc:creator>
</cp:coreProperties>
</file>