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g9Ztjes85Mxyw0etIehW3ntJOc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customschemas.google.com/relationships/presentationmetadata" Target="metadata"/><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latin typeface="Calibri"/>
              <a:ea typeface="Calibri"/>
              <a:cs typeface="Calibri"/>
              <a:sym typeface="Calibri"/>
            </a:endParaRPr>
          </a:p>
        </p:txBody>
      </p:sp>
      <p:sp>
        <p:nvSpPr>
          <p:cNvPr id="417" name="Google Shape;41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6"/>
          <p:cNvSpPr/>
          <p:nvPr>
            <p:ph idx="2" type="pic"/>
          </p:nvPr>
        </p:nvSpPr>
        <p:spPr>
          <a:xfrm>
            <a:off x="5183188" y="987425"/>
            <a:ext cx="6172200" cy="4873625"/>
          </a:xfrm>
          <a:prstGeom prst="rect">
            <a:avLst/>
          </a:prstGeom>
          <a:noFill/>
          <a:ln>
            <a:noFill/>
          </a:ln>
        </p:spPr>
      </p:sp>
      <p:sp>
        <p:nvSpPr>
          <p:cNvPr id="68" name="Google Shape;68;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4781916" y="2548875"/>
            <a:ext cx="749721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C55A11"/>
                </a:solidFill>
                <a:latin typeface="Calibri"/>
                <a:ea typeface="Calibri"/>
                <a:cs typeface="Calibri"/>
                <a:sym typeface="Calibri"/>
              </a:rPr>
              <a:t>Design and Analysis of Algorithms</a:t>
            </a:r>
            <a:endParaRPr b="1" sz="3600">
              <a:solidFill>
                <a:srgbClr val="C55A11"/>
              </a:solidFill>
              <a:latin typeface="Calibri"/>
              <a:ea typeface="Calibri"/>
              <a:cs typeface="Calibri"/>
              <a:sym typeface="Calibri"/>
            </a:endParaRPr>
          </a:p>
        </p:txBody>
      </p:sp>
      <p:sp>
        <p:nvSpPr>
          <p:cNvPr id="89" name="Google Shape;89;p1"/>
          <p:cNvSpPr/>
          <p:nvPr/>
        </p:nvSpPr>
        <p:spPr>
          <a:xfrm>
            <a:off x="4781916" y="4415503"/>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Dinesh Singh</a:t>
            </a:r>
            <a:endParaRPr b="1" sz="2400">
              <a:solidFill>
                <a:schemeClr val="dk1"/>
              </a:solidFill>
              <a:latin typeface="Calibri"/>
              <a:ea typeface="Calibri"/>
              <a:cs typeface="Calibri"/>
              <a:sym typeface="Calibri"/>
            </a:endParaRPr>
          </a:p>
        </p:txBody>
      </p:sp>
      <p:sp>
        <p:nvSpPr>
          <p:cNvPr id="90" name="Google Shape;90;p1"/>
          <p:cNvSpPr/>
          <p:nvPr/>
        </p:nvSpPr>
        <p:spPr>
          <a:xfrm>
            <a:off x="4781916" y="4813108"/>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Department of Computer Science &amp; Engineering</a:t>
            </a:r>
            <a:endParaRPr sz="2400">
              <a:solidFill>
                <a:schemeClr val="dk1"/>
              </a:solidFill>
              <a:latin typeface="Calibri"/>
              <a:ea typeface="Calibri"/>
              <a:cs typeface="Calibri"/>
              <a:sym typeface="Calibri"/>
            </a:endParaRPr>
          </a:p>
        </p:txBody>
      </p:sp>
      <p:grpSp>
        <p:nvGrpSpPr>
          <p:cNvPr id="91" name="Google Shape;91;p1"/>
          <p:cNvGrpSpPr/>
          <p:nvPr/>
        </p:nvGrpSpPr>
        <p:grpSpPr>
          <a:xfrm>
            <a:off x="313844" y="5489699"/>
            <a:ext cx="1066895" cy="1078155"/>
            <a:chOff x="313844" y="5489699"/>
            <a:chExt cx="1066895" cy="1078155"/>
          </a:xfrm>
        </p:grpSpPr>
        <p:sp>
          <p:nvSpPr>
            <p:cNvPr id="92" name="Google Shape;92;p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 name="Google Shape;93;p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cxnSp>
        <p:nvCxnSpPr>
          <p:cNvPr id="94" name="Google Shape;94;p1"/>
          <p:cNvCxnSpPr/>
          <p:nvPr/>
        </p:nvCxnSpPr>
        <p:spPr>
          <a:xfrm>
            <a:off x="4781916" y="4112438"/>
            <a:ext cx="6459825" cy="2362"/>
          </a:xfrm>
          <a:prstGeom prst="straightConnector1">
            <a:avLst/>
          </a:prstGeom>
          <a:noFill/>
          <a:ln cap="flat" cmpd="sng" w="38100">
            <a:solidFill>
              <a:srgbClr val="C55A11"/>
            </a:solidFill>
            <a:prstDash val="solid"/>
            <a:miter lim="800000"/>
            <a:headEnd len="sm" w="sm" type="none"/>
            <a:tailEnd len="sm" w="sm" type="none"/>
          </a:ln>
        </p:spPr>
      </p:cxnSp>
      <p:grpSp>
        <p:nvGrpSpPr>
          <p:cNvPr id="95" name="Google Shape;95;p1"/>
          <p:cNvGrpSpPr/>
          <p:nvPr/>
        </p:nvGrpSpPr>
        <p:grpSpPr>
          <a:xfrm rot="10800000">
            <a:off x="10855702" y="266068"/>
            <a:ext cx="1066895" cy="1078155"/>
            <a:chOff x="313844" y="5489699"/>
            <a:chExt cx="1066895" cy="1078155"/>
          </a:xfrm>
        </p:grpSpPr>
        <p:sp>
          <p:nvSpPr>
            <p:cNvPr id="96" name="Google Shape;96;p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 name="Google Shape;97;p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pic>
        <p:nvPicPr>
          <p:cNvPr id="98" name="Google Shape;98;p1"/>
          <p:cNvPicPr preferRelativeResize="0"/>
          <p:nvPr/>
        </p:nvPicPr>
        <p:blipFill rotWithShape="1">
          <a:blip r:embed="rId3">
            <a:alphaModFix/>
          </a:blip>
          <a:srcRect b="0" l="0" r="0" t="0"/>
          <a:stretch/>
        </p:blipFill>
        <p:spPr>
          <a:xfrm>
            <a:off x="914400" y="2052209"/>
            <a:ext cx="3469341" cy="195501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p:nvPr/>
        </p:nvSpPr>
        <p:spPr>
          <a:xfrm>
            <a:off x="313843" y="1715770"/>
            <a:ext cx="872799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cap="none">
                <a:solidFill>
                  <a:schemeClr val="dk1"/>
                </a:solidFill>
                <a:latin typeface="Calibri"/>
                <a:ea typeface="Calibri"/>
                <a:cs typeface="Calibri"/>
                <a:sym typeface="Calibri"/>
              </a:rPr>
              <a:t>DESIGN AND ANALYSIS OF ALGORITHMS</a:t>
            </a:r>
            <a:endParaRPr b="1" sz="3600" cap="none">
              <a:solidFill>
                <a:schemeClr val="dk1"/>
              </a:solidFill>
              <a:latin typeface="Calibri"/>
              <a:ea typeface="Calibri"/>
              <a:cs typeface="Calibri"/>
              <a:sym typeface="Calibri"/>
            </a:endParaRPr>
          </a:p>
        </p:txBody>
      </p:sp>
      <p:sp>
        <p:nvSpPr>
          <p:cNvPr id="104" name="Google Shape;104;p2"/>
          <p:cNvSpPr/>
          <p:nvPr/>
        </p:nvSpPr>
        <p:spPr>
          <a:xfrm>
            <a:off x="309611" y="2900080"/>
            <a:ext cx="962776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2E75B5"/>
                </a:solidFill>
                <a:latin typeface="Calibri"/>
                <a:ea typeface="Calibri"/>
                <a:cs typeface="Calibri"/>
                <a:sym typeface="Calibri"/>
              </a:rPr>
              <a:t>Horspool’s Algorithm</a:t>
            </a:r>
            <a:endParaRPr b="1" sz="3600">
              <a:solidFill>
                <a:srgbClr val="2E75B5"/>
              </a:solidFill>
              <a:latin typeface="Calibri"/>
              <a:ea typeface="Calibri"/>
              <a:cs typeface="Calibri"/>
              <a:sym typeface="Calibri"/>
            </a:endParaRPr>
          </a:p>
        </p:txBody>
      </p:sp>
      <p:sp>
        <p:nvSpPr>
          <p:cNvPr id="105" name="Google Shape;105;p2"/>
          <p:cNvSpPr/>
          <p:nvPr/>
        </p:nvSpPr>
        <p:spPr>
          <a:xfrm>
            <a:off x="598883" y="5489699"/>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Dinesh Singh</a:t>
            </a:r>
            <a:endParaRPr b="1" sz="2400">
              <a:solidFill>
                <a:schemeClr val="dk1"/>
              </a:solidFill>
              <a:latin typeface="Calibri"/>
              <a:ea typeface="Calibri"/>
              <a:cs typeface="Calibri"/>
              <a:sym typeface="Calibri"/>
            </a:endParaRPr>
          </a:p>
        </p:txBody>
      </p:sp>
      <p:sp>
        <p:nvSpPr>
          <p:cNvPr id="106" name="Google Shape;106;p2"/>
          <p:cNvSpPr/>
          <p:nvPr/>
        </p:nvSpPr>
        <p:spPr>
          <a:xfrm>
            <a:off x="598883" y="5887304"/>
            <a:ext cx="749721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Department of Computer Science &amp; Engineering</a:t>
            </a:r>
            <a:endParaRPr sz="2000">
              <a:solidFill>
                <a:schemeClr val="dk1"/>
              </a:solidFill>
              <a:latin typeface="Calibri"/>
              <a:ea typeface="Calibri"/>
              <a:cs typeface="Calibri"/>
              <a:sym typeface="Calibri"/>
            </a:endParaRPr>
          </a:p>
        </p:txBody>
      </p:sp>
      <p:grpSp>
        <p:nvGrpSpPr>
          <p:cNvPr id="107" name="Google Shape;107;p2"/>
          <p:cNvGrpSpPr/>
          <p:nvPr/>
        </p:nvGrpSpPr>
        <p:grpSpPr>
          <a:xfrm>
            <a:off x="313844" y="5489699"/>
            <a:ext cx="1066895" cy="1078155"/>
            <a:chOff x="313844" y="5489699"/>
            <a:chExt cx="1066895" cy="1078155"/>
          </a:xfrm>
        </p:grpSpPr>
        <p:sp>
          <p:nvSpPr>
            <p:cNvPr id="108" name="Google Shape;108;p2"/>
            <p:cNvSpPr/>
            <p:nvPr/>
          </p:nvSpPr>
          <p:spPr>
            <a:xfrm rot="5400000">
              <a:off x="824432" y="6011547"/>
              <a:ext cx="45719" cy="1066895"/>
            </a:xfrm>
            <a:prstGeom prst="rect">
              <a:avLst/>
            </a:prstGeom>
            <a:solidFill>
              <a:srgbClr val="F4B0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2"/>
            <p:cNvSpPr/>
            <p:nvPr/>
          </p:nvSpPr>
          <p:spPr>
            <a:xfrm rot="10800000">
              <a:off x="313844" y="5489699"/>
              <a:ext cx="45719" cy="1066895"/>
            </a:xfrm>
            <a:prstGeom prst="rect">
              <a:avLst/>
            </a:prstGeom>
            <a:solidFill>
              <a:srgbClr val="F4B0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cxnSp>
        <p:nvCxnSpPr>
          <p:cNvPr id="110" name="Google Shape;110;p2"/>
          <p:cNvCxnSpPr/>
          <p:nvPr/>
        </p:nvCxnSpPr>
        <p:spPr>
          <a:xfrm flipH="1" rot="10800000">
            <a:off x="0" y="2596822"/>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111" name="Google Shape;111;p2"/>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b="1" sz="2400">
              <a:solidFill>
                <a:srgbClr val="C55A11"/>
              </a:solidFill>
              <a:latin typeface="Calibri"/>
              <a:ea typeface="Calibri"/>
              <a:cs typeface="Calibri"/>
              <a:sym typeface="Calibri"/>
            </a:endParaRPr>
          </a:p>
        </p:txBody>
      </p:sp>
      <p:cxnSp>
        <p:nvCxnSpPr>
          <p:cNvPr id="117" name="Google Shape;117;p3"/>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118" name="Google Shape;118;p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119" name="Google Shape;119;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20" name="Google Shape;120;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21" name="Google Shape;121;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122" name="Google Shape;122;p3"/>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3"/>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String Matching Problem</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Find occurrences of a pattern of length m in a text of length n.</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Pattern: sequence of m characters.</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Text: sequence of n characters</a:t>
            </a:r>
            <a:endParaRPr/>
          </a:p>
          <a:p>
            <a:pPr indent="-76200" lvl="0" marL="228600" marR="0" rtl="0" algn="l">
              <a:lnSpc>
                <a:spcPct val="90000"/>
              </a:lnSpc>
              <a:spcBef>
                <a:spcPts val="100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Brute-Force String Matching</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Matches characters of the pattern with the text sequentially.</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Pattern shifts one position to the right after each trial.</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Worst case comparisons: </a:t>
            </a:r>
            <a:r>
              <a:rPr lang="en-US" sz="2000">
                <a:solidFill>
                  <a:schemeClr val="dk1"/>
                </a:solidFill>
                <a:latin typeface="Calibri"/>
                <a:ea typeface="Calibri"/>
                <a:cs typeface="Calibri"/>
                <a:sym typeface="Calibri"/>
              </a:rPr>
              <a:t>ϴ</a:t>
            </a:r>
            <a:r>
              <a:rPr lang="en-US" sz="2400">
                <a:solidFill>
                  <a:schemeClr val="dk1"/>
                </a:solidFill>
                <a:latin typeface="Calibri"/>
                <a:ea typeface="Calibri"/>
                <a:cs typeface="Calibri"/>
                <a:sym typeface="Calibri"/>
              </a:rPr>
              <a:t>(nm).</a:t>
            </a:r>
            <a:endParaRPr/>
          </a:p>
          <a:p>
            <a:pPr indent="0" lvl="0" marL="0" marR="0" rtl="0" algn="l">
              <a:lnSpc>
                <a:spcPct val="90000"/>
              </a:lnSpc>
              <a:spcBef>
                <a:spcPts val="100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p:txBody>
      </p:sp>
      <p:pic>
        <p:nvPicPr>
          <p:cNvPr id="124" name="Google Shape;124;p3"/>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b="1" sz="2400">
              <a:solidFill>
                <a:srgbClr val="C55A11"/>
              </a:solidFill>
              <a:latin typeface="Calibri"/>
              <a:ea typeface="Calibri"/>
              <a:cs typeface="Calibri"/>
              <a:sym typeface="Calibri"/>
            </a:endParaRPr>
          </a:p>
        </p:txBody>
      </p:sp>
      <p:cxnSp>
        <p:nvCxnSpPr>
          <p:cNvPr id="130" name="Google Shape;130;p4"/>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131" name="Google Shape;131;p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132" name="Google Shape;132;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33" name="Google Shape;133;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34" name="Google Shape;134;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135" name="Google Shape;135;p4"/>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4"/>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Input Enhancement in String Matching</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Preprocess the pattern to build useful information.</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This preprocessing helps skip unnecessary comparisons during matching.</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Two well-known algorithms:</a:t>
            </a:r>
            <a:endParaRPr/>
          </a:p>
          <a:p>
            <a:pPr indent="-228600" lvl="2" marL="11430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Boyer–Moore Algorithm</a:t>
            </a:r>
            <a:endParaRPr/>
          </a:p>
          <a:p>
            <a:pPr indent="-228600" lvl="2" marL="11430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Knuth–Morris–Pratt (KMP) Algorithm</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KMP compares characters from left to right.</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Boyer–Moore compares characters from right to left.</a:t>
            </a:r>
            <a:endParaRPr/>
          </a:p>
          <a:p>
            <a:pPr indent="-76200" lvl="2" marL="11430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p:txBody>
      </p:sp>
      <p:pic>
        <p:nvPicPr>
          <p:cNvPr id="137" name="Google Shape;137;p4"/>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b="1" sz="2400">
              <a:solidFill>
                <a:srgbClr val="C55A11"/>
              </a:solidFill>
              <a:latin typeface="Calibri"/>
              <a:ea typeface="Calibri"/>
              <a:cs typeface="Calibri"/>
              <a:sym typeface="Calibri"/>
            </a:endParaRPr>
          </a:p>
        </p:txBody>
      </p:sp>
      <p:cxnSp>
        <p:nvCxnSpPr>
          <p:cNvPr id="143" name="Google Shape;143;p5"/>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144" name="Google Shape;144;p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145" name="Google Shape;145;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46" name="Google Shape;146;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47" name="Google Shape;147;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148" name="Google Shape;148;p5"/>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5"/>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Calibri"/>
                <a:ea typeface="Calibri"/>
                <a:cs typeface="Calibri"/>
                <a:sym typeface="Calibri"/>
              </a:rPr>
              <a:t>Horspool Algorithm</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 simplified version of Boyer–Moore.</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Proposed by R.N. Horspool.</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Simpler implementation and efficient for many practical cases</a:t>
            </a:r>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b="1" lang="en-US" sz="2400">
                <a:solidFill>
                  <a:schemeClr val="dk1"/>
                </a:solidFill>
                <a:latin typeface="Calibri"/>
                <a:ea typeface="Calibri"/>
                <a:cs typeface="Calibri"/>
                <a:sym typeface="Calibri"/>
              </a:rPr>
              <a:t>Idea of Horspool Algorithm</a:t>
            </a:r>
            <a:endParaRPr/>
          </a:p>
          <a:p>
            <a:pPr indent="0" lvl="0" marL="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Compares characters from right to left.</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If mismatch occurs, pattern is shifted using a pre computed shift table.</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Allows larger jumps than brute-force matching</a:t>
            </a:r>
            <a:endParaRPr b="1" sz="2400">
              <a:solidFill>
                <a:schemeClr val="dk1"/>
              </a:solidFill>
              <a:latin typeface="Calibri"/>
              <a:ea typeface="Calibri"/>
              <a:cs typeface="Calibri"/>
              <a:sym typeface="Calibri"/>
            </a:endParaRPr>
          </a:p>
        </p:txBody>
      </p:sp>
      <p:pic>
        <p:nvPicPr>
          <p:cNvPr id="150" name="Google Shape;150;p5"/>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6"/>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b="1" sz="2400">
              <a:solidFill>
                <a:srgbClr val="C55A11"/>
              </a:solidFill>
              <a:latin typeface="Calibri"/>
              <a:ea typeface="Calibri"/>
              <a:cs typeface="Calibri"/>
              <a:sym typeface="Calibri"/>
            </a:endParaRPr>
          </a:p>
        </p:txBody>
      </p:sp>
      <p:cxnSp>
        <p:nvCxnSpPr>
          <p:cNvPr id="156" name="Google Shape;156;p6"/>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157" name="Google Shape;157;p6"/>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158" name="Google Shape;158;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59" name="Google Shape;159;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60" name="Google Shape;160;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161" name="Google Shape;161;p6"/>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6"/>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Given a pattern P of length m and a text T of length n, It is required to check if the pattern exists in the text.</a:t>
            </a:r>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Consider as an example, searching for the pattern BARBER in some text</a:t>
            </a:r>
            <a:endParaRPr/>
          </a:p>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s</a:t>
            </a:r>
            <a:r>
              <a:rPr baseline="-25000" lang="en-US" sz="2400">
                <a:solidFill>
                  <a:schemeClr val="dk1"/>
                </a:solidFill>
                <a:latin typeface="Calibri"/>
                <a:ea typeface="Calibri"/>
                <a:cs typeface="Calibri"/>
                <a:sym typeface="Calibri"/>
              </a:rPr>
              <a:t>0</a:t>
            </a:r>
            <a:r>
              <a:rPr lang="en-US" sz="2400">
                <a:solidFill>
                  <a:schemeClr val="dk1"/>
                </a:solidFill>
                <a:latin typeface="Calibri"/>
                <a:ea typeface="Calibri"/>
                <a:cs typeface="Calibri"/>
                <a:sym typeface="Calibri"/>
              </a:rPr>
              <a:t>…………………..c……………………… s</a:t>
            </a:r>
            <a:r>
              <a:rPr baseline="-25000" lang="en-US" sz="2400">
                <a:solidFill>
                  <a:schemeClr val="dk1"/>
                </a:solidFill>
                <a:latin typeface="Calibri"/>
                <a:ea typeface="Calibri"/>
                <a:cs typeface="Calibri"/>
                <a:sym typeface="Calibri"/>
              </a:rPr>
              <a:t>n-1</a:t>
            </a:r>
            <a:endParaRPr/>
          </a:p>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BARBER</a:t>
            </a:r>
            <a:endParaRPr sz="2400">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Starting with last character R of the pattern, keep comparing each pair of characters in pattern and text. If all the characters match, then pattern is found. If any mismatch occurs, the pattern is shifted to the right. </a:t>
            </a:r>
            <a:endParaRPr/>
          </a:p>
        </p:txBody>
      </p:sp>
      <p:pic>
        <p:nvPicPr>
          <p:cNvPr id="163" name="Google Shape;163;p6"/>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7"/>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169" name="Google Shape;169;p7"/>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170" name="Google Shape;170;p7"/>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171" name="Google Shape;171;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72" name="Google Shape;172;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73" name="Google Shape;173;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174" name="Google Shape;174;p7"/>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7"/>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200"/>
              <a:buFont typeface="Arial"/>
              <a:buNone/>
            </a:pPr>
            <a:r>
              <a:rPr lang="en-US" sz="2200">
                <a:solidFill>
                  <a:schemeClr val="dk1"/>
                </a:solidFill>
                <a:latin typeface="Calibri"/>
                <a:ea typeface="Calibri"/>
                <a:cs typeface="Calibri"/>
                <a:sym typeface="Calibri"/>
              </a:rPr>
              <a:t>The number of characters to be shifted depends on following possibilities.</a:t>
            </a:r>
            <a:endParaRPr/>
          </a:p>
          <a:p>
            <a:pPr indent="0" lvl="0" marL="0" marR="0" rtl="0" algn="l">
              <a:lnSpc>
                <a:spcPct val="90000"/>
              </a:lnSpc>
              <a:spcBef>
                <a:spcPts val="1000"/>
              </a:spcBef>
              <a:spcAft>
                <a:spcPts val="0"/>
              </a:spcAft>
              <a:buClr>
                <a:schemeClr val="dk1"/>
              </a:buClr>
              <a:buSzPts val="2200"/>
              <a:buFont typeface="Arial"/>
              <a:buNone/>
            </a:pPr>
            <a:r>
              <a:rPr lang="en-US" sz="2200">
                <a:solidFill>
                  <a:schemeClr val="dk1"/>
                </a:solidFill>
                <a:latin typeface="Calibri"/>
                <a:ea typeface="Calibri"/>
                <a:cs typeface="Calibri"/>
                <a:sym typeface="Calibri"/>
              </a:rPr>
              <a:t>‘</a:t>
            </a:r>
            <a:r>
              <a:rPr lang="en-US" sz="2200">
                <a:solidFill>
                  <a:srgbClr val="FF0000"/>
                </a:solidFill>
                <a:latin typeface="Calibri"/>
                <a:ea typeface="Calibri"/>
                <a:cs typeface="Calibri"/>
                <a:sym typeface="Calibri"/>
              </a:rPr>
              <a:t>c’ </a:t>
            </a:r>
            <a:r>
              <a:rPr lang="en-US" sz="2200">
                <a:solidFill>
                  <a:schemeClr val="dk1"/>
                </a:solidFill>
                <a:latin typeface="Calibri"/>
                <a:ea typeface="Calibri"/>
                <a:cs typeface="Calibri"/>
                <a:sym typeface="Calibri"/>
              </a:rPr>
              <a:t>is the character of the text that is aligned with the last character of the pattern</a:t>
            </a:r>
            <a:endParaRPr/>
          </a:p>
          <a:p>
            <a:pPr indent="0" lvl="0" marL="0" marR="0" rtl="0" algn="l">
              <a:lnSpc>
                <a:spcPct val="90000"/>
              </a:lnSpc>
              <a:spcBef>
                <a:spcPts val="1000"/>
              </a:spcBef>
              <a:spcAft>
                <a:spcPts val="0"/>
              </a:spcAft>
              <a:buClr>
                <a:schemeClr val="dk1"/>
              </a:buClr>
              <a:buSzPts val="2200"/>
              <a:buFont typeface="Arial"/>
              <a:buNone/>
            </a:pPr>
            <a:r>
              <a:t/>
            </a:r>
            <a:endParaRPr sz="22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200"/>
              <a:buFont typeface="Arial"/>
              <a:buNone/>
            </a:pPr>
            <a:r>
              <a:rPr b="1" lang="en-US" sz="2200">
                <a:solidFill>
                  <a:schemeClr val="dk1"/>
                </a:solidFill>
                <a:latin typeface="Calibri"/>
                <a:ea typeface="Calibri"/>
                <a:cs typeface="Calibri"/>
                <a:sym typeface="Calibri"/>
              </a:rPr>
              <a:t>Case 1 : </a:t>
            </a:r>
            <a:r>
              <a:rPr b="1" lang="en-US" sz="2000">
                <a:solidFill>
                  <a:schemeClr val="dk1"/>
                </a:solidFill>
                <a:latin typeface="Calibri"/>
                <a:ea typeface="Calibri"/>
                <a:cs typeface="Calibri"/>
                <a:sym typeface="Calibri"/>
              </a:rPr>
              <a:t>Character Not in Pattern</a:t>
            </a:r>
            <a:endParaRPr b="1" sz="2200">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If there are no </a:t>
            </a:r>
            <a:r>
              <a:rPr b="1" lang="en-US" sz="2400">
                <a:solidFill>
                  <a:srgbClr val="FF0000"/>
                </a:solidFill>
                <a:latin typeface="Calibri"/>
                <a:ea typeface="Calibri"/>
                <a:cs typeface="Calibri"/>
                <a:sym typeface="Calibri"/>
              </a:rPr>
              <a:t>c’</a:t>
            </a:r>
            <a:r>
              <a:rPr lang="en-US" sz="2400">
                <a:solidFill>
                  <a:schemeClr val="dk1"/>
                </a:solidFill>
                <a:latin typeface="Calibri"/>
                <a:ea typeface="Calibri"/>
                <a:cs typeface="Calibri"/>
                <a:sym typeface="Calibri"/>
              </a:rPr>
              <a:t>s in the pattern and it is not the last character of the pattern, shift pattern by its entire length. ( c is ‘S’ here)</a:t>
            </a:r>
            <a:endParaRPr/>
          </a:p>
          <a:p>
            <a:pPr indent="0" lvl="0" marL="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For example, s</a:t>
            </a:r>
            <a:r>
              <a:rPr baseline="-25000" lang="en-US" sz="2400">
                <a:solidFill>
                  <a:schemeClr val="dk1"/>
                </a:solidFill>
                <a:latin typeface="Calibri"/>
                <a:ea typeface="Calibri"/>
                <a:cs typeface="Calibri"/>
                <a:sym typeface="Calibri"/>
              </a:rPr>
              <a:t>0</a:t>
            </a:r>
            <a:r>
              <a:rPr lang="en-US" sz="2400">
                <a:solidFill>
                  <a:schemeClr val="dk1"/>
                </a:solidFill>
                <a:latin typeface="Calibri"/>
                <a:ea typeface="Calibri"/>
                <a:cs typeface="Calibri"/>
                <a:sym typeface="Calibri"/>
              </a:rPr>
              <a:t>, - - - - - - - - S -  - - - - - - - - - - - - - s</a:t>
            </a:r>
            <a:r>
              <a:rPr baseline="-25000" lang="en-US" sz="2400">
                <a:solidFill>
                  <a:schemeClr val="dk1"/>
                </a:solidFill>
                <a:latin typeface="Calibri"/>
                <a:ea typeface="Calibri"/>
                <a:cs typeface="Calibri"/>
                <a:sym typeface="Calibri"/>
              </a:rPr>
              <a:t>n-1</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 </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BARBER </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BARBER                                    </a:t>
            </a:r>
            <a:endParaRPr sz="24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Here, S ≠ R and also S is not present in the pattern. So, shift pattern by its length </a:t>
            </a:r>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176" name="Google Shape;176;p7"/>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8"/>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 Algorithm</a:t>
            </a:r>
            <a:endParaRPr b="1" sz="2400">
              <a:solidFill>
                <a:srgbClr val="C55A11"/>
              </a:solidFill>
              <a:latin typeface="Calibri"/>
              <a:ea typeface="Calibri"/>
              <a:cs typeface="Calibri"/>
              <a:sym typeface="Calibri"/>
            </a:endParaRPr>
          </a:p>
        </p:txBody>
      </p:sp>
      <p:cxnSp>
        <p:nvCxnSpPr>
          <p:cNvPr id="182" name="Google Shape;182;p8"/>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183" name="Google Shape;183;p8"/>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184" name="Google Shape;184;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85" name="Google Shape;185;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86" name="Google Shape;186;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187" name="Google Shape;187;p8"/>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8"/>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Calibri"/>
                <a:ea typeface="Calibri"/>
                <a:cs typeface="Calibri"/>
                <a:sym typeface="Calibri"/>
              </a:rPr>
              <a:t>Case 2</a:t>
            </a:r>
            <a:r>
              <a:rPr lang="en-US" sz="2400">
                <a:solidFill>
                  <a:schemeClr val="dk1"/>
                </a:solidFill>
                <a:latin typeface="Calibri"/>
                <a:ea typeface="Calibri"/>
                <a:cs typeface="Calibri"/>
                <a:sym typeface="Calibri"/>
              </a:rPr>
              <a:t>. </a:t>
            </a:r>
            <a:r>
              <a:rPr b="1" lang="en-US" sz="2000">
                <a:solidFill>
                  <a:schemeClr val="dk1"/>
                </a:solidFill>
                <a:latin typeface="Calibri"/>
                <a:ea typeface="Calibri"/>
                <a:cs typeface="Calibri"/>
                <a:sym typeface="Calibri"/>
              </a:rPr>
              <a:t>Character Occurs in Pattern</a:t>
            </a:r>
            <a:endParaRPr/>
          </a:p>
          <a:p>
            <a:pPr indent="0" lvl="0" marL="0" marR="0" rtl="0" algn="l">
              <a:lnSpc>
                <a:spcPct val="90000"/>
              </a:lnSpc>
              <a:spcBef>
                <a:spcPts val="1000"/>
              </a:spcBef>
              <a:spcAft>
                <a:spcPts val="0"/>
              </a:spcAft>
              <a:buClr>
                <a:schemeClr val="dk1"/>
              </a:buClr>
              <a:buSzPts val="2000"/>
              <a:buFont typeface="Arial"/>
              <a:buNone/>
            </a:pPr>
            <a:r>
              <a:t/>
            </a:r>
            <a:endParaRPr b="1" sz="20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If there are occurrences of character </a:t>
            </a:r>
            <a:r>
              <a:rPr b="1" lang="en-US" sz="2400">
                <a:solidFill>
                  <a:srgbClr val="FF0000"/>
                </a:solidFill>
                <a:latin typeface="Calibri"/>
                <a:ea typeface="Calibri"/>
                <a:cs typeface="Calibri"/>
                <a:sym typeface="Calibri"/>
              </a:rPr>
              <a:t>c</a:t>
            </a:r>
            <a:r>
              <a:rPr lang="en-US" sz="2400">
                <a:solidFill>
                  <a:schemeClr val="dk1"/>
                </a:solidFill>
                <a:latin typeface="Calibri"/>
                <a:ea typeface="Calibri"/>
                <a:cs typeface="Calibri"/>
                <a:sym typeface="Calibri"/>
              </a:rPr>
              <a:t> in pattern, but it is not last character of the pattern, then shift should align the rightmost occurrence of </a:t>
            </a:r>
            <a:r>
              <a:rPr b="1" lang="en-US" sz="2400">
                <a:solidFill>
                  <a:schemeClr val="dk1"/>
                </a:solidFill>
                <a:latin typeface="Calibri"/>
                <a:ea typeface="Calibri"/>
                <a:cs typeface="Calibri"/>
                <a:sym typeface="Calibri"/>
              </a:rPr>
              <a:t>c</a:t>
            </a:r>
            <a:r>
              <a:rPr lang="en-US" sz="2400">
                <a:solidFill>
                  <a:schemeClr val="dk1"/>
                </a:solidFill>
                <a:latin typeface="Calibri"/>
                <a:ea typeface="Calibri"/>
                <a:cs typeface="Calibri"/>
                <a:sym typeface="Calibri"/>
              </a:rPr>
              <a:t> in the pattern with the </a:t>
            </a:r>
            <a:r>
              <a:rPr b="1" lang="en-US" sz="2400">
                <a:solidFill>
                  <a:schemeClr val="dk1"/>
                </a:solidFill>
                <a:latin typeface="Calibri"/>
                <a:ea typeface="Calibri"/>
                <a:cs typeface="Calibri"/>
                <a:sym typeface="Calibri"/>
              </a:rPr>
              <a:t>c</a:t>
            </a:r>
            <a:r>
              <a:rPr lang="en-US" sz="2400">
                <a:solidFill>
                  <a:schemeClr val="dk1"/>
                </a:solidFill>
                <a:latin typeface="Calibri"/>
                <a:ea typeface="Calibri"/>
                <a:cs typeface="Calibri"/>
                <a:sym typeface="Calibri"/>
              </a:rPr>
              <a:t> in text. </a:t>
            </a:r>
            <a:r>
              <a:rPr b="1" lang="en-US" sz="2400">
                <a:solidFill>
                  <a:schemeClr val="dk1"/>
                </a:solidFill>
                <a:latin typeface="Calibri"/>
                <a:ea typeface="Calibri"/>
                <a:cs typeface="Calibri"/>
                <a:sym typeface="Calibri"/>
              </a:rPr>
              <a:t>( c is ‘B’  here)</a:t>
            </a:r>
            <a:endParaRPr/>
          </a:p>
          <a:p>
            <a:pPr indent="0" lvl="0" marL="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For example,</a:t>
            </a:r>
            <a:endParaRPr sz="2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s</a:t>
            </a:r>
            <a:r>
              <a:rPr baseline="-25000" lang="en-US" sz="2400">
                <a:solidFill>
                  <a:schemeClr val="dk1"/>
                </a:solidFill>
                <a:latin typeface="Calibri"/>
                <a:ea typeface="Calibri"/>
                <a:cs typeface="Calibri"/>
                <a:sym typeface="Calibri"/>
              </a:rPr>
              <a:t>0</a:t>
            </a:r>
            <a:r>
              <a:rPr lang="en-US" sz="2400">
                <a:solidFill>
                  <a:schemeClr val="dk1"/>
                </a:solidFill>
                <a:latin typeface="Calibri"/>
                <a:ea typeface="Calibri"/>
                <a:cs typeface="Calibri"/>
                <a:sym typeface="Calibri"/>
              </a:rPr>
              <a:t>, - - - - - - - - - - - - B - - - -  - - - - - - - - - - - - - - s</a:t>
            </a:r>
            <a:r>
              <a:rPr baseline="-25000" lang="en-US" sz="2400">
                <a:solidFill>
                  <a:schemeClr val="dk1"/>
                </a:solidFill>
                <a:latin typeface="Calibri"/>
                <a:ea typeface="Calibri"/>
                <a:cs typeface="Calibri"/>
                <a:sym typeface="Calibri"/>
              </a:rPr>
              <a:t>n-1</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BARBER</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BARBER</a:t>
            </a:r>
            <a:endParaRPr/>
          </a:p>
          <a:p>
            <a:pPr indent="-76200" lvl="0" marL="228600" marR="0" rtl="0" algn="l">
              <a:lnSpc>
                <a:spcPct val="90000"/>
              </a:lnSpc>
              <a:spcBef>
                <a:spcPts val="100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189" name="Google Shape;189;p8"/>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195" name="Google Shape;195;p9"/>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196" name="Google Shape;196;p9"/>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197" name="Google Shape;197;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98" name="Google Shape;198;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199" name="Google Shape;199;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200" name="Google Shape;200;p9"/>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9"/>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Case 3</a:t>
            </a:r>
            <a:r>
              <a:rPr lang="en-US" sz="2400">
                <a:solidFill>
                  <a:schemeClr val="dk1"/>
                </a:solidFill>
                <a:latin typeface="Calibri"/>
                <a:ea typeface="Calibri"/>
                <a:cs typeface="Calibri"/>
                <a:sym typeface="Calibri"/>
              </a:rPr>
              <a:t>. </a:t>
            </a:r>
            <a:r>
              <a:rPr b="1" lang="en-US" sz="2400">
                <a:solidFill>
                  <a:schemeClr val="dk1"/>
                </a:solidFill>
                <a:latin typeface="Calibri"/>
                <a:ea typeface="Calibri"/>
                <a:cs typeface="Calibri"/>
                <a:sym typeface="Calibri"/>
              </a:rPr>
              <a:t>Character Only at Last Position</a:t>
            </a:r>
            <a:endParaRPr/>
          </a:p>
          <a:p>
            <a:pPr indent="-76200" lvl="0" marL="228600" marR="0" rtl="0" algn="l">
              <a:lnSpc>
                <a:spcPct val="90000"/>
              </a:lnSpc>
              <a:spcBef>
                <a:spcPts val="100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If </a:t>
            </a:r>
            <a:r>
              <a:rPr b="1" lang="en-US" sz="2400">
                <a:solidFill>
                  <a:srgbClr val="FF0000"/>
                </a:solidFill>
                <a:latin typeface="Calibri"/>
                <a:ea typeface="Calibri"/>
                <a:cs typeface="Calibri"/>
                <a:sym typeface="Calibri"/>
              </a:rPr>
              <a:t>c</a:t>
            </a:r>
            <a:r>
              <a:rPr lang="en-US" sz="2400">
                <a:solidFill>
                  <a:schemeClr val="dk1"/>
                </a:solidFill>
                <a:latin typeface="Calibri"/>
                <a:ea typeface="Calibri"/>
                <a:cs typeface="Calibri"/>
                <a:sym typeface="Calibri"/>
              </a:rPr>
              <a:t> is the last character in the pattern, but there are no </a:t>
            </a:r>
            <a:r>
              <a:rPr b="1" lang="en-US" sz="2400">
                <a:solidFill>
                  <a:srgbClr val="FF0000"/>
                </a:solidFill>
                <a:latin typeface="Calibri"/>
                <a:ea typeface="Calibri"/>
                <a:cs typeface="Calibri"/>
                <a:sym typeface="Calibri"/>
              </a:rPr>
              <a:t>c</a:t>
            </a:r>
            <a:r>
              <a:rPr b="1" lang="en-US" sz="2400">
                <a:solidFill>
                  <a:schemeClr val="dk1"/>
                </a:solidFill>
                <a:latin typeface="Calibri"/>
                <a:ea typeface="Calibri"/>
                <a:cs typeface="Calibri"/>
                <a:sym typeface="Calibri"/>
              </a:rPr>
              <a:t>’</a:t>
            </a:r>
            <a:r>
              <a:rPr lang="en-US" sz="2400">
                <a:solidFill>
                  <a:schemeClr val="dk1"/>
                </a:solidFill>
                <a:latin typeface="Calibri"/>
                <a:ea typeface="Calibri"/>
                <a:cs typeface="Calibri"/>
                <a:sym typeface="Calibri"/>
              </a:rPr>
              <a:t>s among other m-1 characters, shift pattern by its entire length. </a:t>
            </a:r>
            <a:endParaRPr/>
          </a:p>
          <a:p>
            <a:pPr indent="0" lvl="0" marL="0" marR="0" rtl="0" algn="l">
              <a:lnSpc>
                <a:spcPct val="90000"/>
              </a:lnSpc>
              <a:spcBef>
                <a:spcPts val="1000"/>
              </a:spcBef>
              <a:spcAft>
                <a:spcPts val="0"/>
              </a:spcAft>
              <a:buClr>
                <a:schemeClr val="dk1"/>
              </a:buClr>
              <a:buSzPts val="2400"/>
              <a:buFont typeface="Arial"/>
              <a:buNone/>
            </a:pPr>
            <a:r>
              <a:rPr b="1" lang="en-US" sz="2400">
                <a:solidFill>
                  <a:schemeClr val="dk1"/>
                </a:solidFill>
                <a:latin typeface="Calibri"/>
                <a:ea typeface="Calibri"/>
                <a:cs typeface="Calibri"/>
                <a:sym typeface="Calibri"/>
              </a:rPr>
              <a:t>( c is ‘R’). </a:t>
            </a:r>
            <a:r>
              <a:rPr lang="en-US" sz="2400">
                <a:solidFill>
                  <a:schemeClr val="dk1"/>
                </a:solidFill>
                <a:latin typeface="Calibri"/>
                <a:ea typeface="Calibri"/>
                <a:cs typeface="Calibri"/>
                <a:sym typeface="Calibri"/>
              </a:rPr>
              <a:t>Shift same as in case 1.</a:t>
            </a:r>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228600" lvl="0" marL="228600" marR="0" rtl="0" algn="l">
              <a:lnSpc>
                <a:spcPct val="10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For example, </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s</a:t>
            </a:r>
            <a:r>
              <a:rPr baseline="-25000" lang="en-US" sz="2400">
                <a:solidFill>
                  <a:schemeClr val="dk1"/>
                </a:solidFill>
                <a:latin typeface="Calibri"/>
                <a:ea typeface="Calibri"/>
                <a:cs typeface="Calibri"/>
                <a:sym typeface="Calibri"/>
              </a:rPr>
              <a:t>0</a:t>
            </a:r>
            <a:r>
              <a:rPr lang="en-US" sz="2400">
                <a:solidFill>
                  <a:schemeClr val="dk1"/>
                </a:solidFill>
                <a:latin typeface="Calibri"/>
                <a:ea typeface="Calibri"/>
                <a:cs typeface="Calibri"/>
                <a:sym typeface="Calibri"/>
              </a:rPr>
              <a:t> - - - - - - - - - -    M  E R - - - - - - - - - - -- - - - - - - s</a:t>
            </a:r>
            <a:r>
              <a:rPr baseline="-25000" lang="en-US" sz="2400">
                <a:solidFill>
                  <a:schemeClr val="dk1"/>
                </a:solidFill>
                <a:latin typeface="Calibri"/>
                <a:ea typeface="Calibri"/>
                <a:cs typeface="Calibri"/>
                <a:sym typeface="Calibri"/>
              </a:rPr>
              <a:t>n-1</a:t>
            </a:r>
            <a:r>
              <a:rPr lang="en-US" sz="2400">
                <a:solidFill>
                  <a:schemeClr val="dk1"/>
                </a:solidFill>
                <a:latin typeface="Calibri"/>
                <a:ea typeface="Calibri"/>
                <a:cs typeface="Calibri"/>
                <a:sym typeface="Calibri"/>
              </a:rPr>
              <a:t> </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  =  = </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L E A D  E R </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L E A D E R</a:t>
            </a:r>
            <a:endParaRPr/>
          </a:p>
          <a:p>
            <a:pPr indent="-76200" lvl="0" marL="228600" marR="0" rtl="0" algn="l">
              <a:lnSpc>
                <a:spcPct val="90000"/>
              </a:lnSpc>
              <a:spcBef>
                <a:spcPts val="100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202" name="Google Shape;202;p9"/>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0"/>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208" name="Google Shape;208;p10"/>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209" name="Google Shape;209;p10"/>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210" name="Google Shape;210;p1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11" name="Google Shape;211;p1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12" name="Google Shape;212;p1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213" name="Google Shape;213;p10"/>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0"/>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Calibri"/>
                <a:ea typeface="Calibri"/>
                <a:cs typeface="Calibri"/>
                <a:sym typeface="Calibri"/>
              </a:rPr>
              <a:t>Case 4. </a:t>
            </a:r>
            <a:r>
              <a:rPr b="1" lang="en-US" sz="2000">
                <a:solidFill>
                  <a:schemeClr val="dk1"/>
                </a:solidFill>
                <a:latin typeface="Calibri"/>
                <a:ea typeface="Calibri"/>
                <a:cs typeface="Calibri"/>
                <a:sym typeface="Calibri"/>
              </a:rPr>
              <a:t>Character Appears Multiple Times</a:t>
            </a:r>
            <a:endParaRPr/>
          </a:p>
          <a:p>
            <a:pPr indent="0" lvl="0" marL="0" marR="0" rtl="0" algn="l">
              <a:lnSpc>
                <a:spcPct val="90000"/>
              </a:lnSpc>
              <a:spcBef>
                <a:spcPts val="1000"/>
              </a:spcBef>
              <a:spcAft>
                <a:spcPts val="0"/>
              </a:spcAft>
              <a:buClr>
                <a:schemeClr val="dk1"/>
              </a:buClr>
              <a:buSzPts val="2000"/>
              <a:buFont typeface="Arial"/>
              <a:buNone/>
            </a:pPr>
            <a:r>
              <a:t/>
            </a:r>
            <a:endParaRPr b="1" sz="20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latin typeface="Calibri"/>
                <a:ea typeface="Calibri"/>
                <a:cs typeface="Calibri"/>
                <a:sym typeface="Calibri"/>
              </a:rPr>
              <a:t>If </a:t>
            </a:r>
            <a:r>
              <a:rPr b="1" lang="en-US" sz="2400">
                <a:solidFill>
                  <a:srgbClr val="FF0000"/>
                </a:solidFill>
                <a:latin typeface="Calibri"/>
                <a:ea typeface="Calibri"/>
                <a:cs typeface="Calibri"/>
                <a:sym typeface="Calibri"/>
              </a:rPr>
              <a:t>c</a:t>
            </a:r>
            <a:r>
              <a:rPr lang="en-US" sz="2400">
                <a:solidFill>
                  <a:schemeClr val="dk1"/>
                </a:solidFill>
                <a:latin typeface="Calibri"/>
                <a:ea typeface="Calibri"/>
                <a:cs typeface="Calibri"/>
                <a:sym typeface="Calibri"/>
              </a:rPr>
              <a:t> is the last character in pattern, and also there are some other </a:t>
            </a:r>
            <a:r>
              <a:rPr b="1" lang="en-US" sz="2400">
                <a:solidFill>
                  <a:srgbClr val="FF0000"/>
                </a:solidFill>
                <a:latin typeface="Calibri"/>
                <a:ea typeface="Calibri"/>
                <a:cs typeface="Calibri"/>
                <a:sym typeface="Calibri"/>
              </a:rPr>
              <a:t>c’s</a:t>
            </a:r>
            <a:r>
              <a:rPr lang="en-US" sz="2400">
                <a:solidFill>
                  <a:schemeClr val="dk1"/>
                </a:solidFill>
                <a:latin typeface="Calibri"/>
                <a:ea typeface="Calibri"/>
                <a:cs typeface="Calibri"/>
                <a:sym typeface="Calibri"/>
              </a:rPr>
              <a:t> in the pattern, then shift will be same as in case 2. (shift should align the rightmost occurrence of </a:t>
            </a:r>
            <a:r>
              <a:rPr b="1" lang="en-US" sz="2400">
                <a:solidFill>
                  <a:srgbClr val="FF0000"/>
                </a:solidFill>
                <a:latin typeface="Calibri"/>
                <a:ea typeface="Calibri"/>
                <a:cs typeface="Calibri"/>
                <a:sym typeface="Calibri"/>
              </a:rPr>
              <a:t>c</a:t>
            </a:r>
            <a:r>
              <a:rPr lang="en-US" sz="2400">
                <a:solidFill>
                  <a:schemeClr val="dk1"/>
                </a:solidFill>
                <a:latin typeface="Calibri"/>
                <a:ea typeface="Calibri"/>
                <a:cs typeface="Calibri"/>
                <a:sym typeface="Calibri"/>
              </a:rPr>
              <a:t> in the pattern with the c in text.)</a:t>
            </a:r>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For example, </a:t>
            </a:r>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s</a:t>
            </a:r>
            <a:r>
              <a:rPr baseline="-25000" lang="en-US" sz="2400">
                <a:solidFill>
                  <a:schemeClr val="dk1"/>
                </a:solidFill>
                <a:latin typeface="Calibri"/>
                <a:ea typeface="Calibri"/>
                <a:cs typeface="Calibri"/>
                <a:sym typeface="Calibri"/>
              </a:rPr>
              <a:t>0</a:t>
            </a:r>
            <a:r>
              <a:rPr lang="en-US" sz="2400">
                <a:solidFill>
                  <a:schemeClr val="dk1"/>
                </a:solidFill>
                <a:latin typeface="Calibri"/>
                <a:ea typeface="Calibri"/>
                <a:cs typeface="Calibri"/>
                <a:sym typeface="Calibri"/>
              </a:rPr>
              <a:t>- - - - - - - - - -   P R - -- - - - - - - - - - - s</a:t>
            </a:r>
            <a:r>
              <a:rPr baseline="-25000" lang="en-US" sz="2400">
                <a:solidFill>
                  <a:schemeClr val="dk1"/>
                </a:solidFill>
                <a:latin typeface="Calibri"/>
                <a:ea typeface="Calibri"/>
                <a:cs typeface="Calibri"/>
                <a:sym typeface="Calibri"/>
              </a:rPr>
              <a:t>n-1</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  =</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B A R B E R </a:t>
            </a:r>
            <a:endParaRPr/>
          </a:p>
          <a:p>
            <a:pPr indent="0" lvl="0" marL="0" marR="0" rtl="0" algn="l">
              <a:lnSpc>
                <a:spcPct val="100000"/>
              </a:lnSpc>
              <a:spcBef>
                <a:spcPts val="0"/>
              </a:spcBef>
              <a:spcAft>
                <a:spcPts val="0"/>
              </a:spcAft>
              <a:buClr>
                <a:schemeClr val="dk1"/>
              </a:buClr>
              <a:buSzPts val="2400"/>
              <a:buFont typeface="Arial"/>
              <a:buNone/>
            </a:pPr>
            <a:r>
              <a:rPr lang="en-US" sz="2400">
                <a:solidFill>
                  <a:schemeClr val="dk1"/>
                </a:solidFill>
                <a:latin typeface="Calibri"/>
                <a:ea typeface="Calibri"/>
                <a:cs typeface="Calibri"/>
                <a:sym typeface="Calibri"/>
              </a:rPr>
              <a:t>                             B A R B E R</a:t>
            </a:r>
            <a:endParaRPr/>
          </a:p>
          <a:p>
            <a:pPr indent="-76200" lvl="0" marL="228600" marR="0" rtl="0" algn="l">
              <a:lnSpc>
                <a:spcPct val="90000"/>
              </a:lnSpc>
              <a:spcBef>
                <a:spcPts val="100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215" name="Google Shape;215;p10"/>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1"/>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221" name="Google Shape;221;p11"/>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222" name="Google Shape;222;p11"/>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223" name="Google Shape;223;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24" name="Google Shape;224;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25" name="Google Shape;225;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226" name="Google Shape;226;p11"/>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1"/>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Calibri"/>
                <a:ea typeface="Calibri"/>
                <a:cs typeface="Calibri"/>
                <a:sym typeface="Calibri"/>
              </a:rPr>
              <a:t>Computing the shift value</a:t>
            </a:r>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Using the summary of the four cases,  the shift value of character c is computed as </a:t>
            </a:r>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Length of the pattern m if </a:t>
            </a:r>
            <a:r>
              <a:rPr lang="en-US" sz="2400">
                <a:solidFill>
                  <a:srgbClr val="FF0000"/>
                </a:solidFill>
                <a:latin typeface="Calibri"/>
                <a:ea typeface="Calibri"/>
                <a:cs typeface="Calibri"/>
                <a:sym typeface="Calibri"/>
              </a:rPr>
              <a:t>c</a:t>
            </a:r>
            <a:r>
              <a:rPr lang="en-US" sz="2400">
                <a:solidFill>
                  <a:schemeClr val="dk1"/>
                </a:solidFill>
                <a:latin typeface="Calibri"/>
                <a:ea typeface="Calibri"/>
                <a:cs typeface="Calibri"/>
                <a:sym typeface="Calibri"/>
              </a:rPr>
              <a:t> is not among m-1 characters of the pattern (case 1 and case 3)</a:t>
            </a:r>
            <a:endParaRPr/>
          </a:p>
          <a:p>
            <a:pPr indent="-190500" lvl="0" marL="3429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342900" lvl="0" marL="342900" marR="0" rtl="0" algn="l">
              <a:lnSpc>
                <a:spcPct val="90000"/>
              </a:lnSpc>
              <a:spcBef>
                <a:spcPts val="100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Distance from the rightmost </a:t>
            </a:r>
            <a:r>
              <a:rPr lang="en-US" sz="2400">
                <a:solidFill>
                  <a:srgbClr val="FF0000"/>
                </a:solidFill>
                <a:latin typeface="Calibri"/>
                <a:ea typeface="Calibri"/>
                <a:cs typeface="Calibri"/>
                <a:sym typeface="Calibri"/>
              </a:rPr>
              <a:t>c</a:t>
            </a:r>
            <a:r>
              <a:rPr lang="en-US" sz="2400">
                <a:solidFill>
                  <a:schemeClr val="dk1"/>
                </a:solidFill>
                <a:latin typeface="Calibri"/>
                <a:ea typeface="Calibri"/>
                <a:cs typeface="Calibri"/>
                <a:sym typeface="Calibri"/>
              </a:rPr>
              <a:t> among m-1 characters in the pattern to the last character ( case 2 and case 4)</a:t>
            </a:r>
            <a:endParaRPr/>
          </a:p>
          <a:p>
            <a:pPr indent="0" lvl="0" marL="0" marR="0" rtl="0" algn="l">
              <a:lnSpc>
                <a:spcPct val="90000"/>
              </a:lnSpc>
              <a:spcBef>
                <a:spcPts val="100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228" name="Google Shape;228;p11"/>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2"/>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234" name="Google Shape;234;p12"/>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235" name="Google Shape;235;p1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236" name="Google Shape;236;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37" name="Google Shape;237;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38" name="Google Shape;238;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239" name="Google Shape;239;p12"/>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2"/>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Calibri"/>
                <a:ea typeface="Calibri"/>
                <a:cs typeface="Calibri"/>
                <a:sym typeface="Calibri"/>
              </a:rPr>
              <a:t>Computing the shift value</a:t>
            </a:r>
            <a:endParaRPr sz="2000">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Algorithm to Construct the shift Table. </a:t>
            </a:r>
            <a:endParaRPr/>
          </a:p>
          <a:p>
            <a:pPr indent="-228600" lvl="0" marL="228600" marR="0" rtl="0" algn="l">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Pre-compute the shift sizes and store them in a table. The shift table will be indexed by all possible characters that can be encountered in text. The table entries will be filled with shift values. The shift values are computed as follows </a:t>
            </a:r>
            <a:endParaRPr/>
          </a:p>
          <a:p>
            <a:pPr indent="0" lvl="0" marL="0" marR="0" rtl="0" algn="l">
              <a:lnSpc>
                <a:spcPct val="90000"/>
              </a:lnSpc>
              <a:spcBef>
                <a:spcPts val="1000"/>
              </a:spcBef>
              <a:spcAft>
                <a:spcPts val="0"/>
              </a:spcAft>
              <a:buClr>
                <a:schemeClr val="dk1"/>
              </a:buClr>
              <a:buSzPts val="2400"/>
              <a:buFont typeface="Arial"/>
              <a:buNone/>
            </a:pPr>
            <a:r>
              <a:t/>
            </a:r>
            <a:endParaRPr b="1" sz="2400">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241" name="Google Shape;241;p12"/>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pic>
        <p:nvPicPr>
          <p:cNvPr id="242" name="Google Shape;242;p12"/>
          <p:cNvPicPr preferRelativeResize="0"/>
          <p:nvPr/>
        </p:nvPicPr>
        <p:blipFill rotWithShape="1">
          <a:blip r:embed="rId4">
            <a:alphaModFix/>
          </a:blip>
          <a:srcRect b="0" l="0" r="0" t="0"/>
          <a:stretch/>
        </p:blipFill>
        <p:spPr>
          <a:xfrm>
            <a:off x="2070847" y="3299942"/>
            <a:ext cx="6024282" cy="339669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248" name="Google Shape;248;p13"/>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249" name="Google Shape;249;p1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250" name="Google Shape;250;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51" name="Google Shape;251;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52" name="Google Shape;252;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253" name="Google Shape;253;p13"/>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3"/>
          <p:cNvSpPr txBox="1"/>
          <p:nvPr/>
        </p:nvSpPr>
        <p:spPr>
          <a:xfrm>
            <a:off x="460375" y="1513221"/>
            <a:ext cx="10085042" cy="4840287"/>
          </a:xfrm>
          <a:prstGeom prst="rect">
            <a:avLst/>
          </a:prstGeom>
          <a:noFill/>
          <a:ln>
            <a:noFill/>
          </a:ln>
        </p:spPr>
        <p:txBody>
          <a:bodyPr anchorCtr="0" anchor="t" bIns="45700" lIns="91425" spcFirstLastPara="1" rIns="91425" wrap="square" tIns="45700">
            <a:normAutofit lnSpcReduction="10000"/>
          </a:bodyPr>
          <a:lstStyle/>
          <a:p>
            <a:pPr indent="-285750" lvl="0" marL="285750" marR="0" rtl="0" algn="l">
              <a:lnSpc>
                <a:spcPct val="9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Step 1. For a given pattern of length m and the alphabet used in both the pattern and text, construct the shift table.</a:t>
            </a:r>
            <a:endParaRPr/>
          </a:p>
          <a:p>
            <a:pPr indent="-158750" lvl="0" marL="285750" marR="0" rtl="0" algn="l">
              <a:lnSpc>
                <a:spcPct val="90000"/>
              </a:lnSpc>
              <a:spcBef>
                <a:spcPts val="10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285750" lvl="0" marL="285750" marR="0" rtl="0" algn="l">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Step 2. Align the pattern against the beginning of the text.</a:t>
            </a:r>
            <a:endParaRPr/>
          </a:p>
          <a:p>
            <a:pPr indent="-158750" lvl="0" marL="285750" marR="0" rtl="0" algn="l">
              <a:lnSpc>
                <a:spcPct val="90000"/>
              </a:lnSpc>
              <a:spcBef>
                <a:spcPts val="10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285750" lvl="0" marL="285750" marR="0" rtl="0" algn="l">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Step 3. Repeat the following until either a matching substring is found or the pattern reaches beyond the last character of the text.</a:t>
            </a:r>
            <a:endParaRPr/>
          </a:p>
          <a:p>
            <a:pPr indent="-158750" lvl="0" marL="285750" marR="0" rtl="0" algn="l">
              <a:lnSpc>
                <a:spcPct val="90000"/>
              </a:lnSpc>
              <a:spcBef>
                <a:spcPts val="10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285750" lvl="0" marL="285750" marR="0" rtl="0" algn="l">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Starting with the last character in the pattern, compare the corresponding characters in the pattern and text until either all m characters are matched or a mismatching pair is encountered.</a:t>
            </a:r>
            <a:endParaRPr/>
          </a:p>
          <a:p>
            <a:pPr indent="-158750" lvl="0" marL="285750" marR="0" rtl="0" algn="l">
              <a:lnSpc>
                <a:spcPct val="90000"/>
              </a:lnSpc>
              <a:spcBef>
                <a:spcPts val="10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285750" lvl="0" marL="285750" marR="0" rtl="0" algn="l">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In the latter case, retrieve the entry t(c) from the c’s column of the shift table where c is the text’s character currently aligned against the last character of the pattern, and shift the pattern by t(c) characters to the right along the text</a:t>
            </a:r>
            <a:r>
              <a:rPr lang="en-US" sz="1800">
                <a:solidFill>
                  <a:schemeClr val="dk1"/>
                </a:solidFill>
                <a:latin typeface="Calibri"/>
                <a:ea typeface="Calibri"/>
                <a:cs typeface="Calibri"/>
                <a:sym typeface="Calibri"/>
              </a:rPr>
              <a:t>.</a:t>
            </a:r>
            <a:endParaRPr/>
          </a:p>
          <a:p>
            <a:pPr indent="-76200" lvl="0" marL="228600" marR="0" rtl="0" algn="l">
              <a:lnSpc>
                <a:spcPct val="90000"/>
              </a:lnSpc>
              <a:spcBef>
                <a:spcPts val="100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p:txBody>
      </p:sp>
      <p:pic>
        <p:nvPicPr>
          <p:cNvPr id="255" name="Google Shape;255;p13"/>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4"/>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261" name="Google Shape;261;p14"/>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262" name="Google Shape;262;p1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263" name="Google Shape;263;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64" name="Google Shape;264;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65" name="Google Shape;265;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266" name="Google Shape;266;p14"/>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67" name="Google Shape;267;p14"/>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pic>
        <p:nvPicPr>
          <p:cNvPr id="268" name="Google Shape;268;p14"/>
          <p:cNvPicPr preferRelativeResize="0"/>
          <p:nvPr/>
        </p:nvPicPr>
        <p:blipFill rotWithShape="1">
          <a:blip r:embed="rId4">
            <a:alphaModFix/>
          </a:blip>
          <a:srcRect b="0" l="0" r="0" t="0"/>
          <a:stretch/>
        </p:blipFill>
        <p:spPr>
          <a:xfrm>
            <a:off x="1519518" y="1623359"/>
            <a:ext cx="7243482" cy="475045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5"/>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274" name="Google Shape;274;p15"/>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275" name="Google Shape;275;p1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276" name="Google Shape;276;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77" name="Google Shape;277;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78" name="Google Shape;278;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279" name="Google Shape;279;p15"/>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80" name="Google Shape;280;p15"/>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281" name="Google Shape;281;p15"/>
          <p:cNvSpPr/>
          <p:nvPr/>
        </p:nvSpPr>
        <p:spPr>
          <a:xfrm>
            <a:off x="393111" y="1605123"/>
            <a:ext cx="10216617"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Calibri"/>
                <a:ea typeface="Calibri"/>
                <a:cs typeface="Calibri"/>
                <a:sym typeface="Calibri"/>
              </a:rPr>
              <a:t>Consider an example of searching a pattern BARBER in the text – </a:t>
            </a:r>
            <a:endParaRPr/>
          </a:p>
          <a:p>
            <a:pPr indent="0" lvl="0" marL="0" marR="0" rtl="0" algn="l">
              <a:spcBef>
                <a:spcPts val="0"/>
              </a:spcBef>
              <a:spcAft>
                <a:spcPts val="0"/>
              </a:spcAft>
              <a:buNone/>
            </a:pPr>
            <a:r>
              <a:rPr lang="en-US" sz="2200">
                <a:solidFill>
                  <a:schemeClr val="dk1"/>
                </a:solidFill>
                <a:latin typeface="Calibri"/>
                <a:ea typeface="Calibri"/>
                <a:cs typeface="Calibri"/>
                <a:sym typeface="Calibri"/>
              </a:rPr>
              <a:t>JIM_SAW_ME_IN_A_BARBER_SHOP </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rPr lang="en-US" sz="2200">
                <a:solidFill>
                  <a:schemeClr val="dk1"/>
                </a:solidFill>
                <a:latin typeface="Calibri"/>
                <a:ea typeface="Calibri"/>
                <a:cs typeface="Calibri"/>
                <a:sym typeface="Calibri"/>
              </a:rPr>
              <a:t>The text consists of the alphabets A to Z and a character _.</a:t>
            </a:r>
            <a:endParaRPr/>
          </a:p>
          <a:p>
            <a:pPr indent="0" lvl="0" marL="0" marR="0" rtl="0" algn="l">
              <a:spcBef>
                <a:spcPts val="0"/>
              </a:spcBef>
              <a:spcAft>
                <a:spcPts val="0"/>
              </a:spcAft>
              <a:buNone/>
            </a:pPr>
            <a:r>
              <a:rPr lang="en-US" sz="2200">
                <a:solidFill>
                  <a:schemeClr val="dk1"/>
                </a:solidFill>
                <a:latin typeface="Calibri"/>
                <a:ea typeface="Calibri"/>
                <a:cs typeface="Calibri"/>
                <a:sym typeface="Calibri"/>
              </a:rPr>
              <a:t> Following is the shift Table</a:t>
            </a:r>
            <a:endParaRPr/>
          </a:p>
        </p:txBody>
      </p:sp>
      <p:pic>
        <p:nvPicPr>
          <p:cNvPr id="282" name="Google Shape;282;p15"/>
          <p:cNvPicPr preferRelativeResize="0"/>
          <p:nvPr/>
        </p:nvPicPr>
        <p:blipFill rotWithShape="1">
          <a:blip r:embed="rId4">
            <a:alphaModFix/>
          </a:blip>
          <a:srcRect b="0" l="0" r="0" t="0"/>
          <a:stretch/>
        </p:blipFill>
        <p:spPr>
          <a:xfrm>
            <a:off x="1438835" y="3286208"/>
            <a:ext cx="7311465" cy="1194275"/>
          </a:xfrm>
          <a:prstGeom prst="rect">
            <a:avLst/>
          </a:prstGeom>
          <a:noFill/>
          <a:ln>
            <a:noFill/>
          </a:ln>
        </p:spPr>
      </p:pic>
      <p:pic>
        <p:nvPicPr>
          <p:cNvPr id="283" name="Google Shape;283;p15"/>
          <p:cNvPicPr preferRelativeResize="0"/>
          <p:nvPr/>
        </p:nvPicPr>
        <p:blipFill rotWithShape="1">
          <a:blip r:embed="rId5">
            <a:alphaModFix/>
          </a:blip>
          <a:srcRect b="0" l="0" r="0" t="0"/>
          <a:stretch/>
        </p:blipFill>
        <p:spPr>
          <a:xfrm>
            <a:off x="1000308" y="4584700"/>
            <a:ext cx="8864600" cy="1511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6"/>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289" name="Google Shape;289;p16"/>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290" name="Google Shape;290;p16"/>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291" name="Google Shape;291;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92" name="Google Shape;292;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293" name="Google Shape;293;p1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294" name="Google Shape;294;p16"/>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95" name="Google Shape;295;p16"/>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296" name="Google Shape;296;p16"/>
          <p:cNvSpPr/>
          <p:nvPr/>
        </p:nvSpPr>
        <p:spPr>
          <a:xfrm>
            <a:off x="393111" y="1605123"/>
            <a:ext cx="10216617"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Efficiency</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200">
                <a:solidFill>
                  <a:schemeClr val="dk1"/>
                </a:solidFill>
                <a:latin typeface="Calibri"/>
                <a:ea typeface="Calibri"/>
                <a:cs typeface="Calibri"/>
                <a:sym typeface="Calibri"/>
              </a:rPr>
              <a:t>Worst-Case Efficiency</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rPr lang="en-US" sz="2200">
                <a:solidFill>
                  <a:schemeClr val="dk1"/>
                </a:solidFill>
                <a:latin typeface="Calibri"/>
                <a:ea typeface="Calibri"/>
                <a:cs typeface="Calibri"/>
                <a:sym typeface="Calibri"/>
              </a:rPr>
              <a:t>The worst-case running time of Horspool’s algorithm is ϴ(nm)</a:t>
            </a:r>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rPr lang="en-US" sz="2200">
                <a:solidFill>
                  <a:schemeClr val="dk1"/>
                </a:solidFill>
                <a:latin typeface="Calibri"/>
                <a:ea typeface="Calibri"/>
                <a:cs typeface="Calibri"/>
                <a:sym typeface="Calibri"/>
              </a:rPr>
              <a:t>Where:</a:t>
            </a:r>
            <a:endParaRPr/>
          </a:p>
          <a:p>
            <a:pPr indent="0" lvl="1" marL="457200" marR="0" rtl="0" algn="l">
              <a:spcBef>
                <a:spcPts val="0"/>
              </a:spcBef>
              <a:spcAft>
                <a:spcPts val="0"/>
              </a:spcAft>
              <a:buNone/>
            </a:pPr>
            <a:r>
              <a:rPr b="0" i="0" lang="en-US" sz="2200" u="none" cap="none" strike="noStrike">
                <a:solidFill>
                  <a:schemeClr val="dk1"/>
                </a:solidFill>
                <a:latin typeface="Calibri"/>
                <a:ea typeface="Calibri"/>
                <a:cs typeface="Calibri"/>
                <a:sym typeface="Calibri"/>
              </a:rPr>
              <a:t>n = length of the text</a:t>
            </a:r>
            <a:endParaRPr/>
          </a:p>
          <a:p>
            <a:pPr indent="0" lvl="1" marL="457200" marR="0" rtl="0" algn="l">
              <a:spcBef>
                <a:spcPts val="0"/>
              </a:spcBef>
              <a:spcAft>
                <a:spcPts val="0"/>
              </a:spcAft>
              <a:buNone/>
            </a:pPr>
            <a:r>
              <a:rPr b="0" i="0" lang="en-US" sz="2200" u="none" cap="none" strike="noStrike">
                <a:solidFill>
                  <a:schemeClr val="dk1"/>
                </a:solidFill>
                <a:latin typeface="Calibri"/>
                <a:ea typeface="Calibri"/>
                <a:cs typeface="Calibri"/>
                <a:sym typeface="Calibri"/>
              </a:rPr>
              <a:t>m = length of the pattern</a:t>
            </a:r>
            <a:endParaRPr/>
          </a:p>
          <a:p>
            <a:pPr indent="0" lvl="1" marL="457200" marR="0" rtl="0" algn="l">
              <a:spcBef>
                <a:spcPts val="0"/>
              </a:spcBef>
              <a:spcAft>
                <a:spcPts val="0"/>
              </a:spcAft>
              <a:buNone/>
            </a:pPr>
            <a:r>
              <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n-US" sz="2200">
                <a:solidFill>
                  <a:schemeClr val="dk1"/>
                </a:solidFill>
                <a:latin typeface="Calibri"/>
                <a:ea typeface="Calibri"/>
                <a:cs typeface="Calibri"/>
                <a:sym typeface="Calibri"/>
              </a:rPr>
              <a:t>This occurs when the algorithm makes many small shifts and compares most characters repeatedly.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302" name="Google Shape;302;p17"/>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303" name="Google Shape;303;p17"/>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304" name="Google Shape;304;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05" name="Google Shape;305;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06" name="Google Shape;306;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307" name="Google Shape;307;p17"/>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08" name="Google Shape;308;p17"/>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309" name="Google Shape;309;p17"/>
          <p:cNvSpPr/>
          <p:nvPr/>
        </p:nvSpPr>
        <p:spPr>
          <a:xfrm>
            <a:off x="393111" y="1605123"/>
            <a:ext cx="10216617" cy="29546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Efficiency</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400">
                <a:solidFill>
                  <a:schemeClr val="dk1"/>
                </a:solidFill>
                <a:latin typeface="Calibri"/>
                <a:ea typeface="Calibri"/>
                <a:cs typeface="Calibri"/>
                <a:sym typeface="Calibri"/>
              </a:rPr>
              <a:t>Average-Case Efficiency</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For random texts, the running time is Θ(n).</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The algorithm typically skips several characters using the shift table, reducing unnecessary comparisons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8"/>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315" name="Google Shape;315;p18"/>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316" name="Google Shape;316;p18"/>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317" name="Google Shape;317;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18" name="Google Shape;318;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19" name="Google Shape;319;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320" name="Google Shape;320;p18"/>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21" name="Google Shape;321;p18"/>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322" name="Google Shape;322;p18"/>
          <p:cNvSpPr/>
          <p:nvPr/>
        </p:nvSpPr>
        <p:spPr>
          <a:xfrm>
            <a:off x="393111" y="1605123"/>
            <a:ext cx="10714160" cy="3323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Efficiency</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400">
                <a:solidFill>
                  <a:schemeClr val="dk1"/>
                </a:solidFill>
                <a:latin typeface="Calibri"/>
                <a:ea typeface="Calibri"/>
                <a:cs typeface="Calibri"/>
                <a:sym typeface="Calibri"/>
              </a:rPr>
              <a:t>Comparison with Other Algorithms</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Although in the same complexity class as the Brute-Force algorithm, Horspool’s algorithm is much faster in practice.</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It is often as efficient as the Boyer–Moore algorithm, which is more sophisticated but computationally heavier.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9"/>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328" name="Google Shape;328;p19"/>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329" name="Google Shape;329;p19"/>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330" name="Google Shape;330;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31" name="Google Shape;331;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32" name="Google Shape;332;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333" name="Google Shape;333;p19"/>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34" name="Google Shape;334;p19"/>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335" name="Google Shape;335;p19"/>
          <p:cNvSpPr/>
          <p:nvPr/>
        </p:nvSpPr>
        <p:spPr>
          <a:xfrm>
            <a:off x="393111" y="1430312"/>
            <a:ext cx="10754501"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Construct the shift table for the pattern TCCTATTCTT  ii) show matching of this pattern on text TTATAGATCTCGTATTCTTTTATAGATCTCCTATTCTT  using Horspool algorithm.  Iii) count the number of comparisons </a:t>
            </a:r>
            <a:r>
              <a:rPr lang="en-US" sz="2400">
                <a:solidFill>
                  <a:schemeClr val="dk1"/>
                </a:solidFill>
                <a:latin typeface="Calibri"/>
                <a:ea typeface="Calibri"/>
                <a:cs typeface="Calibri"/>
                <a:sym typeface="Calibri"/>
              </a:rPr>
              <a:t>	</a:t>
            </a:r>
            <a:endParaRPr/>
          </a:p>
        </p:txBody>
      </p:sp>
      <p:pic>
        <p:nvPicPr>
          <p:cNvPr id="336" name="Google Shape;336;p19"/>
          <p:cNvPicPr preferRelativeResize="0"/>
          <p:nvPr/>
        </p:nvPicPr>
        <p:blipFill rotWithShape="1">
          <a:blip r:embed="rId4">
            <a:alphaModFix/>
          </a:blip>
          <a:srcRect b="0" l="0" r="0" t="0"/>
          <a:stretch/>
        </p:blipFill>
        <p:spPr>
          <a:xfrm>
            <a:off x="1963271" y="2146165"/>
            <a:ext cx="7409329" cy="471183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0"/>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Horspool’s Algorithm</a:t>
            </a:r>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342" name="Google Shape;342;p20"/>
          <p:cNvCxnSpPr/>
          <p:nvPr/>
        </p:nvCxnSpPr>
        <p:spPr>
          <a:xfrm>
            <a:off x="-8308" y="1316458"/>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343" name="Google Shape;343;p20"/>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344" name="Google Shape;344;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45" name="Google Shape;345;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46" name="Google Shape;346;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347" name="Google Shape;347;p20"/>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48" name="Google Shape;348;p20"/>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349" name="Google Shape;349;p20"/>
          <p:cNvSpPr/>
          <p:nvPr/>
        </p:nvSpPr>
        <p:spPr>
          <a:xfrm>
            <a:off x="393111" y="1685805"/>
            <a:ext cx="11556071"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Trace the Horspool algorithm to find the pattern “ELECTION” in the text “EDUCATION_ONLY_HELPS_IN_SELECTION”</a:t>
            </a:r>
            <a:endParaRPr sz="36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1"/>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Multiple choice Questions</a:t>
            </a:r>
            <a:endParaRPr b="1" sz="2400">
              <a:solidFill>
                <a:srgbClr val="C55A11"/>
              </a:solidFill>
              <a:latin typeface="Calibri"/>
              <a:ea typeface="Calibri"/>
              <a:cs typeface="Calibri"/>
              <a:sym typeface="Calibri"/>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355" name="Google Shape;355;p21"/>
          <p:cNvCxnSpPr/>
          <p:nvPr/>
        </p:nvCxnSpPr>
        <p:spPr>
          <a:xfrm>
            <a:off x="0" y="1205465"/>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356" name="Google Shape;356;p21"/>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357" name="Google Shape;357;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58" name="Google Shape;358;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59" name="Google Shape;359;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360" name="Google Shape;360;p21"/>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61" name="Google Shape;361;p21"/>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362" name="Google Shape;362;p21"/>
          <p:cNvSpPr/>
          <p:nvPr/>
        </p:nvSpPr>
        <p:spPr>
          <a:xfrm>
            <a:off x="460375" y="1862088"/>
            <a:ext cx="10216617" cy="3170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In Horspool’s algorithm, the shift value for a character </a:t>
            </a:r>
            <a:r>
              <a:rPr b="1" lang="en-US" sz="2000">
                <a:solidFill>
                  <a:schemeClr val="dk1"/>
                </a:solidFill>
                <a:latin typeface="Calibri"/>
                <a:ea typeface="Calibri"/>
                <a:cs typeface="Calibri"/>
                <a:sym typeface="Calibri"/>
              </a:rPr>
              <a:t>c of the text </a:t>
            </a:r>
            <a:r>
              <a:rPr lang="en-US" sz="2000">
                <a:solidFill>
                  <a:schemeClr val="dk1"/>
                </a:solidFill>
                <a:latin typeface="Calibri"/>
                <a:ea typeface="Calibri"/>
                <a:cs typeface="Calibri"/>
                <a:sym typeface="Calibri"/>
              </a:rPr>
              <a:t> not appearing among the first m−1 characters of the pattern is:</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m−1</a:t>
            </a:r>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m</a:t>
            </a:r>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1</a:t>
            </a:r>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0</a:t>
            </a:r>
            <a:endParaRPr/>
          </a:p>
          <a:p>
            <a:pPr indent="-330200" lvl="0" marL="4572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Answer:  A. m</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2"/>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Multiple choice Questions</a:t>
            </a:r>
            <a:endParaRPr b="1" sz="2400">
              <a:solidFill>
                <a:srgbClr val="C55A11"/>
              </a:solidFill>
              <a:latin typeface="Calibri"/>
              <a:ea typeface="Calibri"/>
              <a:cs typeface="Calibri"/>
              <a:sym typeface="Calibri"/>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368" name="Google Shape;368;p22"/>
          <p:cNvCxnSpPr/>
          <p:nvPr/>
        </p:nvCxnSpPr>
        <p:spPr>
          <a:xfrm>
            <a:off x="0" y="1205465"/>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369" name="Google Shape;369;p2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370" name="Google Shape;370;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71" name="Google Shape;371;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72" name="Google Shape;372;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373" name="Google Shape;373;p22"/>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74" name="Google Shape;374;p22"/>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375" name="Google Shape;375;p22"/>
          <p:cNvSpPr/>
          <p:nvPr/>
        </p:nvSpPr>
        <p:spPr>
          <a:xfrm>
            <a:off x="460375" y="1862088"/>
            <a:ext cx="10216617"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In Horspool’s algorithm, pattern characters are compared with text characters:</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 From left to right</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B. From the middle outward</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C. From right to left</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D. Randomly depending on mismatch</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Answer : A. From right to left</a:t>
            </a:r>
            <a:br>
              <a:rPr lang="en-US"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3"/>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Multiple choice Questions</a:t>
            </a:r>
            <a:endParaRPr b="1" sz="2400">
              <a:solidFill>
                <a:srgbClr val="C55A11"/>
              </a:solidFill>
              <a:latin typeface="Calibri"/>
              <a:ea typeface="Calibri"/>
              <a:cs typeface="Calibri"/>
              <a:sym typeface="Calibri"/>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381" name="Google Shape;381;p23"/>
          <p:cNvCxnSpPr/>
          <p:nvPr/>
        </p:nvCxnSpPr>
        <p:spPr>
          <a:xfrm>
            <a:off x="0" y="1205465"/>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382" name="Google Shape;382;p2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383" name="Google Shape;383;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84" name="Google Shape;384;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85" name="Google Shape;385;p2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386" name="Google Shape;386;p23"/>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87" name="Google Shape;387;p23"/>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388" name="Google Shape;388;p23"/>
          <p:cNvSpPr/>
          <p:nvPr/>
        </p:nvSpPr>
        <p:spPr>
          <a:xfrm>
            <a:off x="460375" y="1862088"/>
            <a:ext cx="10216617" cy="3170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Suppose the pattern is ABRACADABRA (length of pattern =11).</a:t>
            </a:r>
            <a:endParaRPr/>
          </a:p>
          <a:p>
            <a:pPr indent="0" lvl="0" marL="0" marR="0" rtl="0" algn="l">
              <a:spcBef>
                <a:spcPts val="0"/>
              </a:spcBef>
              <a:spcAft>
                <a:spcPts val="0"/>
              </a:spcAft>
              <a:buNone/>
            </a:pP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What is the shift value for character A in the shift table?</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3</a:t>
            </a:r>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5</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8</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10</a:t>
            </a:r>
            <a:endParaRPr/>
          </a:p>
          <a:p>
            <a:pPr indent="-330200" lvl="0" marL="4572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Answer : A. 3</a:t>
            </a:r>
            <a:endParaRPr sz="20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4"/>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Multiple choice Questions</a:t>
            </a:r>
            <a:endParaRPr b="1" sz="2400">
              <a:solidFill>
                <a:srgbClr val="C55A11"/>
              </a:solidFill>
              <a:latin typeface="Calibri"/>
              <a:ea typeface="Calibri"/>
              <a:cs typeface="Calibri"/>
              <a:sym typeface="Calibri"/>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394" name="Google Shape;394;p24"/>
          <p:cNvCxnSpPr/>
          <p:nvPr/>
        </p:nvCxnSpPr>
        <p:spPr>
          <a:xfrm>
            <a:off x="0" y="1205465"/>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395" name="Google Shape;395;p2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396" name="Google Shape;396;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97" name="Google Shape;397;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398" name="Google Shape;398;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399" name="Google Shape;399;p24"/>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00" name="Google Shape;400;p24"/>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401" name="Google Shape;401;p24"/>
          <p:cNvSpPr/>
          <p:nvPr/>
        </p:nvSpPr>
        <p:spPr>
          <a:xfrm>
            <a:off x="460375" y="1862088"/>
            <a:ext cx="10216617" cy="40934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Which of the following best explains why Horspool’s algorithm often performs better than brute-force string matching?</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It reduces the number of comparisons by skipping characters using shift tables</a:t>
            </a:r>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It compares characters from both ends simultaneously</a:t>
            </a:r>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It sorts the pattern before matching</a:t>
            </a:r>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It avoids preprocessing completely</a:t>
            </a:r>
            <a:endParaRPr/>
          </a:p>
          <a:p>
            <a:pPr indent="-330200" lvl="0" marL="4572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Answer : A. It reduces the number of comparisons by skipping characters using shift tables</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5"/>
          <p:cNvSpPr/>
          <p:nvPr/>
        </p:nvSpPr>
        <p:spPr>
          <a:xfrm>
            <a:off x="371880" y="651898"/>
            <a:ext cx="799975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5A11"/>
                </a:solidFill>
                <a:latin typeface="Calibri"/>
                <a:ea typeface="Calibri"/>
                <a:cs typeface="Calibri"/>
                <a:sym typeface="Calibri"/>
              </a:rPr>
              <a:t> Multiple choice Questions</a:t>
            </a:r>
            <a:endParaRPr b="1" sz="2400">
              <a:solidFill>
                <a:srgbClr val="C55A11"/>
              </a:solidFill>
              <a:latin typeface="Calibri"/>
              <a:ea typeface="Calibri"/>
              <a:cs typeface="Calibri"/>
              <a:sym typeface="Calibri"/>
            </a:endParaRPr>
          </a:p>
          <a:p>
            <a:pPr indent="0" lvl="0" marL="0" marR="0" rtl="0" algn="l">
              <a:spcBef>
                <a:spcPts val="0"/>
              </a:spcBef>
              <a:spcAft>
                <a:spcPts val="0"/>
              </a:spcAft>
              <a:buNone/>
            </a:pPr>
            <a:r>
              <a:t/>
            </a:r>
            <a:endParaRPr b="1" sz="2400">
              <a:solidFill>
                <a:srgbClr val="C55A11"/>
              </a:solidFill>
              <a:latin typeface="Calibri"/>
              <a:ea typeface="Calibri"/>
              <a:cs typeface="Calibri"/>
              <a:sym typeface="Calibri"/>
            </a:endParaRPr>
          </a:p>
        </p:txBody>
      </p:sp>
      <p:cxnSp>
        <p:nvCxnSpPr>
          <p:cNvPr id="407" name="Google Shape;407;p25"/>
          <p:cNvCxnSpPr/>
          <p:nvPr/>
        </p:nvCxnSpPr>
        <p:spPr>
          <a:xfrm>
            <a:off x="0" y="1205465"/>
            <a:ext cx="9008617" cy="15953"/>
          </a:xfrm>
          <a:prstGeom prst="straightConnector1">
            <a:avLst/>
          </a:prstGeom>
          <a:noFill/>
          <a:ln cap="flat" cmpd="sng" w="38100">
            <a:solidFill>
              <a:srgbClr val="C55A11"/>
            </a:solidFill>
            <a:prstDash val="solid"/>
            <a:miter lim="800000"/>
            <a:headEnd len="sm" w="sm" type="none"/>
            <a:tailEnd len="sm" w="sm" type="none"/>
          </a:ln>
        </p:spPr>
      </p:cxnSp>
      <p:sp>
        <p:nvSpPr>
          <p:cNvPr id="408" name="Google Shape;408;p2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2E75B5"/>
                </a:solidFill>
                <a:latin typeface="Calibri"/>
                <a:ea typeface="Calibri"/>
                <a:cs typeface="Calibri"/>
                <a:sym typeface="Calibri"/>
              </a:rPr>
              <a:t>Design and Analysis of Algorithms</a:t>
            </a:r>
            <a:endParaRPr/>
          </a:p>
        </p:txBody>
      </p:sp>
      <p:sp>
        <p:nvSpPr>
          <p:cNvPr descr="Difference between Linked List and Arrays" id="409" name="Google Shape;409;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410" name="Google Shape;410;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ifference between Linked List and Arrays" id="411" name="Google Shape;411;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https://media.geeksforgeeks.org/wp-content/cdn-uploads/gq/2013/03/Linkedlist.png" id="412" name="Google Shape;412;p25"/>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13" name="Google Shape;413;p25"/>
          <p:cNvPicPr preferRelativeResize="0"/>
          <p:nvPr/>
        </p:nvPicPr>
        <p:blipFill rotWithShape="1">
          <a:blip r:embed="rId3">
            <a:alphaModFix/>
          </a:blip>
          <a:srcRect b="0" l="0" r="0" t="0"/>
          <a:stretch/>
        </p:blipFill>
        <p:spPr>
          <a:xfrm>
            <a:off x="10406760" y="230188"/>
            <a:ext cx="1542422" cy="792549"/>
          </a:xfrm>
          <a:prstGeom prst="rect">
            <a:avLst/>
          </a:prstGeom>
          <a:noFill/>
          <a:ln>
            <a:noFill/>
          </a:ln>
        </p:spPr>
      </p:pic>
      <p:sp>
        <p:nvSpPr>
          <p:cNvPr id="414" name="Google Shape;414;p25"/>
          <p:cNvSpPr/>
          <p:nvPr/>
        </p:nvSpPr>
        <p:spPr>
          <a:xfrm>
            <a:off x="460375" y="1862088"/>
            <a:ext cx="10216617" cy="40934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For a pattern of length m, the preprocessing step for constructing Horspool’s </a:t>
            </a:r>
            <a:r>
              <a:rPr b="1" lang="en-US" sz="2000">
                <a:solidFill>
                  <a:schemeClr val="dk1"/>
                </a:solidFill>
                <a:latin typeface="Calibri"/>
                <a:ea typeface="Calibri"/>
                <a:cs typeface="Calibri"/>
                <a:sym typeface="Calibri"/>
              </a:rPr>
              <a:t>shift table</a:t>
            </a:r>
            <a:r>
              <a:rPr lang="en-US" sz="2000">
                <a:solidFill>
                  <a:schemeClr val="dk1"/>
                </a:solidFill>
                <a:latin typeface="Calibri"/>
                <a:ea typeface="Calibri"/>
                <a:cs typeface="Calibri"/>
                <a:sym typeface="Calibri"/>
              </a:rPr>
              <a:t> takes:</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ϴ(1)</a:t>
            </a:r>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ϴ(m)</a:t>
            </a:r>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ϴ(n)</a:t>
            </a:r>
            <a:endParaRPr/>
          </a:p>
          <a:p>
            <a:pPr indent="-457200" lvl="0" marL="457200" marR="0" rtl="0" algn="l">
              <a:spcBef>
                <a:spcPts val="0"/>
              </a:spcBef>
              <a:spcAft>
                <a:spcPts val="0"/>
              </a:spcAft>
              <a:buClr>
                <a:schemeClr val="dk1"/>
              </a:buClr>
              <a:buSzPts val="2000"/>
              <a:buFont typeface="Calibri"/>
              <a:buAutoNum type="alphaUcPeriod"/>
            </a:pPr>
            <a:r>
              <a:rPr lang="en-US" sz="2000">
                <a:solidFill>
                  <a:schemeClr val="dk1"/>
                </a:solidFill>
                <a:latin typeface="Calibri"/>
                <a:ea typeface="Calibri"/>
                <a:cs typeface="Calibri"/>
                <a:sym typeface="Calibri"/>
              </a:rPr>
              <a:t>ϴ(mn)</a:t>
            </a:r>
            <a:endParaRPr/>
          </a:p>
          <a:p>
            <a:pPr indent="-330200" lvl="0" marL="4572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Answer : B. ϴ(m)</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330200" lvl="0" marL="45720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6"/>
          <p:cNvSpPr/>
          <p:nvPr/>
        </p:nvSpPr>
        <p:spPr>
          <a:xfrm>
            <a:off x="5667375" y="2566988"/>
            <a:ext cx="4603750" cy="66516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600">
                <a:solidFill>
                  <a:srgbClr val="C55A11"/>
                </a:solidFill>
                <a:latin typeface="Calibri"/>
                <a:ea typeface="Calibri"/>
                <a:cs typeface="Calibri"/>
                <a:sym typeface="Calibri"/>
              </a:rPr>
              <a:t>THANK YOU</a:t>
            </a:r>
            <a:endParaRPr/>
          </a:p>
          <a:p>
            <a:pPr indent="0" lvl="0" marL="0" marR="0" rtl="0" algn="l">
              <a:spcBef>
                <a:spcPts val="0"/>
              </a:spcBef>
              <a:spcAft>
                <a:spcPts val="0"/>
              </a:spcAft>
              <a:buNone/>
            </a:pPr>
            <a:r>
              <a:t/>
            </a:r>
            <a:endParaRPr b="1" sz="3600">
              <a:solidFill>
                <a:srgbClr val="C55A11"/>
              </a:solidFill>
              <a:latin typeface="Calibri"/>
              <a:ea typeface="Calibri"/>
              <a:cs typeface="Calibri"/>
              <a:sym typeface="Calibri"/>
            </a:endParaRPr>
          </a:p>
          <a:p>
            <a:pPr indent="0" lvl="0" marL="0" marR="0" rtl="0" algn="l">
              <a:spcBef>
                <a:spcPts val="0"/>
              </a:spcBef>
              <a:spcAft>
                <a:spcPts val="0"/>
              </a:spcAft>
              <a:buNone/>
            </a:pPr>
            <a:r>
              <a:rPr b="1" lang="en-US" sz="2400">
                <a:solidFill>
                  <a:schemeClr val="dk1"/>
                </a:solidFill>
                <a:latin typeface="Calibri"/>
                <a:ea typeface="Calibri"/>
                <a:cs typeface="Calibri"/>
                <a:sym typeface="Calibri"/>
              </a:rPr>
              <a:t>Dinesh Singh</a:t>
            </a:r>
            <a:endParaRPr/>
          </a:p>
          <a:p>
            <a:pPr indent="0" lvl="0" marL="0" marR="0" rtl="0" algn="l">
              <a:spcBef>
                <a:spcPts val="0"/>
              </a:spcBef>
              <a:spcAft>
                <a:spcPts val="0"/>
              </a:spcAft>
              <a:buNone/>
            </a:pPr>
            <a:r>
              <a:rPr b="1" lang="en-US" sz="2400">
                <a:solidFill>
                  <a:schemeClr val="dk1"/>
                </a:solidFill>
                <a:latin typeface="Calibri"/>
                <a:ea typeface="Calibri"/>
                <a:cs typeface="Calibri"/>
                <a:sym typeface="Calibri"/>
              </a:rPr>
              <a:t>Department of Computer Science &amp; Engineering</a:t>
            </a:r>
            <a:endParaRPr b="1" sz="2400">
              <a:solidFill>
                <a:schemeClr val="dk1"/>
              </a:solidFill>
              <a:latin typeface="Calibri"/>
              <a:ea typeface="Calibri"/>
              <a:cs typeface="Calibri"/>
              <a:sym typeface="Calibri"/>
            </a:endParaRPr>
          </a:p>
        </p:txBody>
      </p:sp>
      <p:sp>
        <p:nvSpPr>
          <p:cNvPr id="420" name="Google Shape;420;p26"/>
          <p:cNvSpPr/>
          <p:nvPr/>
        </p:nvSpPr>
        <p:spPr>
          <a:xfrm>
            <a:off x="5680075" y="3127375"/>
            <a:ext cx="5256213" cy="603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000000"/>
              </a:solidFill>
              <a:latin typeface="Calibri"/>
              <a:ea typeface="Calibri"/>
              <a:cs typeface="Calibri"/>
              <a:sym typeface="Calibri"/>
            </a:endParaRPr>
          </a:p>
        </p:txBody>
      </p:sp>
      <p:pic>
        <p:nvPicPr>
          <p:cNvPr id="421" name="Google Shape;421;p26"/>
          <p:cNvPicPr preferRelativeResize="0"/>
          <p:nvPr/>
        </p:nvPicPr>
        <p:blipFill rotWithShape="1">
          <a:blip r:embed="rId3">
            <a:alphaModFix/>
          </a:blip>
          <a:srcRect b="0" l="0" r="0" t="0"/>
          <a:stretch/>
        </p:blipFill>
        <p:spPr>
          <a:xfrm>
            <a:off x="1380739" y="2334597"/>
            <a:ext cx="3150920" cy="1712968"/>
          </a:xfrm>
          <a:prstGeom prst="rect">
            <a:avLst/>
          </a:prstGeom>
          <a:noFill/>
          <a:ln>
            <a:noFill/>
          </a:ln>
        </p:spPr>
      </p:pic>
      <p:cxnSp>
        <p:nvCxnSpPr>
          <p:cNvPr id="422" name="Google Shape;422;p26"/>
          <p:cNvCxnSpPr/>
          <p:nvPr/>
        </p:nvCxnSpPr>
        <p:spPr>
          <a:xfrm>
            <a:off x="4994108" y="3339537"/>
            <a:ext cx="4583156" cy="27277"/>
          </a:xfrm>
          <a:prstGeom prst="straightConnector1">
            <a:avLst/>
          </a:prstGeom>
          <a:noFill/>
          <a:ln cap="flat" cmpd="sng" w="38100">
            <a:solidFill>
              <a:srgbClr val="C55A11"/>
            </a:solidFill>
            <a:prstDash val="solid"/>
            <a:miter lim="800000"/>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2021-01-07T04:42:57Z</dcterms:created>
  <dc:creator>Vandana M Ladwani</dc:creator>
</cp:coreProperties>
</file>