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7" r:id="rId2"/>
    <p:sldId id="258" r:id="rId3"/>
    <p:sldId id="259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91" r:id="rId14"/>
    <p:sldId id="287" r:id="rId15"/>
    <p:sldId id="288" r:id="rId16"/>
    <p:sldId id="289" r:id="rId17"/>
    <p:sldId id="290" r:id="rId18"/>
    <p:sldId id="292" r:id="rId19"/>
    <p:sldId id="293" r:id="rId20"/>
    <p:sldId id="294" r:id="rId21"/>
    <p:sldId id="29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8" autoAdjust="0"/>
    <p:restoredTop sz="94660"/>
  </p:normalViewPr>
  <p:slideViewPr>
    <p:cSldViewPr snapToGrid="0">
      <p:cViewPr varScale="1">
        <p:scale>
          <a:sx n="71" d="100"/>
          <a:sy n="71" d="100"/>
        </p:scale>
        <p:origin x="41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635F3C-E135-426E-9386-DAFFC7A8379E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2BDB39-AEA8-4726-BAC6-E5A9E1E905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9343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Google Shape;1859;g16597ac8331_4_0:notes"/>
          <p:cNvSpPr txBox="1"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0" indent="0" eaLnBrk="1" hangingPunct="1">
              <a:buSzPts val="1400"/>
            </a:pPr>
            <a:endParaRPr lang="en-US" sz="1200" smtClean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2291" name="Google Shape;1860;g16597ac8331_4_0:notes"/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894193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6EAA-ACE3-4BD7-819F-48D5C743B1B1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3D38E-EC83-471E-996F-E7A5338EF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7525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6EAA-ACE3-4BD7-819F-48D5C743B1B1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3D38E-EC83-471E-996F-E7A5338EF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5498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6EAA-ACE3-4BD7-819F-48D5C743B1B1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3D38E-EC83-471E-996F-E7A5338EF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2302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6EAA-ACE3-4BD7-819F-48D5C743B1B1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3D38E-EC83-471E-996F-E7A5338EF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1724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6EAA-ACE3-4BD7-819F-48D5C743B1B1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3D38E-EC83-471E-996F-E7A5338EF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3481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6EAA-ACE3-4BD7-819F-48D5C743B1B1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3D38E-EC83-471E-996F-E7A5338EF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8855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6EAA-ACE3-4BD7-819F-48D5C743B1B1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3D38E-EC83-471E-996F-E7A5338EF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1536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6EAA-ACE3-4BD7-819F-48D5C743B1B1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3D38E-EC83-471E-996F-E7A5338EF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1069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6EAA-ACE3-4BD7-819F-48D5C743B1B1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3D38E-EC83-471E-996F-E7A5338EF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2395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6EAA-ACE3-4BD7-819F-48D5C743B1B1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3D38E-EC83-471E-996F-E7A5338EF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3065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6EAA-ACE3-4BD7-819F-48D5C743B1B1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3D38E-EC83-471E-996F-E7A5338EF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5878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B06EAA-ACE3-4BD7-819F-48D5C743B1B1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D3D38E-EC83-471E-996F-E7A5338EF6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356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e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5DFE3490-CF8C-4FDE-9D71-2170861F2A61}"/>
              </a:ext>
            </a:extLst>
          </p:cNvPr>
          <p:cNvSpPr/>
          <p:nvPr/>
        </p:nvSpPr>
        <p:spPr>
          <a:xfrm>
            <a:off x="4694786" y="3371567"/>
            <a:ext cx="74972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smtClean="0">
                <a:solidFill>
                  <a:schemeClr val="accent2">
                    <a:lumMod val="75000"/>
                  </a:schemeClr>
                </a:solidFill>
              </a:rPr>
              <a:t>Design and Analysis of Algorithms</a:t>
            </a:r>
            <a:endParaRPr lang="en-US" sz="3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585D8B7B-5B60-4808-A096-FB24198F96E9}"/>
              </a:ext>
            </a:extLst>
          </p:cNvPr>
          <p:cNvSpPr/>
          <p:nvPr/>
        </p:nvSpPr>
        <p:spPr>
          <a:xfrm>
            <a:off x="4822259" y="4439319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/>
              <a:t>Dinesh Singh</a:t>
            </a:r>
            <a:endParaRPr lang="en-IN" sz="2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743662B4-0C28-4203-AEB1-4CC1644B8226}"/>
              </a:ext>
            </a:extLst>
          </p:cNvPr>
          <p:cNvSpPr/>
          <p:nvPr/>
        </p:nvSpPr>
        <p:spPr>
          <a:xfrm>
            <a:off x="4781916" y="4813108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Department of </a:t>
            </a:r>
            <a:r>
              <a:rPr lang="en-US" sz="2400" dirty="0" smtClean="0"/>
              <a:t>Computer Science &amp; </a:t>
            </a:r>
            <a:r>
              <a:rPr lang="en-US" sz="2400" dirty="0"/>
              <a:t>Engineering</a:t>
            </a:r>
            <a:endParaRPr lang="en-IN" sz="2400" dirty="0"/>
          </a:p>
        </p:txBody>
      </p:sp>
      <p:grpSp>
        <p:nvGrpSpPr>
          <p:cNvPr id="20" name="Group 19">
            <a:extLst>
              <a:ext uri="{FF2B5EF4-FFF2-40B4-BE49-F238E27FC236}">
                <a16:creationId xmlns=""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=""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=""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="" xmlns:a16="http://schemas.microsoft.com/office/drawing/2014/main" id="{1EEB87D2-BD33-43D4-B135-6F0E91C4917A}"/>
              </a:ext>
            </a:extLst>
          </p:cNvPr>
          <p:cNvCxnSpPr>
            <a:cxnSpLocks/>
          </p:cNvCxnSpPr>
          <p:nvPr/>
        </p:nvCxnSpPr>
        <p:spPr>
          <a:xfrm flipV="1">
            <a:off x="4781916" y="4017898"/>
            <a:ext cx="6449301" cy="9454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 rot="10800000">
            <a:off x="10855702" y="266068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17" name="Rectangle 16">
              <a:extLst>
                <a:ext uri="{FF2B5EF4-FFF2-40B4-BE49-F238E27FC236}">
                  <a16:creationId xmlns=""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=""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692" y="3371567"/>
            <a:ext cx="2454107" cy="126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261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5DFE3490-CF8C-4FDE-9D71-2170861F2A61}"/>
              </a:ext>
            </a:extLst>
          </p:cNvPr>
          <p:cNvSpPr/>
          <p:nvPr/>
        </p:nvSpPr>
        <p:spPr>
          <a:xfrm>
            <a:off x="313843" y="1715770"/>
            <a:ext cx="872799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600" b="1" cap="all" dirty="0" smtClean="0"/>
              <a:t>DESIGN AND ANALYSIS OF ALGORITHMS</a:t>
            </a:r>
            <a:endParaRPr lang="en-US" sz="3600" b="1" cap="all" dirty="0"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34CEFAD4-E477-4E46-B5A6-ADB26E6A2863}"/>
              </a:ext>
            </a:extLst>
          </p:cNvPr>
          <p:cNvSpPr/>
          <p:nvPr/>
        </p:nvSpPr>
        <p:spPr>
          <a:xfrm>
            <a:off x="309611" y="2900080"/>
            <a:ext cx="962776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smtClean="0">
                <a:solidFill>
                  <a:schemeClr val="accent1">
                    <a:lumMod val="75000"/>
                  </a:schemeClr>
                </a:solidFill>
              </a:rPr>
              <a:t>Greedy </a:t>
            </a:r>
            <a:r>
              <a:rPr lang="en-US" sz="3600" b="1" dirty="0" smtClean="0">
                <a:solidFill>
                  <a:schemeClr val="accent1">
                    <a:lumMod val="75000"/>
                  </a:schemeClr>
                </a:solidFill>
              </a:rPr>
              <a:t>Technique- </a:t>
            </a:r>
            <a:r>
              <a:rPr lang="en-US" sz="3600" b="1" dirty="0" err="1" smtClean="0">
                <a:solidFill>
                  <a:schemeClr val="accent1">
                    <a:lumMod val="75000"/>
                  </a:schemeClr>
                </a:solidFill>
              </a:rPr>
              <a:t>Huffmans</a:t>
            </a:r>
            <a:r>
              <a:rPr lang="en-US" sz="3600" b="1" dirty="0" smtClean="0">
                <a:solidFill>
                  <a:schemeClr val="accent1">
                    <a:lumMod val="75000"/>
                  </a:schemeClr>
                </a:solidFill>
              </a:rPr>
              <a:t> Algorithm</a:t>
            </a:r>
            <a:endParaRPr lang="en-IN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585D8B7B-5B60-4808-A096-FB24198F96E9}"/>
              </a:ext>
            </a:extLst>
          </p:cNvPr>
          <p:cNvSpPr/>
          <p:nvPr/>
        </p:nvSpPr>
        <p:spPr>
          <a:xfrm>
            <a:off x="598883" y="5489699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/>
              <a:t>Dinesh Singh</a:t>
            </a:r>
            <a:endParaRPr lang="en-IN" sz="2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743662B4-0C28-4203-AEB1-4CC1644B8226}"/>
              </a:ext>
            </a:extLst>
          </p:cNvPr>
          <p:cNvSpPr/>
          <p:nvPr/>
        </p:nvSpPr>
        <p:spPr>
          <a:xfrm>
            <a:off x="598883" y="5887304"/>
            <a:ext cx="74972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Department of </a:t>
            </a:r>
            <a:r>
              <a:rPr lang="en-US" sz="2000" dirty="0" smtClean="0"/>
              <a:t>Computer Science &amp; </a:t>
            </a:r>
            <a:r>
              <a:rPr lang="en-US" sz="2000" dirty="0"/>
              <a:t>Engineering</a:t>
            </a:r>
            <a:endParaRPr lang="en-IN" sz="2000" dirty="0"/>
          </a:p>
        </p:txBody>
      </p:sp>
      <p:grpSp>
        <p:nvGrpSpPr>
          <p:cNvPr id="20" name="Group 19">
            <a:extLst>
              <a:ext uri="{FF2B5EF4-FFF2-40B4-BE49-F238E27FC236}">
                <a16:creationId xmlns=""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=""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=""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="" xmlns:a16="http://schemas.microsoft.com/office/drawing/2014/main" id="{DD6B6443-C2DA-47C3-A986-5EE935046CC9}"/>
              </a:ext>
            </a:extLst>
          </p:cNvPr>
          <p:cNvCxnSpPr>
            <a:cxnSpLocks/>
          </p:cNvCxnSpPr>
          <p:nvPr/>
        </p:nvCxnSpPr>
        <p:spPr>
          <a:xfrm flipV="1">
            <a:off x="0" y="2596822"/>
            <a:ext cx="7904054" cy="68537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010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Greedy Technique – Huffman’s Algorithm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4" y="1513221"/>
            <a:ext cx="10767919" cy="4840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u="sng" dirty="0"/>
              <a:t>Some </a:t>
            </a:r>
            <a:r>
              <a:rPr lang="en-US" sz="2400" b="1" u="sng" dirty="0" smtClean="0"/>
              <a:t>Terminologies</a:t>
            </a:r>
          </a:p>
          <a:p>
            <a:pPr marL="342900" indent="-342900"/>
            <a:r>
              <a:rPr lang="en-US" sz="2400" b="1" dirty="0" err="1" smtClean="0"/>
              <a:t>Codeword</a:t>
            </a:r>
            <a:r>
              <a:rPr lang="en-US" sz="2400" dirty="0" smtClean="0"/>
              <a:t> - Assigning </a:t>
            </a:r>
            <a:r>
              <a:rPr lang="en-US" sz="2400" dirty="0"/>
              <a:t>a sequence of bits </a:t>
            </a:r>
            <a:r>
              <a:rPr lang="en-US" sz="2400" dirty="0" smtClean="0"/>
              <a:t>to </a:t>
            </a:r>
            <a:r>
              <a:rPr lang="en-US" sz="2400" dirty="0"/>
              <a:t>each symbol in the </a:t>
            </a:r>
            <a:r>
              <a:rPr lang="en-US" sz="2400" dirty="0" smtClean="0"/>
              <a:t>text.  There </a:t>
            </a:r>
            <a:r>
              <a:rPr lang="en-US" sz="2400" dirty="0"/>
              <a:t>are two </a:t>
            </a:r>
            <a:r>
              <a:rPr lang="en-US" sz="2400" dirty="0" smtClean="0"/>
              <a:t>options</a:t>
            </a:r>
          </a:p>
          <a:p>
            <a:pPr marL="342900" indent="-342900"/>
            <a:r>
              <a:rPr lang="en-US" sz="2400" b="1" i="1" dirty="0"/>
              <a:t>fixed-length encoding </a:t>
            </a:r>
            <a:r>
              <a:rPr lang="en-US" sz="2400" b="1" i="1" dirty="0" smtClean="0"/>
              <a:t>:</a:t>
            </a:r>
            <a:r>
              <a:rPr lang="en-US" sz="2400" dirty="0" smtClean="0"/>
              <a:t> </a:t>
            </a:r>
            <a:r>
              <a:rPr lang="en-US" sz="2400" dirty="0"/>
              <a:t>This is similar to standard ASCII encoding, where each symbol is represented using a fixed number of bits.</a:t>
            </a:r>
            <a:endParaRPr lang="en-US" sz="2400" dirty="0" smtClean="0"/>
          </a:p>
          <a:p>
            <a:pPr marL="342900" indent="-342900"/>
            <a:r>
              <a:rPr lang="en-US" sz="2400" b="1" i="1" dirty="0"/>
              <a:t>Variable-length encoding : </a:t>
            </a:r>
            <a:r>
              <a:rPr lang="en-US" sz="2400" dirty="0"/>
              <a:t>assigns shorter </a:t>
            </a:r>
            <a:r>
              <a:rPr lang="en-US" sz="2400" dirty="0" err="1"/>
              <a:t>codewords</a:t>
            </a:r>
            <a:r>
              <a:rPr lang="en-US" sz="2400" dirty="0"/>
              <a:t> to more frequent symbols and longer </a:t>
            </a:r>
            <a:r>
              <a:rPr lang="en-US" sz="2400" dirty="0" err="1"/>
              <a:t>codewords</a:t>
            </a:r>
            <a:r>
              <a:rPr lang="en-US" sz="2400" dirty="0"/>
              <a:t> to less frequent symbols, typically ensuring the code is prefix-free for unambiguous </a:t>
            </a:r>
            <a:r>
              <a:rPr lang="en-US" sz="2400" dirty="0" smtClean="0"/>
              <a:t>decoding. This </a:t>
            </a:r>
            <a:r>
              <a:rPr lang="en-US" sz="2400" dirty="0"/>
              <a:t>idea was used, in particular, in the telegraph code invented in the mid-19</a:t>
            </a:r>
            <a:r>
              <a:rPr lang="en-US" sz="2400" baseline="30000" dirty="0"/>
              <a:t>th</a:t>
            </a:r>
            <a:r>
              <a:rPr lang="en-US" sz="2400" dirty="0"/>
              <a:t> century by Samuel Morse. </a:t>
            </a:r>
            <a:endParaRPr lang="en-US" sz="2400" dirty="0" smtClean="0"/>
          </a:p>
          <a:p>
            <a:pPr marL="342900" indent="-342900"/>
            <a:r>
              <a:rPr lang="en-US" sz="2400" b="1" i="1" dirty="0" smtClean="0"/>
              <a:t>prefix-free </a:t>
            </a:r>
            <a:r>
              <a:rPr lang="en-US" sz="2400" dirty="0"/>
              <a:t>(or simply </a:t>
            </a:r>
            <a:r>
              <a:rPr lang="en-US" sz="2400" b="1" i="1" dirty="0"/>
              <a:t>prefix</a:t>
            </a:r>
            <a:r>
              <a:rPr lang="en-US" sz="2400" dirty="0"/>
              <a:t>) </a:t>
            </a:r>
            <a:r>
              <a:rPr lang="en-US" sz="2400" b="1" i="1" dirty="0"/>
              <a:t>codes : </a:t>
            </a:r>
            <a:r>
              <a:rPr lang="it-IT" sz="2400" dirty="0"/>
              <a:t>In a prefix </a:t>
            </a:r>
            <a:r>
              <a:rPr lang="it-IT" sz="2400" dirty="0" smtClean="0"/>
              <a:t>code, </a:t>
            </a:r>
            <a:r>
              <a:rPr lang="en-US" sz="2400" dirty="0" smtClean="0"/>
              <a:t>no </a:t>
            </a:r>
            <a:r>
              <a:rPr lang="en-US" sz="2400" dirty="0" err="1"/>
              <a:t>codeword</a:t>
            </a:r>
            <a:r>
              <a:rPr lang="en-US" sz="2400" dirty="0"/>
              <a:t> is a prefix of any other </a:t>
            </a:r>
            <a:r>
              <a:rPr lang="en-US" sz="2400" dirty="0" err="1"/>
              <a:t>codeword</a:t>
            </a:r>
            <a:endParaRPr lang="en-US" sz="2400" dirty="0"/>
          </a:p>
          <a:p>
            <a:pPr marL="342900" indent="-342900"/>
            <a:endParaRPr lang="en-US" sz="2400" dirty="0" smtClean="0"/>
          </a:p>
          <a:p>
            <a:pPr marL="342900" indent="-342900"/>
            <a:endParaRPr lang="en-US" sz="2400" dirty="0"/>
          </a:p>
          <a:p>
            <a:pPr marL="342900" indent="-342900"/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173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Greedy Technique – Huffman’s Algorithm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4" y="1513221"/>
            <a:ext cx="10767919" cy="4840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b="1" dirty="0"/>
              <a:t>Huffman’s algorithm</a:t>
            </a:r>
            <a:r>
              <a:rPr lang="en-US" sz="2200" dirty="0"/>
              <a:t>. Greedy algorithm, invented by David Huffman while he was a graduate student at MIT. Used to Create a Prefix code. </a:t>
            </a:r>
          </a:p>
          <a:p>
            <a:pPr marL="342900" indent="-342900"/>
            <a:r>
              <a:rPr lang="en-US" sz="2200" dirty="0"/>
              <a:t>Given alphabet with known frequencies of the symbol occurrences, the Algorithm constructs a tree that would assign shorter bit strings to high-frequency symbols and longer ones to low-frequency symbols.</a:t>
            </a:r>
            <a:endParaRPr lang="en-US" sz="2200" u="sng" dirty="0"/>
          </a:p>
          <a:p>
            <a:pPr marL="342900" indent="-342900"/>
            <a:r>
              <a:rPr lang="en-US" sz="2200" b="1" dirty="0"/>
              <a:t>Step 1 </a:t>
            </a:r>
            <a:r>
              <a:rPr lang="en-US" sz="2200" dirty="0"/>
              <a:t>Initialize n one-node trees and label them with the symbols of the alphabet given. Record the frequency of each symbol in its tree’s root to indicate the tree’s weight. </a:t>
            </a:r>
          </a:p>
          <a:p>
            <a:pPr marL="342900" indent="-342900"/>
            <a:r>
              <a:rPr lang="en-US" sz="2200" b="1" dirty="0"/>
              <a:t>Step 2 </a:t>
            </a:r>
            <a:r>
              <a:rPr lang="en-US" sz="2200" dirty="0"/>
              <a:t>Repeat the following operation until a single tree is obtained. </a:t>
            </a:r>
            <a:endParaRPr lang="en-US" sz="2200" dirty="0" smtClean="0"/>
          </a:p>
          <a:p>
            <a:pPr marL="800100" lvl="1" indent="-342900"/>
            <a:r>
              <a:rPr lang="en-US" sz="2200" dirty="0" smtClean="0"/>
              <a:t>Find </a:t>
            </a:r>
            <a:r>
              <a:rPr lang="en-US" sz="2200" dirty="0"/>
              <a:t>two trees with the smallest weight. Make them the left and right </a:t>
            </a:r>
            <a:r>
              <a:rPr lang="en-US" sz="2200" dirty="0" err="1"/>
              <a:t>subtree</a:t>
            </a:r>
            <a:r>
              <a:rPr lang="en-US" sz="2200" dirty="0"/>
              <a:t> of a new tree and record the sum of their weights in the root of the new tree as its </a:t>
            </a:r>
            <a:r>
              <a:rPr lang="en-US" sz="2200" dirty="0" smtClean="0"/>
              <a:t>weight</a:t>
            </a:r>
          </a:p>
          <a:p>
            <a:r>
              <a:rPr lang="en-US" sz="2200" dirty="0"/>
              <a:t>A tree constructed by the above algorithm is called a Huffman tree. </a:t>
            </a:r>
            <a:r>
              <a:rPr lang="en-US" sz="2200" dirty="0" smtClean="0"/>
              <a:t>This is used to generate a code for a given symbol called - Huffman </a:t>
            </a:r>
            <a:r>
              <a:rPr lang="en-US" sz="2200" dirty="0"/>
              <a:t>code</a:t>
            </a:r>
          </a:p>
          <a:p>
            <a:pPr marL="342900" indent="-342900"/>
            <a:endParaRPr lang="en-US" sz="2200" dirty="0" smtClean="0"/>
          </a:p>
          <a:p>
            <a:pPr marL="342900" indent="-342900"/>
            <a:endParaRPr lang="en-US" sz="2400" dirty="0"/>
          </a:p>
          <a:p>
            <a:pPr marL="342900" indent="-342900"/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92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Greedy Technique – Huffman’s Algorithm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4" y="1513221"/>
            <a:ext cx="10767919" cy="4840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EXAMPLE </a:t>
            </a:r>
            <a:r>
              <a:rPr lang="en-US" sz="2400" dirty="0"/>
              <a:t>Consider the five-symbol alphabet {A, B, C, D, _ } with the following occurrence frequencies in a text made up of these symbols</a:t>
            </a:r>
          </a:p>
          <a:p>
            <a:pPr marL="342900" indent="-342900"/>
            <a:endParaRPr lang="en-US" sz="2200" dirty="0" smtClean="0"/>
          </a:p>
          <a:p>
            <a:pPr marL="342900" indent="-342900"/>
            <a:endParaRPr lang="en-US" sz="2400" dirty="0"/>
          </a:p>
          <a:p>
            <a:pPr marL="342900" indent="-342900"/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74" y="2806019"/>
            <a:ext cx="10901452" cy="1550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292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Greedy Technique – Huffman’s Algorithm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4" y="1513221"/>
            <a:ext cx="10767919" cy="4840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003" y="1420977"/>
            <a:ext cx="7025918" cy="99949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3775" y="3181664"/>
            <a:ext cx="7271778" cy="1269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788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Greedy Technique – Huffman’s Algorithm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4" y="1513221"/>
            <a:ext cx="10767919" cy="4840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2901" y="1870025"/>
            <a:ext cx="5986693" cy="131412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8760" y="3975084"/>
            <a:ext cx="6456229" cy="207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741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Greedy Technique – Huffman’s Algorithm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4" y="1513221"/>
            <a:ext cx="10767919" cy="4840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869" y="2039792"/>
            <a:ext cx="4196907" cy="185825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6142" y="2942437"/>
            <a:ext cx="6058298" cy="172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526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Greedy Technique – Huffman’s Algorithm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4" y="1513221"/>
            <a:ext cx="10767919" cy="4840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159" y="1985476"/>
            <a:ext cx="4749569" cy="179154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1339" y="2662663"/>
            <a:ext cx="4695793" cy="2124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262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Greedy Technique – Huffman’s Algorithm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4" y="1513221"/>
            <a:ext cx="10767919" cy="4840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791" y="2269683"/>
            <a:ext cx="4081323" cy="213172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2832" y="2395054"/>
            <a:ext cx="4467106" cy="2835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509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Greedy Technique – Huffman’s Algorithm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1724397" y="1136030"/>
            <a:ext cx="10767919" cy="4840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759" y="2011073"/>
            <a:ext cx="4467106" cy="283585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3843" y="2719429"/>
            <a:ext cx="6389928" cy="19332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56296" y="4484262"/>
            <a:ext cx="5093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Length                    2          3           2          2          3          </a:t>
            </a:r>
            <a:endParaRPr lang="en-IN" b="1" dirty="0"/>
          </a:p>
        </p:txBody>
      </p:sp>
      <p:sp>
        <p:nvSpPr>
          <p:cNvPr id="5" name="Rectangle 4"/>
          <p:cNvSpPr/>
          <p:nvPr/>
        </p:nvSpPr>
        <p:spPr>
          <a:xfrm>
            <a:off x="3048000" y="5606985"/>
            <a:ext cx="7897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Observation: Symbols with higher frequency get shorter </a:t>
            </a:r>
            <a:r>
              <a:rPr lang="en-US" b="1" dirty="0" smtClean="0"/>
              <a:t>code words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2658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Greedy Technique – Huffman’s Algorithm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4" y="1513221"/>
            <a:ext cx="10767919" cy="4840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68188" y="1371171"/>
            <a:ext cx="9211236" cy="57861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/>
              <a:t>Encoding </a:t>
            </a:r>
          </a:p>
          <a:p>
            <a:endParaRPr lang="en-US" sz="2800" b="1" dirty="0" smtClean="0"/>
          </a:p>
          <a:p>
            <a:r>
              <a:rPr lang="en-US" sz="2200" dirty="0" smtClean="0"/>
              <a:t>DAD   -&gt; 01 11 01.</a:t>
            </a:r>
          </a:p>
          <a:p>
            <a:endParaRPr lang="en-US" sz="2200" b="1" dirty="0" smtClean="0"/>
          </a:p>
          <a:p>
            <a:r>
              <a:rPr lang="en-US" sz="2800" b="1" dirty="0" smtClean="0"/>
              <a:t>Decoding </a:t>
            </a:r>
          </a:p>
          <a:p>
            <a:endParaRPr lang="en-US" sz="2200" b="1" dirty="0" smtClean="0"/>
          </a:p>
          <a:p>
            <a:r>
              <a:rPr lang="en-US" sz="2200" dirty="0" smtClean="0"/>
              <a:t>100 11 01 101 11 01  -&gt; BAD_AD.</a:t>
            </a:r>
          </a:p>
          <a:p>
            <a:endParaRPr lang="en-US" sz="2200" b="1" dirty="0"/>
          </a:p>
          <a:p>
            <a:r>
              <a:rPr lang="en-US" sz="2200" dirty="0" smtClean="0"/>
              <a:t>With </a:t>
            </a:r>
            <a:r>
              <a:rPr lang="en-US" sz="2200" dirty="0"/>
              <a:t>the occurrence frequencies given and the </a:t>
            </a:r>
            <a:r>
              <a:rPr lang="en-US" sz="2200" dirty="0" smtClean="0"/>
              <a:t>code word </a:t>
            </a:r>
            <a:r>
              <a:rPr lang="en-US" sz="2200" dirty="0"/>
              <a:t>lengths obtained,</a:t>
            </a:r>
          </a:p>
          <a:p>
            <a:r>
              <a:rPr lang="en-US" sz="2200" dirty="0"/>
              <a:t>the average number of bits per symbol in this code is</a:t>
            </a:r>
          </a:p>
          <a:p>
            <a:endParaRPr lang="en-US" sz="2200" dirty="0"/>
          </a:p>
          <a:p>
            <a:r>
              <a:rPr lang="en-US" sz="2200" b="1" dirty="0"/>
              <a:t>2 </a:t>
            </a:r>
            <a:r>
              <a:rPr lang="en-US" sz="2200" b="1" i="1" dirty="0"/>
              <a:t>* </a:t>
            </a:r>
            <a:r>
              <a:rPr lang="en-US" sz="2200" b="1" dirty="0"/>
              <a:t>0</a:t>
            </a:r>
            <a:r>
              <a:rPr lang="en-US" sz="2200" b="1" i="1" dirty="0"/>
              <a:t>.</a:t>
            </a:r>
            <a:r>
              <a:rPr lang="en-US" sz="2200" b="1" dirty="0"/>
              <a:t>35 + 3 *</a:t>
            </a:r>
            <a:r>
              <a:rPr lang="en-US" sz="2200" b="1" i="1" dirty="0"/>
              <a:t> </a:t>
            </a:r>
            <a:r>
              <a:rPr lang="en-US" sz="2200" b="1" dirty="0"/>
              <a:t>0</a:t>
            </a:r>
            <a:r>
              <a:rPr lang="en-US" sz="2200" b="1" i="1" dirty="0"/>
              <a:t>.</a:t>
            </a:r>
            <a:r>
              <a:rPr lang="en-US" sz="2200" b="1" dirty="0"/>
              <a:t>1+ 2 </a:t>
            </a:r>
            <a:r>
              <a:rPr lang="en-US" sz="2200" b="1" i="1" dirty="0"/>
              <a:t>* </a:t>
            </a:r>
            <a:r>
              <a:rPr lang="en-US" sz="2200" b="1" dirty="0"/>
              <a:t>0</a:t>
            </a:r>
            <a:r>
              <a:rPr lang="en-US" sz="2200" b="1" i="1" dirty="0"/>
              <a:t>.</a:t>
            </a:r>
            <a:r>
              <a:rPr lang="en-US" sz="2200" b="1" dirty="0"/>
              <a:t>2 + 2 </a:t>
            </a:r>
            <a:r>
              <a:rPr lang="en-US" sz="2200" b="1" i="1" dirty="0"/>
              <a:t>*</a:t>
            </a:r>
            <a:r>
              <a:rPr lang="en-US" sz="2200" b="1" dirty="0"/>
              <a:t>0</a:t>
            </a:r>
            <a:r>
              <a:rPr lang="en-US" sz="2200" b="1" i="1" dirty="0"/>
              <a:t>.</a:t>
            </a:r>
            <a:r>
              <a:rPr lang="en-US" sz="2200" b="1" dirty="0"/>
              <a:t>2 + 3 </a:t>
            </a:r>
            <a:r>
              <a:rPr lang="en-US" sz="2200" b="1" i="1" dirty="0"/>
              <a:t>* </a:t>
            </a:r>
            <a:r>
              <a:rPr lang="en-US" sz="2200" b="1" dirty="0"/>
              <a:t>0</a:t>
            </a:r>
            <a:r>
              <a:rPr lang="en-US" sz="2200" b="1" i="1" dirty="0"/>
              <a:t>.</a:t>
            </a:r>
            <a:r>
              <a:rPr lang="en-US" sz="2200" b="1" dirty="0"/>
              <a:t>15 = 2</a:t>
            </a:r>
            <a:r>
              <a:rPr lang="en-US" sz="2200" b="1" i="1" dirty="0"/>
              <a:t>.</a:t>
            </a:r>
            <a:r>
              <a:rPr lang="en-US" sz="2200" b="1" dirty="0"/>
              <a:t>25</a:t>
            </a:r>
            <a:r>
              <a:rPr lang="en-US" sz="2200" b="1" i="1" dirty="0" smtClean="0"/>
              <a:t>.</a:t>
            </a:r>
          </a:p>
          <a:p>
            <a:endParaRPr lang="en-US" sz="2200" b="1" i="1" dirty="0"/>
          </a:p>
          <a:p>
            <a:r>
              <a:rPr lang="en-US" sz="2200" dirty="0" smtClean="0"/>
              <a:t>This </a:t>
            </a:r>
            <a:r>
              <a:rPr lang="en-US" sz="2200" dirty="0"/>
              <a:t>is less than fixed-length (3 bits), hence compression is achieved.</a:t>
            </a:r>
            <a:endParaRPr lang="en-US" sz="2200" b="1" i="1" dirty="0" smtClean="0"/>
          </a:p>
          <a:p>
            <a:endParaRPr lang="en-US" sz="2200" i="1" dirty="0"/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679376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Greedy Technique – Huffman’s Algorithm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4" y="1513221"/>
            <a:ext cx="10767919" cy="4840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68187" y="1371171"/>
            <a:ext cx="10394577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 smtClean="0"/>
          </a:p>
          <a:p>
            <a:r>
              <a:rPr lang="en-US" sz="2400" dirty="0"/>
              <a:t>Fixed-length encoding requires 3 bits per symbol (since there are 5 symbols</a:t>
            </a:r>
            <a:r>
              <a:rPr lang="en-US" sz="2400" dirty="0" smtClean="0"/>
              <a:t>).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F</a:t>
            </a:r>
            <a:r>
              <a:rPr lang="en-US" sz="2400" dirty="0" smtClean="0"/>
              <a:t>or </a:t>
            </a:r>
            <a:r>
              <a:rPr lang="en-US" sz="2400" dirty="0"/>
              <a:t>this example, Huffman’s code achieves </a:t>
            </a:r>
            <a:endParaRPr lang="en-US" sz="2400" dirty="0" smtClean="0"/>
          </a:p>
          <a:p>
            <a:r>
              <a:rPr lang="en-US" sz="2400" dirty="0"/>
              <a:t> </a:t>
            </a:r>
            <a:r>
              <a:rPr lang="en-US" sz="2400" dirty="0" smtClean="0"/>
              <a:t>                      </a:t>
            </a:r>
            <a:r>
              <a:rPr lang="en-US" sz="2400" b="1" dirty="0" smtClean="0"/>
              <a:t>Compression ratio  </a:t>
            </a:r>
            <a:r>
              <a:rPr lang="en-US" sz="2400" dirty="0" smtClean="0"/>
              <a:t>= (2.25 / 3 ) *100 =75 %</a:t>
            </a:r>
          </a:p>
          <a:p>
            <a:r>
              <a:rPr lang="en-US" sz="2400" dirty="0"/>
              <a:t> </a:t>
            </a:r>
            <a:r>
              <a:rPr lang="en-US" sz="2400" dirty="0" smtClean="0"/>
              <a:t>                         </a:t>
            </a:r>
          </a:p>
          <a:p>
            <a:endParaRPr lang="en-US" sz="2400" i="1" dirty="0" smtClean="0"/>
          </a:p>
          <a:p>
            <a:r>
              <a:rPr lang="en-US" sz="2400" b="1" dirty="0" smtClean="0"/>
              <a:t>                          </a:t>
            </a:r>
            <a:r>
              <a:rPr lang="en-IN" sz="2400" b="1" dirty="0"/>
              <a:t>Compression (space saving)</a:t>
            </a:r>
            <a:r>
              <a:rPr lang="en-US" sz="2400" b="1" dirty="0" smtClean="0"/>
              <a:t> =   ( 3 – 2.25 )/ 3 </a:t>
            </a:r>
            <a:r>
              <a:rPr lang="en-US" sz="2400" b="1" dirty="0"/>
              <a:t>*100 = 25</a:t>
            </a:r>
            <a:r>
              <a:rPr lang="en-US" sz="2400" b="1" dirty="0" smtClean="0"/>
              <a:t>%  </a:t>
            </a:r>
            <a:endParaRPr lang="en-US" sz="2400" b="1" dirty="0"/>
          </a:p>
          <a:p>
            <a:endParaRPr lang="en-US" sz="2400" i="1" dirty="0"/>
          </a:p>
          <a:p>
            <a:r>
              <a:rPr lang="en-US" sz="2400" dirty="0"/>
              <a:t>Huffman coding reduces memory usage by 25</a:t>
            </a:r>
            <a:r>
              <a:rPr lang="en-US" sz="2400" dirty="0" smtClean="0"/>
              <a:t>%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65226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Greedy Technique – Huffman’s Algorithm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4" y="1513221"/>
            <a:ext cx="10767919" cy="4840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601" y="2261746"/>
            <a:ext cx="9205563" cy="276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094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Greedy Technique – Huffman’s Algorithm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4" y="1513221"/>
            <a:ext cx="10767919" cy="4840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7033" y="2577515"/>
            <a:ext cx="6149120" cy="3612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933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Greedy Technique – Huffman’s Algorithm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4" y="1513221"/>
            <a:ext cx="10767919" cy="4840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2896" y="2107171"/>
            <a:ext cx="4708932" cy="4246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28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Greedy Technique – Huffman’s Algorithm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4" y="1513221"/>
            <a:ext cx="10767919" cy="4840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78" y="1843727"/>
            <a:ext cx="5139518" cy="375025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1009" y="1870025"/>
            <a:ext cx="6351471" cy="3162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768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Multiple choice questions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4" y="1513221"/>
            <a:ext cx="10767919" cy="4840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68187" y="1371171"/>
            <a:ext cx="10394577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 smtClean="0"/>
          </a:p>
          <a:p>
            <a:r>
              <a:rPr lang="en-US" sz="2400" dirty="0"/>
              <a:t>Given symbols with frequencies:</a:t>
            </a:r>
            <a:br>
              <a:rPr lang="en-US" sz="2400" dirty="0"/>
            </a:br>
            <a:r>
              <a:rPr lang="en-US" sz="2400" dirty="0"/>
              <a:t>A: 0.35, B: 0.10, C: 0.20, D: 0.20, E: 0.15</a:t>
            </a:r>
          </a:p>
          <a:p>
            <a:r>
              <a:rPr lang="en-US" sz="2400" dirty="0"/>
              <a:t>Which of the following statements is always true for the Huffman tree constructed</a:t>
            </a:r>
            <a:r>
              <a:rPr lang="en-US" sz="2400" dirty="0" smtClean="0"/>
              <a:t>?</a:t>
            </a:r>
          </a:p>
          <a:p>
            <a:endParaRPr lang="en-US" sz="2400" dirty="0"/>
          </a:p>
          <a:p>
            <a:pPr marL="457200" indent="-457200">
              <a:buAutoNum type="alphaUcPeriod"/>
            </a:pPr>
            <a:r>
              <a:rPr lang="en-US" sz="2400" dirty="0" smtClean="0"/>
              <a:t>The </a:t>
            </a:r>
            <a:r>
              <a:rPr lang="en-US" sz="2400" dirty="0"/>
              <a:t>two least frequent symbols must be siblings in the final </a:t>
            </a:r>
            <a:r>
              <a:rPr lang="en-US" sz="2400" dirty="0" smtClean="0"/>
              <a:t>tree</a:t>
            </a:r>
          </a:p>
          <a:p>
            <a:pPr marL="457200" indent="-457200">
              <a:buAutoNum type="alphaUcPeriod"/>
            </a:pPr>
            <a:r>
              <a:rPr lang="en-US" sz="2400" dirty="0" smtClean="0"/>
              <a:t>The </a:t>
            </a:r>
            <a:r>
              <a:rPr lang="en-US" sz="2400" dirty="0"/>
              <a:t>most frequent symbol must be at depth </a:t>
            </a:r>
            <a:r>
              <a:rPr lang="en-US" sz="2400" dirty="0" smtClean="0"/>
              <a:t>1</a:t>
            </a:r>
          </a:p>
          <a:p>
            <a:pPr marL="457200" indent="-457200">
              <a:buAutoNum type="alphaUcPeriod"/>
            </a:pPr>
            <a:r>
              <a:rPr lang="en-US" sz="2400" dirty="0" smtClean="0"/>
              <a:t>All </a:t>
            </a:r>
            <a:r>
              <a:rPr lang="en-US" sz="2400" dirty="0"/>
              <a:t>symbols must have distinct code </a:t>
            </a:r>
            <a:r>
              <a:rPr lang="en-US" sz="2400" dirty="0" smtClean="0"/>
              <a:t>lengths</a:t>
            </a:r>
          </a:p>
          <a:p>
            <a:pPr marL="457200" indent="-457200">
              <a:buAutoNum type="alphaUcPeriod"/>
            </a:pPr>
            <a:r>
              <a:rPr lang="en-US" sz="2400" dirty="0" smtClean="0"/>
              <a:t>The </a:t>
            </a:r>
            <a:r>
              <a:rPr lang="en-US" sz="2400" dirty="0"/>
              <a:t>tree must be a complete binary </a:t>
            </a:r>
            <a:r>
              <a:rPr lang="en-US" sz="2400" dirty="0" smtClean="0"/>
              <a:t>tree</a:t>
            </a:r>
          </a:p>
          <a:p>
            <a:pPr marL="457200" indent="-457200">
              <a:buAutoNum type="alphaUcPeriod"/>
            </a:pPr>
            <a:endParaRPr lang="en-US" sz="2400" dirty="0"/>
          </a:p>
          <a:p>
            <a:r>
              <a:rPr lang="en-US" sz="2400" dirty="0" smtClean="0"/>
              <a:t>Answer  : A </a:t>
            </a:r>
            <a:r>
              <a:rPr lang="en-US" sz="2400" dirty="0"/>
              <a:t>The two least frequent symbols must be siblings in the final tree</a:t>
            </a:r>
            <a:br>
              <a:rPr lang="en-US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37188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Multiple choice questions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4" y="1513221"/>
            <a:ext cx="10767919" cy="4840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68187" y="1371171"/>
            <a:ext cx="10394577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Given the following  </a:t>
            </a:r>
            <a:r>
              <a:rPr lang="en-US" sz="2400" dirty="0" err="1"/>
              <a:t>codewords</a:t>
            </a:r>
            <a:r>
              <a:rPr lang="en-US" sz="2400" dirty="0"/>
              <a:t> </a:t>
            </a:r>
            <a:r>
              <a:rPr lang="en-US" sz="2400" dirty="0" smtClean="0"/>
              <a:t>:</a:t>
            </a:r>
            <a:endParaRPr lang="en-US" sz="2400" dirty="0"/>
          </a:p>
          <a:p>
            <a:r>
              <a:rPr lang="en-US" sz="2400" dirty="0"/>
              <a:t>A: 11 </a:t>
            </a:r>
          </a:p>
          <a:p>
            <a:r>
              <a:rPr lang="en-US" sz="2400" dirty="0"/>
              <a:t>B: 100 </a:t>
            </a:r>
          </a:p>
          <a:p>
            <a:r>
              <a:rPr lang="en-US" sz="2400" dirty="0"/>
              <a:t>C: 00 </a:t>
            </a:r>
          </a:p>
          <a:p>
            <a:r>
              <a:rPr lang="en-US" sz="2400" dirty="0"/>
              <a:t>D: 01 </a:t>
            </a:r>
          </a:p>
          <a:p>
            <a:r>
              <a:rPr lang="en-US" sz="2400" dirty="0"/>
              <a:t>E: 101 </a:t>
            </a:r>
          </a:p>
          <a:p>
            <a:r>
              <a:rPr lang="en-US" sz="2400" dirty="0"/>
              <a:t>Which of the following statements is correct</a:t>
            </a:r>
            <a:r>
              <a:rPr lang="en-US" sz="2400" dirty="0" smtClean="0"/>
              <a:t>?</a:t>
            </a:r>
          </a:p>
          <a:p>
            <a:endParaRPr lang="en-US" sz="2400" dirty="0"/>
          </a:p>
          <a:p>
            <a:pPr marL="457200" indent="-457200">
              <a:buAutoNum type="alphaUcPeriod"/>
            </a:pPr>
            <a:r>
              <a:rPr lang="en-US" sz="2400" dirty="0" smtClean="0"/>
              <a:t>The </a:t>
            </a:r>
            <a:r>
              <a:rPr lang="en-US" sz="2400" dirty="0"/>
              <a:t>code is not prefix-free because 10 is a prefix of </a:t>
            </a:r>
            <a:r>
              <a:rPr lang="en-US" sz="2400" dirty="0" smtClean="0"/>
              <a:t>100</a:t>
            </a:r>
          </a:p>
          <a:p>
            <a:pPr marL="457200" indent="-457200">
              <a:buAutoNum type="alphaUcPeriod"/>
            </a:pPr>
            <a:r>
              <a:rPr lang="en-US" sz="2400" dirty="0" smtClean="0"/>
              <a:t>The </a:t>
            </a:r>
            <a:r>
              <a:rPr lang="en-US" sz="2400" dirty="0"/>
              <a:t>code is prefix-free and uniquely </a:t>
            </a:r>
            <a:r>
              <a:rPr lang="en-US" sz="2400" dirty="0" smtClean="0"/>
              <a:t>decodable</a:t>
            </a:r>
          </a:p>
          <a:p>
            <a:pPr marL="457200" indent="-457200">
              <a:buAutoNum type="alphaUcPeriod"/>
            </a:pPr>
            <a:r>
              <a:rPr lang="en-US" sz="2400" dirty="0" smtClean="0"/>
              <a:t>The </a:t>
            </a:r>
            <a:r>
              <a:rPr lang="en-US" sz="2400" dirty="0"/>
              <a:t>code is uniquely decodable but not </a:t>
            </a:r>
            <a:r>
              <a:rPr lang="en-US" sz="2400" dirty="0" smtClean="0"/>
              <a:t>prefix-free</a:t>
            </a:r>
          </a:p>
          <a:p>
            <a:pPr marL="457200" indent="-457200">
              <a:buAutoNum type="alphaUcPeriod"/>
            </a:pPr>
            <a:r>
              <a:rPr lang="en-US" sz="2400" dirty="0" smtClean="0"/>
              <a:t>The </a:t>
            </a:r>
            <a:r>
              <a:rPr lang="en-US" sz="2400" dirty="0"/>
              <a:t>code violates </a:t>
            </a:r>
            <a:r>
              <a:rPr lang="en-US" sz="2400" dirty="0" smtClean="0"/>
              <a:t>optimality</a:t>
            </a:r>
          </a:p>
          <a:p>
            <a:pPr marL="457200" indent="-457200">
              <a:buAutoNum type="alphaUcPeriod"/>
            </a:pPr>
            <a:endParaRPr lang="en-US" sz="2400" dirty="0"/>
          </a:p>
          <a:p>
            <a:r>
              <a:rPr lang="en-US" sz="2400" dirty="0" smtClean="0"/>
              <a:t>Answer : B. </a:t>
            </a:r>
            <a:r>
              <a:rPr lang="en-US" sz="2400" dirty="0"/>
              <a:t>The code is prefix-free and uniquely </a:t>
            </a:r>
            <a:r>
              <a:rPr lang="en-US" sz="2400" dirty="0" smtClean="0"/>
              <a:t>decodable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89384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solidFill>
                  <a:schemeClr val="accent2">
                    <a:lumMod val="75000"/>
                  </a:schemeClr>
                </a:solidFill>
              </a:rPr>
              <a:t> Multiple choice questions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9008617" cy="15953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Design and Analysis of Algorithms</a:t>
            </a:r>
          </a:p>
        </p:txBody>
      </p:sp>
      <p:sp>
        <p:nvSpPr>
          <p:cNvPr id="2050" name="AutoShape 2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Difference between Linked List and Array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410" name="AutoShape 2" descr="https://media.geeksforgeeks.org/wp-content/cdn-uploads/gq/2013/03/Linkedlist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460374" y="1513221"/>
            <a:ext cx="10767919" cy="48402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760" y="230188"/>
            <a:ext cx="1542422" cy="79254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68187" y="1640111"/>
            <a:ext cx="10394577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Suppose the frequency of symbol B increases from 0.10 to 0.25, while others remain the same </a:t>
            </a:r>
            <a:r>
              <a:rPr lang="en-US" sz="2400" dirty="0" smtClean="0"/>
              <a:t>. </a:t>
            </a:r>
            <a:r>
              <a:rPr lang="en-US" sz="2400" dirty="0"/>
              <a:t>What is the most likely effect on the Huffman code</a:t>
            </a:r>
            <a:r>
              <a:rPr lang="en-US" sz="2400" dirty="0" smtClean="0"/>
              <a:t>?</a:t>
            </a:r>
          </a:p>
          <a:p>
            <a:endParaRPr lang="en-US" sz="2400" dirty="0"/>
          </a:p>
          <a:p>
            <a:pPr marL="457200" indent="-457200">
              <a:buAutoNum type="alphaUcPeriod"/>
            </a:pPr>
            <a:r>
              <a:rPr lang="en-US" sz="2400" dirty="0" smtClean="0"/>
              <a:t>Code </a:t>
            </a:r>
            <a:r>
              <a:rPr lang="en-US" sz="2400" dirty="0"/>
              <a:t>length of B </a:t>
            </a:r>
            <a:r>
              <a:rPr lang="en-US" sz="2400" dirty="0" smtClean="0"/>
              <a:t>increases</a:t>
            </a:r>
          </a:p>
          <a:p>
            <a:pPr marL="457200" indent="-457200">
              <a:buAutoNum type="alphaUcPeriod"/>
            </a:pPr>
            <a:r>
              <a:rPr lang="en-US" sz="2400" dirty="0" smtClean="0"/>
              <a:t>Code </a:t>
            </a:r>
            <a:r>
              <a:rPr lang="en-US" sz="2400" dirty="0"/>
              <a:t>length of B </a:t>
            </a:r>
            <a:r>
              <a:rPr lang="en-US" sz="2400" dirty="0" smtClean="0"/>
              <a:t>decreases</a:t>
            </a:r>
          </a:p>
          <a:p>
            <a:pPr marL="457200" indent="-457200">
              <a:buAutoNum type="alphaUcPeriod"/>
            </a:pPr>
            <a:r>
              <a:rPr lang="en-US" sz="2400" dirty="0" smtClean="0"/>
              <a:t>Code </a:t>
            </a:r>
            <a:r>
              <a:rPr lang="en-US" sz="2400" dirty="0"/>
              <a:t>length of all symbols remains </a:t>
            </a:r>
            <a:r>
              <a:rPr lang="en-US" sz="2400" dirty="0" smtClean="0"/>
              <a:t>unchanged</a:t>
            </a:r>
          </a:p>
          <a:p>
            <a:pPr marL="457200" indent="-457200">
              <a:buAutoNum type="alphaUcPeriod"/>
            </a:pPr>
            <a:r>
              <a:rPr lang="en-US" sz="2400" dirty="0" smtClean="0"/>
              <a:t>Tree </a:t>
            </a:r>
            <a:r>
              <a:rPr lang="en-US" sz="2400" dirty="0"/>
              <a:t>structure remains </a:t>
            </a:r>
            <a:r>
              <a:rPr lang="en-US" sz="2400" dirty="0" smtClean="0"/>
              <a:t>identical</a:t>
            </a:r>
          </a:p>
          <a:p>
            <a:endParaRPr lang="en-US" sz="2400" dirty="0" smtClean="0"/>
          </a:p>
          <a:p>
            <a:r>
              <a:rPr lang="en-US" sz="2400" dirty="0" smtClean="0"/>
              <a:t>Answer : B. Code </a:t>
            </a:r>
            <a:r>
              <a:rPr lang="en-US" sz="2400" dirty="0"/>
              <a:t>length of B decreases</a:t>
            </a:r>
          </a:p>
        </p:txBody>
      </p:sp>
    </p:spTree>
    <p:extLst>
      <p:ext uri="{BB962C8B-B14F-4D97-AF65-F5344CB8AC3E}">
        <p14:creationId xmlns:p14="http://schemas.microsoft.com/office/powerpoint/2010/main" val="59965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Google Shape;1862;p148"/>
          <p:cNvSpPr>
            <a:spLocks noChangeArrowheads="1"/>
          </p:cNvSpPr>
          <p:nvPr/>
        </p:nvSpPr>
        <p:spPr bwMode="auto">
          <a:xfrm>
            <a:off x="5667375" y="2566988"/>
            <a:ext cx="4603750" cy="665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sz="3600" b="1" dirty="0">
                <a:solidFill>
                  <a:srgbClr val="C55A1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THANK </a:t>
            </a:r>
            <a:r>
              <a:rPr lang="en-US" sz="3600" b="1" dirty="0" smtClean="0">
                <a:solidFill>
                  <a:srgbClr val="C55A1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YOU</a:t>
            </a:r>
          </a:p>
          <a:p>
            <a:pPr eaLnBrk="1" hangingPunct="1"/>
            <a:endParaRPr lang="en-US" sz="3600" b="1" dirty="0" smtClean="0">
              <a:solidFill>
                <a:srgbClr val="C55A11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  <a:p>
            <a:pPr eaLnBrk="1" hangingPunct="1"/>
            <a:r>
              <a:rPr lang="en-US" sz="24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Dinesh Singh</a:t>
            </a:r>
          </a:p>
          <a:p>
            <a:pPr eaLnBrk="1" hangingPunct="1"/>
            <a:r>
              <a:rPr lang="en-US" sz="24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Department of Computer Science &amp; Engineering</a:t>
            </a:r>
            <a:endParaRPr lang="en-US" sz="24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1268" name="Google Shape;1864;p148"/>
          <p:cNvSpPr>
            <a:spLocks noChangeArrowheads="1"/>
          </p:cNvSpPr>
          <p:nvPr/>
        </p:nvSpPr>
        <p:spPr bwMode="auto">
          <a:xfrm>
            <a:off x="5680075" y="3127375"/>
            <a:ext cx="5256213" cy="60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en-US" sz="2400" b="1" dirty="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pic>
        <p:nvPicPr>
          <p:cNvPr id="5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80739" y="2334597"/>
            <a:ext cx="3150920" cy="171296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="" xmlns:a16="http://schemas.microsoft.com/office/drawing/2014/main" id="{1EEB87D2-BD33-43D4-B135-6F0E91C4917A}"/>
              </a:ext>
            </a:extLst>
          </p:cNvPr>
          <p:cNvCxnSpPr>
            <a:cxnSpLocks/>
          </p:cNvCxnSpPr>
          <p:nvPr/>
        </p:nvCxnSpPr>
        <p:spPr>
          <a:xfrm>
            <a:off x="4994108" y="3339537"/>
            <a:ext cx="4583156" cy="27277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002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2027</TotalTime>
  <Words>831</Words>
  <Application>Microsoft Office PowerPoint</Application>
  <PresentationFormat>Widescreen</PresentationFormat>
  <Paragraphs>121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Vandana M Ladwani</dc:creator>
  <cp:lastModifiedBy>Microsoft account</cp:lastModifiedBy>
  <cp:revision>233</cp:revision>
  <dcterms:created xsi:type="dcterms:W3CDTF">2021-01-07T04:42:57Z</dcterms:created>
  <dcterms:modified xsi:type="dcterms:W3CDTF">2026-03-28T23:51:36Z</dcterms:modified>
</cp:coreProperties>
</file>