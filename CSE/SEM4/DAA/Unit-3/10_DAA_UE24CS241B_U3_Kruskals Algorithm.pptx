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258" r:id="rId3"/>
    <p:sldId id="259" r:id="rId4"/>
    <p:sldId id="287" r:id="rId5"/>
    <p:sldId id="288" r:id="rId6"/>
    <p:sldId id="279" r:id="rId7"/>
    <p:sldId id="280" r:id="rId8"/>
    <p:sldId id="281" r:id="rId9"/>
    <p:sldId id="282" r:id="rId10"/>
    <p:sldId id="278" r:id="rId11"/>
    <p:sldId id="289" r:id="rId12"/>
    <p:sldId id="291" r:id="rId13"/>
    <p:sldId id="313" r:id="rId14"/>
    <p:sldId id="292" r:id="rId15"/>
    <p:sldId id="295" r:id="rId16"/>
    <p:sldId id="296" r:id="rId17"/>
    <p:sldId id="307" r:id="rId18"/>
    <p:sldId id="297" r:id="rId19"/>
    <p:sldId id="298" r:id="rId20"/>
    <p:sldId id="299" r:id="rId21"/>
    <p:sldId id="300" r:id="rId22"/>
    <p:sldId id="302" r:id="rId23"/>
    <p:sldId id="303" r:id="rId24"/>
    <p:sldId id="304" r:id="rId25"/>
    <p:sldId id="306" r:id="rId26"/>
    <p:sldId id="309" r:id="rId27"/>
    <p:sldId id="310" r:id="rId28"/>
    <p:sldId id="311" r:id="rId29"/>
    <p:sldId id="312" r:id="rId30"/>
    <p:sldId id="314" r:id="rId31"/>
    <p:sldId id="30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8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635F3C-E135-426E-9386-DAFFC7A8379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BDB39-AEA8-4726-BAC6-E5A9E1E90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343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1859;g16597ac8331_4_0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400"/>
            </a:pPr>
            <a:endParaRPr lang="en-US" sz="1200" smtClean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291" name="Google Shape;1860;g16597ac8331_4_0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82483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525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498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302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24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481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855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536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06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395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065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878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06EAA-ACE3-4BD7-819F-48D5C743B1B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356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94786" y="3371567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</a:rPr>
              <a:t>Design and Analysis of Algorithms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822259" y="4439319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/>
              <a:t>Dinesh Singh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</a:t>
            </a:r>
            <a:r>
              <a:rPr lang="en-US" sz="2400" dirty="0" smtClean="0"/>
              <a:t>Computer Science &amp; </a:t>
            </a:r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=""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=""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=""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017898"/>
            <a:ext cx="6449301" cy="9454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=""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=""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692" y="3371567"/>
            <a:ext cx="2454107" cy="126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26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715770"/>
            <a:ext cx="87279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cap="all" dirty="0" smtClean="0"/>
              <a:t>DESIGN AND ANALYSIS OF ALGORITHMS</a:t>
            </a:r>
            <a:endParaRPr lang="en-US" sz="3600" b="1" cap="all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309611" y="2900080"/>
            <a:ext cx="96277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</a:rPr>
              <a:t>Greedy Technique-</a:t>
            </a:r>
            <a:r>
              <a:rPr lang="en-US" sz="3600" b="1" dirty="0" err="1" smtClean="0">
                <a:solidFill>
                  <a:schemeClr val="accent1">
                    <a:lumMod val="75000"/>
                  </a:schemeClr>
                </a:solidFill>
              </a:rPr>
              <a:t>Kruskals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</a:rPr>
              <a:t> Algorithm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489699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/>
              <a:t>Dinesh Singh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887304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Department of </a:t>
            </a:r>
            <a:r>
              <a:rPr lang="en-US" sz="2000" dirty="0" smtClean="0"/>
              <a:t>Computer Science &amp; </a:t>
            </a:r>
            <a:r>
              <a:rPr lang="en-US" sz="2000" dirty="0"/>
              <a:t>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=""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=""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=""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1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 err="1"/>
              <a:t>Kruskal’s</a:t>
            </a:r>
            <a:r>
              <a:rPr lang="en-IN" b="1" dirty="0"/>
              <a:t> Algorithm </a:t>
            </a:r>
            <a:r>
              <a:rPr lang="en-IN" b="1" dirty="0" smtClean="0"/>
              <a:t>Overview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400" dirty="0"/>
              <a:t>A greedy algorithm to construct a Minimum Spanning Tree (MST) </a:t>
            </a:r>
          </a:p>
          <a:p>
            <a:pPr marL="0" indent="0">
              <a:buNone/>
            </a:pPr>
            <a:r>
              <a:rPr lang="en-IN" sz="2400" dirty="0"/>
              <a:t>Unlike Prim’s algorithm: </a:t>
            </a:r>
          </a:p>
          <a:p>
            <a:pPr marL="457200" lvl="1" indent="0">
              <a:buNone/>
            </a:pPr>
            <a:r>
              <a:rPr lang="en-IN" dirty="0"/>
              <a:t>Does not grow from a single vertex </a:t>
            </a:r>
          </a:p>
          <a:p>
            <a:pPr marL="0" indent="0">
              <a:buNone/>
            </a:pPr>
            <a:r>
              <a:rPr lang="en-IN" sz="2400" dirty="0"/>
              <a:t>Works by: </a:t>
            </a:r>
          </a:p>
          <a:p>
            <a:pPr marL="457200" lvl="1" indent="0">
              <a:buNone/>
            </a:pPr>
            <a:r>
              <a:rPr lang="en-IN" dirty="0"/>
              <a:t>Selecting edges in increasing order of weight </a:t>
            </a:r>
          </a:p>
          <a:p>
            <a:pPr marL="0" indent="0">
              <a:buNone/>
            </a:pPr>
            <a:r>
              <a:rPr lang="en-IN" sz="2400" dirty="0"/>
              <a:t>Named after Joseph </a:t>
            </a:r>
            <a:r>
              <a:rPr lang="en-IN" sz="2400" dirty="0" err="1"/>
              <a:t>Kruskal</a:t>
            </a:r>
            <a:r>
              <a:rPr lang="en-IN" sz="2400" dirty="0"/>
              <a:t> (1956) </a:t>
            </a:r>
            <a:endParaRPr lang="en-IN" sz="2400" dirty="0" smtClean="0"/>
          </a:p>
          <a:p>
            <a:pPr marL="0" indent="0">
              <a:buNone/>
            </a:pPr>
            <a:r>
              <a:rPr lang="en-US" sz="2400" dirty="0"/>
              <a:t>Initially: </a:t>
            </a:r>
          </a:p>
          <a:p>
            <a:pPr marL="457200" lvl="1" indent="0">
              <a:buNone/>
            </a:pPr>
            <a:r>
              <a:rPr lang="en-US" dirty="0"/>
              <a:t>Each vertex is an independent component </a:t>
            </a:r>
          </a:p>
          <a:p>
            <a:pPr marL="0" indent="0">
              <a:buNone/>
            </a:pPr>
            <a:r>
              <a:rPr lang="en-US" sz="2400" dirty="0"/>
              <a:t>Gradually: </a:t>
            </a:r>
          </a:p>
          <a:p>
            <a:pPr marL="457200" lvl="1" indent="0">
              <a:buNone/>
            </a:pPr>
            <a:r>
              <a:rPr lang="en-US" dirty="0"/>
              <a:t>Add edges to merge components 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US" sz="2400" dirty="0"/>
          </a:p>
          <a:p>
            <a:pPr lvl="0"/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17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/>
              <a:t>Kruskal’s</a:t>
            </a:r>
            <a:r>
              <a:rPr lang="en-US" b="1" dirty="0"/>
              <a:t> Algorithm Procedure</a:t>
            </a:r>
            <a:endParaRPr lang="en-US" dirty="0"/>
          </a:p>
          <a:p>
            <a:r>
              <a:rPr lang="en-US" sz="2200" dirty="0"/>
              <a:t>Sort all edges in non-decreasing order of weights </a:t>
            </a:r>
          </a:p>
          <a:p>
            <a:r>
              <a:rPr lang="en-US" sz="2200" dirty="0"/>
              <a:t>Initialize: </a:t>
            </a:r>
          </a:p>
          <a:p>
            <a:pPr lvl="1"/>
            <a:r>
              <a:rPr lang="en-US" sz="2200" dirty="0"/>
              <a:t>MST = ∅ (empty set) </a:t>
            </a:r>
          </a:p>
          <a:p>
            <a:r>
              <a:rPr lang="en-US" sz="2200" dirty="0"/>
              <a:t>For each edge (u, v) in sorted order: </a:t>
            </a:r>
          </a:p>
          <a:p>
            <a:pPr lvl="1"/>
            <a:r>
              <a:rPr lang="en-US" sz="2200" dirty="0"/>
              <a:t>If adding (u, v) does not form a cycle: </a:t>
            </a:r>
          </a:p>
          <a:p>
            <a:pPr lvl="2"/>
            <a:r>
              <a:rPr lang="en-US" sz="2200" dirty="0"/>
              <a:t>Include it in MST </a:t>
            </a:r>
          </a:p>
          <a:p>
            <a:pPr lvl="1"/>
            <a:r>
              <a:rPr lang="en-US" sz="2200" dirty="0"/>
              <a:t>Else: </a:t>
            </a:r>
          </a:p>
          <a:p>
            <a:pPr lvl="2"/>
            <a:r>
              <a:rPr lang="en-US" sz="2200" dirty="0"/>
              <a:t>Discard the edge </a:t>
            </a:r>
          </a:p>
          <a:p>
            <a:r>
              <a:rPr lang="en-US" sz="2200" dirty="0"/>
              <a:t>Repeat until: </a:t>
            </a:r>
          </a:p>
          <a:p>
            <a:pPr lvl="1"/>
            <a:r>
              <a:rPr lang="en-US" sz="2200" dirty="0"/>
              <a:t>MST contains (V − 1) edges</a:t>
            </a:r>
          </a:p>
          <a:p>
            <a:pPr marL="0" indent="0">
              <a:buNone/>
            </a:pPr>
            <a:endParaRPr lang="en-US" sz="2400" dirty="0"/>
          </a:p>
          <a:p>
            <a:pPr lvl="0"/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74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How to Detect Cycles?</a:t>
            </a:r>
            <a:endParaRPr lang="en-US" dirty="0"/>
          </a:p>
          <a:p>
            <a:r>
              <a:rPr lang="en-US" dirty="0"/>
              <a:t>Use Disjoint Set (Union-Find) data structure: </a:t>
            </a:r>
          </a:p>
          <a:p>
            <a:pPr lvl="1"/>
            <a:r>
              <a:rPr lang="en-US" dirty="0"/>
              <a:t>Find: Check if two vertices belong to the same set </a:t>
            </a:r>
          </a:p>
          <a:p>
            <a:pPr lvl="1"/>
            <a:r>
              <a:rPr lang="en-US" dirty="0"/>
              <a:t>Union: Merge two sets </a:t>
            </a:r>
          </a:p>
          <a:p>
            <a:r>
              <a:rPr lang="en-US" dirty="0"/>
              <a:t>Ensures: </a:t>
            </a:r>
          </a:p>
          <a:p>
            <a:pPr lvl="1"/>
            <a:r>
              <a:rPr lang="en-US" dirty="0"/>
              <a:t>No cycles are formed </a:t>
            </a:r>
          </a:p>
          <a:p>
            <a:pPr lvl="1"/>
            <a:r>
              <a:rPr lang="en-US" dirty="0"/>
              <a:t>Efficient edge selection</a:t>
            </a:r>
          </a:p>
          <a:p>
            <a:pPr marL="0" indent="0">
              <a:buNone/>
            </a:pPr>
            <a:endParaRPr lang="en-US" sz="2400" dirty="0"/>
          </a:p>
          <a:p>
            <a:pPr lvl="0"/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861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543" y="1479599"/>
            <a:ext cx="5293193" cy="21469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519" y="3773691"/>
            <a:ext cx="9271239" cy="9423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641" y="4716052"/>
            <a:ext cx="7090938" cy="19766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1436" y="1415538"/>
            <a:ext cx="26731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/>
              <a:t>Example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8230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19" y="2119710"/>
            <a:ext cx="9271239" cy="9423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074" y="3063189"/>
            <a:ext cx="9622128" cy="361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5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19" y="1608724"/>
            <a:ext cx="9271239" cy="94236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071" y="2870467"/>
            <a:ext cx="8794376" cy="378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19" y="1608724"/>
            <a:ext cx="9271239" cy="94236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071" y="2870467"/>
            <a:ext cx="8794376" cy="378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5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17749"/>
            <a:ext cx="9141280" cy="4387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280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/>
              <a:t>Disjoint Sets &amp; Union-Find </a:t>
            </a:r>
            <a:r>
              <a:rPr lang="en-IN" b="1" dirty="0" smtClean="0"/>
              <a:t>Algorithms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Disjoint Set Operations</a:t>
            </a:r>
          </a:p>
          <a:p>
            <a:r>
              <a:rPr lang="en-US" dirty="0" err="1"/>
              <a:t>makeSet</a:t>
            </a:r>
            <a:r>
              <a:rPr lang="en-US" dirty="0"/>
              <a:t>(x) </a:t>
            </a:r>
          </a:p>
          <a:p>
            <a:pPr lvl="1"/>
            <a:r>
              <a:rPr lang="en-US" dirty="0"/>
              <a:t>Creates a new set containing element </a:t>
            </a:r>
            <a:r>
              <a:rPr lang="en-US" i="1" dirty="0"/>
              <a:t>x</a:t>
            </a:r>
            <a:r>
              <a:rPr lang="en-US" dirty="0"/>
              <a:t> </a:t>
            </a:r>
          </a:p>
          <a:p>
            <a:r>
              <a:rPr lang="en-US" dirty="0"/>
              <a:t>find(x) </a:t>
            </a:r>
          </a:p>
          <a:p>
            <a:pPr lvl="1"/>
            <a:r>
              <a:rPr lang="en-US" dirty="0"/>
              <a:t>Returns the representative of the set containing </a:t>
            </a:r>
            <a:r>
              <a:rPr lang="en-US" i="1" dirty="0"/>
              <a:t>x</a:t>
            </a:r>
            <a:r>
              <a:rPr lang="en-US" dirty="0"/>
              <a:t> </a:t>
            </a:r>
          </a:p>
          <a:p>
            <a:r>
              <a:rPr lang="en-US" dirty="0"/>
              <a:t>union(x, y) </a:t>
            </a:r>
          </a:p>
          <a:p>
            <a:pPr lvl="1"/>
            <a:r>
              <a:rPr lang="en-US" dirty="0"/>
              <a:t>Merges two sets containing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pPr lvl="0"/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568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E</a:t>
            </a:r>
            <a:r>
              <a:rPr lang="en-US" sz="2400" b="1" dirty="0" smtClean="0"/>
              <a:t>xample </a:t>
            </a:r>
          </a:p>
          <a:p>
            <a:r>
              <a:rPr lang="en-US" sz="2400" dirty="0" smtClean="0"/>
              <a:t>Let:</a:t>
            </a:r>
            <a:br>
              <a:rPr lang="en-US" sz="2400" dirty="0" smtClean="0"/>
            </a:br>
            <a:r>
              <a:rPr lang="en-US" sz="2400" dirty="0" smtClean="0"/>
              <a:t>S = {1, 2, 3, 4, 5, 6}</a:t>
            </a:r>
          </a:p>
          <a:p>
            <a:r>
              <a:rPr lang="en-US" sz="2400" dirty="0" smtClean="0"/>
              <a:t>After applying </a:t>
            </a:r>
            <a:r>
              <a:rPr lang="en-US" sz="2400" b="1" dirty="0" err="1" smtClean="0"/>
              <a:t>makeSet</a:t>
            </a:r>
            <a:r>
              <a:rPr lang="en-US" sz="2400" b="1" dirty="0" smtClean="0"/>
              <a:t>(x)</a:t>
            </a:r>
            <a:r>
              <a:rPr lang="en-US" sz="2400" dirty="0" smtClean="0"/>
              <a:t>:</a:t>
            </a:r>
          </a:p>
          <a:p>
            <a:r>
              <a:rPr lang="en-US" sz="2400" dirty="0" smtClean="0"/>
              <a:t>{1}, {2}, {3}, {4}, {5}, {6} </a:t>
            </a:r>
          </a:p>
          <a:p>
            <a:r>
              <a:rPr lang="en-US" sz="2400" dirty="0" smtClean="0"/>
              <a:t>Each element is its own representative.</a:t>
            </a:r>
          </a:p>
          <a:p>
            <a:pPr marL="0" indent="0">
              <a:buNone/>
            </a:pPr>
            <a:r>
              <a:rPr lang="en-IN" sz="2400" b="1" dirty="0"/>
              <a:t>Example of Union Operations</a:t>
            </a:r>
          </a:p>
          <a:p>
            <a:r>
              <a:rPr lang="en-IN" sz="2400" b="1" dirty="0"/>
              <a:t>Step-by-Step Execution</a:t>
            </a:r>
            <a:endParaRPr lang="en-IN" sz="2400" dirty="0"/>
          </a:p>
          <a:p>
            <a:r>
              <a:rPr lang="en-IN" sz="2400" dirty="0"/>
              <a:t>union(1,4) → {1,4}, {2}, {3}, {5}, {6} </a:t>
            </a:r>
          </a:p>
          <a:p>
            <a:r>
              <a:rPr lang="en-IN" sz="2400" dirty="0"/>
              <a:t>union(5,2) → {1,4}, {5,2}, {3}, {6} </a:t>
            </a:r>
          </a:p>
          <a:p>
            <a:r>
              <a:rPr lang="en-IN" sz="2400" dirty="0"/>
              <a:t>union(4,5) → {1,4,5,2}, {3}, {6} </a:t>
            </a:r>
          </a:p>
          <a:p>
            <a:r>
              <a:rPr lang="en-IN" sz="2400" dirty="0"/>
              <a:t>union(3,6) → {1,4,5,2}, {3,6} </a:t>
            </a:r>
          </a:p>
          <a:p>
            <a:pPr marL="0" indent="0">
              <a:buNone/>
            </a:pPr>
            <a:endParaRPr lang="en-US" sz="2400" dirty="0"/>
          </a:p>
          <a:p>
            <a:pPr lvl="0"/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16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Union-Find Implementations</a:t>
            </a:r>
            <a:endParaRPr lang="en-US" dirty="0"/>
          </a:p>
          <a:p>
            <a:r>
              <a:rPr lang="en-US" dirty="0"/>
              <a:t>Quick-Find </a:t>
            </a:r>
          </a:p>
          <a:p>
            <a:pPr lvl="1"/>
            <a:r>
              <a:rPr lang="en-US" dirty="0"/>
              <a:t>Fast find </a:t>
            </a:r>
          </a:p>
          <a:p>
            <a:pPr lvl="1"/>
            <a:r>
              <a:rPr lang="en-US" dirty="0"/>
              <a:t>Slow union </a:t>
            </a:r>
          </a:p>
          <a:p>
            <a:r>
              <a:rPr lang="en-US" dirty="0"/>
              <a:t>Quick-Union </a:t>
            </a:r>
          </a:p>
          <a:p>
            <a:pPr lvl="1"/>
            <a:r>
              <a:rPr lang="en-US" dirty="0"/>
              <a:t>Fast union </a:t>
            </a:r>
          </a:p>
          <a:p>
            <a:pPr lvl="1"/>
            <a:r>
              <a:rPr lang="en-US" dirty="0"/>
              <a:t>Slower find</a:t>
            </a:r>
          </a:p>
          <a:p>
            <a:pPr marL="0" indent="0">
              <a:buNone/>
            </a:pPr>
            <a:endParaRPr lang="en-US" sz="2400" dirty="0"/>
          </a:p>
          <a:p>
            <a:pPr lvl="0"/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372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Quick-Find Representation</a:t>
            </a:r>
          </a:p>
          <a:p>
            <a:r>
              <a:rPr lang="en-US" sz="2900" dirty="0"/>
              <a:t>Array-Based Structure</a:t>
            </a:r>
          </a:p>
          <a:p>
            <a:r>
              <a:rPr lang="en-US" sz="2900" dirty="0"/>
              <a:t>Uses an array indexed by elements of set S </a:t>
            </a:r>
          </a:p>
          <a:p>
            <a:r>
              <a:rPr lang="en-US" sz="2900" dirty="0"/>
              <a:t>Each entry stores: </a:t>
            </a:r>
          </a:p>
          <a:p>
            <a:pPr lvl="1"/>
            <a:r>
              <a:rPr lang="en-US" sz="2900" dirty="0"/>
              <a:t>The representative of the subset </a:t>
            </a:r>
          </a:p>
          <a:p>
            <a:r>
              <a:rPr lang="en-US" sz="2900" dirty="0"/>
              <a:t>Interpretation: </a:t>
            </a:r>
          </a:p>
          <a:p>
            <a:pPr lvl="1"/>
            <a:r>
              <a:rPr lang="en-US" sz="2900" dirty="0"/>
              <a:t>Same value ⇒ same subset</a:t>
            </a:r>
          </a:p>
          <a:p>
            <a:r>
              <a:rPr lang="en-US" sz="2900" dirty="0" smtClean="0"/>
              <a:t>Each </a:t>
            </a:r>
            <a:r>
              <a:rPr lang="en-US" sz="2900" dirty="0"/>
              <a:t>subset is </a:t>
            </a:r>
            <a:r>
              <a:rPr lang="en-US" sz="2900" dirty="0" smtClean="0"/>
              <a:t>implemented </a:t>
            </a:r>
            <a:r>
              <a:rPr lang="en-US" sz="2900" dirty="0"/>
              <a:t>as a linked list </a:t>
            </a:r>
          </a:p>
          <a:p>
            <a:r>
              <a:rPr lang="en-US" sz="2900" dirty="0"/>
              <a:t>Each list maintains: </a:t>
            </a:r>
          </a:p>
          <a:p>
            <a:pPr lvl="1"/>
            <a:r>
              <a:rPr lang="en-US" sz="2900" dirty="0"/>
              <a:t>Pointer to first element </a:t>
            </a:r>
            <a:r>
              <a:rPr lang="en-US" sz="2900" dirty="0" smtClean="0"/>
              <a:t>, Pointer </a:t>
            </a:r>
            <a:r>
              <a:rPr lang="en-US" sz="2900" dirty="0"/>
              <a:t>to last element </a:t>
            </a:r>
            <a:r>
              <a:rPr lang="en-US" sz="2900" dirty="0" smtClean="0"/>
              <a:t>, Size </a:t>
            </a:r>
            <a:r>
              <a:rPr lang="en-US" sz="2900" dirty="0"/>
              <a:t>of the list </a:t>
            </a:r>
          </a:p>
          <a:p>
            <a:pPr marL="0" indent="0">
              <a:buNone/>
            </a:pPr>
            <a:endParaRPr lang="en-US" sz="2400" dirty="0"/>
          </a:p>
          <a:p>
            <a:pPr lvl="0"/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321" y="1343576"/>
            <a:ext cx="2953096" cy="228990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48" y="3933364"/>
            <a:ext cx="5875374" cy="8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35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/>
              <a:t>makeSet</a:t>
            </a:r>
            <a:r>
              <a:rPr lang="en-US" b="1" dirty="0"/>
              <a:t>(x) Operation</a:t>
            </a:r>
          </a:p>
          <a:p>
            <a:r>
              <a:rPr lang="en-US" dirty="0"/>
              <a:t>Initialization</a:t>
            </a:r>
          </a:p>
          <a:p>
            <a:r>
              <a:rPr lang="en-US" dirty="0"/>
              <a:t>Assign: </a:t>
            </a:r>
          </a:p>
          <a:p>
            <a:pPr lvl="1"/>
            <a:r>
              <a:rPr lang="en-US" dirty="0"/>
              <a:t>Representative of </a:t>
            </a:r>
            <a:r>
              <a:rPr lang="en-US" i="1" dirty="0"/>
              <a:t>x</a:t>
            </a:r>
            <a:r>
              <a:rPr lang="en-US" dirty="0"/>
              <a:t> = </a:t>
            </a:r>
            <a:r>
              <a:rPr lang="en-US" i="1" dirty="0"/>
              <a:t>x</a:t>
            </a:r>
            <a:r>
              <a:rPr lang="en-US" dirty="0"/>
              <a:t> </a:t>
            </a:r>
          </a:p>
          <a:p>
            <a:r>
              <a:rPr lang="en-US" dirty="0"/>
              <a:t>Create: </a:t>
            </a:r>
          </a:p>
          <a:p>
            <a:pPr lvl="1"/>
            <a:r>
              <a:rPr lang="en-US" dirty="0"/>
              <a:t>A linked list with a single node </a:t>
            </a:r>
          </a:p>
          <a:p>
            <a:r>
              <a:rPr lang="en-US" dirty="0"/>
              <a:t>Time Complexity:</a:t>
            </a:r>
          </a:p>
          <a:p>
            <a:r>
              <a:rPr lang="en-US" dirty="0"/>
              <a:t>Θ(1) per operation </a:t>
            </a:r>
          </a:p>
          <a:p>
            <a:r>
              <a:rPr lang="en-US" dirty="0"/>
              <a:t>For n elements: Θ(n)</a:t>
            </a:r>
          </a:p>
          <a:p>
            <a:pPr marL="0" indent="0">
              <a:buNone/>
            </a:pPr>
            <a:endParaRPr lang="en-US" sz="2400" dirty="0"/>
          </a:p>
          <a:p>
            <a:pPr lvl="0"/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076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find(x) Operation</a:t>
            </a:r>
          </a:p>
          <a:p>
            <a:r>
              <a:rPr lang="en-US" sz="2600" dirty="0"/>
              <a:t>Finding Representative</a:t>
            </a:r>
          </a:p>
          <a:p>
            <a:r>
              <a:rPr lang="en-US" sz="2600" dirty="0"/>
              <a:t>Simply: </a:t>
            </a:r>
          </a:p>
          <a:p>
            <a:pPr lvl="1"/>
            <a:r>
              <a:rPr lang="en-US" sz="2600" dirty="0"/>
              <a:t>Access array entry for </a:t>
            </a:r>
            <a:r>
              <a:rPr lang="en-US" sz="2600" i="1" dirty="0"/>
              <a:t>x</a:t>
            </a:r>
            <a:r>
              <a:rPr lang="en-US" sz="2600" dirty="0"/>
              <a:t> </a:t>
            </a:r>
          </a:p>
          <a:p>
            <a:r>
              <a:rPr lang="en-US" sz="2600" dirty="0"/>
              <a:t>Time Complexity:</a:t>
            </a:r>
          </a:p>
          <a:p>
            <a:r>
              <a:rPr lang="en-US" sz="2600" dirty="0"/>
              <a:t>Θ(1) (very efficient)</a:t>
            </a:r>
          </a:p>
          <a:p>
            <a:pPr marL="0" indent="0">
              <a:buNone/>
            </a:pPr>
            <a:r>
              <a:rPr lang="en-US" sz="2600" b="1" dirty="0"/>
              <a:t>union(x, y) Operation</a:t>
            </a:r>
          </a:p>
          <a:p>
            <a:r>
              <a:rPr lang="en-US" sz="2600" dirty="0"/>
              <a:t>Basic Approach</a:t>
            </a:r>
          </a:p>
          <a:p>
            <a:r>
              <a:rPr lang="en-US" sz="2600" dirty="0"/>
              <a:t>Append: </a:t>
            </a:r>
          </a:p>
          <a:p>
            <a:pPr lvl="1"/>
            <a:r>
              <a:rPr lang="en-US" sz="2600" dirty="0"/>
              <a:t>List of </a:t>
            </a:r>
            <a:r>
              <a:rPr lang="en-US" sz="2600" i="1" dirty="0"/>
              <a:t>y</a:t>
            </a:r>
            <a:r>
              <a:rPr lang="en-US" sz="2600" dirty="0"/>
              <a:t> → end of list of </a:t>
            </a:r>
            <a:r>
              <a:rPr lang="en-US" sz="2600" i="1" dirty="0"/>
              <a:t>x</a:t>
            </a:r>
            <a:r>
              <a:rPr lang="en-US" sz="2600" dirty="0"/>
              <a:t> </a:t>
            </a:r>
          </a:p>
          <a:p>
            <a:r>
              <a:rPr lang="en-US" sz="2600" dirty="0"/>
              <a:t>Update: </a:t>
            </a:r>
          </a:p>
          <a:p>
            <a:pPr lvl="1"/>
            <a:r>
              <a:rPr lang="en-US" sz="2600" dirty="0"/>
              <a:t>Representative for all elements in </a:t>
            </a:r>
            <a:r>
              <a:rPr lang="en-US" sz="2600" i="1" dirty="0"/>
              <a:t>y</a:t>
            </a:r>
            <a:r>
              <a:rPr lang="en-US" sz="2600" dirty="0"/>
              <a:t>’s list </a:t>
            </a:r>
          </a:p>
          <a:p>
            <a:r>
              <a:rPr lang="en-US" sz="2600" dirty="0"/>
              <a:t>Delete: </a:t>
            </a:r>
          </a:p>
          <a:p>
            <a:pPr lvl="1"/>
            <a:r>
              <a:rPr lang="en-US" sz="2600" dirty="0"/>
              <a:t>Old list of </a:t>
            </a:r>
            <a:r>
              <a:rPr lang="en-US" sz="2600" i="1" dirty="0"/>
              <a:t>y</a:t>
            </a:r>
            <a:endParaRPr lang="en-US" sz="2600" dirty="0"/>
          </a:p>
          <a:p>
            <a:pPr marL="0" indent="0">
              <a:buNone/>
            </a:pPr>
            <a:endParaRPr lang="en-US" sz="2400" dirty="0"/>
          </a:p>
          <a:p>
            <a:pPr lvl="0"/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97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pPr lvl="0"/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76" y="1618756"/>
            <a:ext cx="5624891" cy="52123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818092" y="1829728"/>
            <a:ext cx="61310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Linked-list representation of subsets {1, 4, 5, 2} and {3, 6} obtained by </a:t>
            </a:r>
            <a:r>
              <a:rPr lang="en-US" dirty="0" smtClean="0"/>
              <a:t>quick find </a:t>
            </a:r>
            <a:r>
              <a:rPr lang="en-US" dirty="0"/>
              <a:t>after performing union(1, 4), union(5, 2), union(4, 5), and union(3, 6).</a:t>
            </a:r>
          </a:p>
          <a:p>
            <a:r>
              <a:rPr lang="en-US" dirty="0"/>
              <a:t>The lists of size 0 are considered deleted from the collection.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5427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/>
              <a:t>Improved Strategy  - Union by size</a:t>
            </a:r>
          </a:p>
          <a:p>
            <a:r>
              <a:rPr lang="en-US" dirty="0" smtClean="0"/>
              <a:t>Compare sizes of two sets </a:t>
            </a:r>
          </a:p>
          <a:p>
            <a:r>
              <a:rPr lang="en-US" dirty="0" smtClean="0"/>
              <a:t>Append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Smaller set → Larger set </a:t>
            </a:r>
          </a:p>
          <a:p>
            <a:r>
              <a:rPr lang="en-US" dirty="0"/>
              <a:t>Advantages:</a:t>
            </a:r>
          </a:p>
          <a:p>
            <a:r>
              <a:rPr lang="en-US" dirty="0"/>
              <a:t>Reduces number of updates </a:t>
            </a:r>
          </a:p>
          <a:p>
            <a:r>
              <a:rPr lang="en-US" dirty="0"/>
              <a:t>Limits cost of repeated unions</a:t>
            </a:r>
          </a:p>
          <a:p>
            <a:pPr marL="0" indent="0">
              <a:buNone/>
            </a:pPr>
            <a:endParaRPr lang="en-US" sz="2400" dirty="0"/>
          </a:p>
          <a:p>
            <a:pPr lvl="0"/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324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Complexity </a:t>
            </a:r>
            <a:r>
              <a:rPr lang="en-US" b="1" dirty="0" smtClean="0"/>
              <a:t>Analysis - Union </a:t>
            </a:r>
            <a:r>
              <a:rPr lang="en-US" b="1" dirty="0"/>
              <a:t>by Size </a:t>
            </a:r>
            <a:endParaRPr lang="en-US" b="1" dirty="0" smtClean="0"/>
          </a:p>
          <a:p>
            <a:pPr marL="0" indent="0">
              <a:buNone/>
            </a:pPr>
            <a:r>
              <a:rPr lang="en-US" dirty="0" smtClean="0"/>
              <a:t>Single </a:t>
            </a:r>
            <a:r>
              <a:rPr lang="en-US" dirty="0"/>
              <a:t>union: </a:t>
            </a:r>
          </a:p>
          <a:p>
            <a:pPr lvl="1"/>
            <a:r>
              <a:rPr lang="en-US" dirty="0"/>
              <a:t>Still Θ(n) in worst case </a:t>
            </a:r>
          </a:p>
          <a:p>
            <a:r>
              <a:rPr lang="en-US" dirty="0"/>
              <a:t>Sequence of unions: </a:t>
            </a:r>
          </a:p>
          <a:p>
            <a:pPr lvl="1"/>
            <a:r>
              <a:rPr lang="en-US" dirty="0"/>
              <a:t>Θ</a:t>
            </a:r>
            <a:r>
              <a:rPr lang="en-US" dirty="0" smtClean="0"/>
              <a:t>(n </a:t>
            </a:r>
            <a:r>
              <a:rPr lang="en-US" dirty="0"/>
              <a:t>log n) </a:t>
            </a:r>
          </a:p>
          <a:p>
            <a:r>
              <a:rPr lang="en-US" dirty="0"/>
              <a:t>Key Insight:</a:t>
            </a:r>
          </a:p>
          <a:p>
            <a:r>
              <a:rPr lang="en-US" dirty="0"/>
              <a:t>Each element’s representative changes at most log n times</a:t>
            </a:r>
          </a:p>
          <a:p>
            <a:pPr marL="0" indent="0">
              <a:buNone/>
            </a:pPr>
            <a:endParaRPr lang="en-US" sz="2400" dirty="0"/>
          </a:p>
          <a:p>
            <a:pPr lvl="0"/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457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Quick-Union </a:t>
            </a:r>
            <a:r>
              <a:rPr lang="en-US" b="1" dirty="0" smtClean="0"/>
              <a:t>Concept - Tree-Based </a:t>
            </a:r>
            <a:r>
              <a:rPr lang="en-US" b="1" dirty="0"/>
              <a:t>Representation</a:t>
            </a:r>
          </a:p>
          <a:p>
            <a:r>
              <a:rPr lang="en-US" dirty="0"/>
              <a:t>Each subset is represented as a rooted tree </a:t>
            </a:r>
          </a:p>
          <a:p>
            <a:r>
              <a:rPr lang="en-US" dirty="0"/>
              <a:t>Each node: </a:t>
            </a:r>
          </a:p>
          <a:p>
            <a:pPr lvl="1"/>
            <a:r>
              <a:rPr lang="en-US" dirty="0"/>
              <a:t>Represents an element </a:t>
            </a:r>
          </a:p>
          <a:p>
            <a:r>
              <a:rPr lang="en-US" dirty="0"/>
              <a:t>Root node: </a:t>
            </a:r>
          </a:p>
          <a:p>
            <a:pPr lvl="1"/>
            <a:r>
              <a:rPr lang="en-US" dirty="0"/>
              <a:t>Acts as the representative </a:t>
            </a:r>
          </a:p>
          <a:p>
            <a:r>
              <a:rPr lang="en-US" dirty="0"/>
              <a:t>Edges: </a:t>
            </a:r>
          </a:p>
          <a:p>
            <a:pPr lvl="1"/>
            <a:r>
              <a:rPr lang="en-US" dirty="0"/>
              <a:t>Directed from child → parent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839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418296" cy="515652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00" b="1" dirty="0"/>
              <a:t>Implementation Details</a:t>
            </a:r>
          </a:p>
          <a:p>
            <a:r>
              <a:rPr lang="en-US" sz="2900" dirty="0"/>
              <a:t>Maintain: </a:t>
            </a:r>
          </a:p>
          <a:p>
            <a:pPr lvl="1"/>
            <a:r>
              <a:rPr lang="en-US" sz="2900" dirty="0"/>
              <a:t>An array of pointers (parent array) </a:t>
            </a:r>
          </a:p>
          <a:p>
            <a:r>
              <a:rPr lang="en-US" sz="2900" dirty="0"/>
              <a:t>Each element stores: </a:t>
            </a:r>
          </a:p>
          <a:p>
            <a:pPr lvl="1"/>
            <a:r>
              <a:rPr lang="en-US" sz="2900" dirty="0"/>
              <a:t>Its parent node </a:t>
            </a:r>
          </a:p>
          <a:p>
            <a:r>
              <a:rPr lang="en-US" sz="2900" dirty="0"/>
              <a:t>Root node: </a:t>
            </a:r>
          </a:p>
          <a:p>
            <a:pPr lvl="1"/>
            <a:r>
              <a:rPr lang="en-US" sz="2900" dirty="0"/>
              <a:t>Points to NULL (or itself</a:t>
            </a:r>
            <a:r>
              <a:rPr lang="en-US" sz="2900" dirty="0" smtClean="0"/>
              <a:t>)</a:t>
            </a:r>
          </a:p>
          <a:p>
            <a:pPr marL="0" indent="0">
              <a:buNone/>
            </a:pPr>
            <a:r>
              <a:rPr lang="en-US" sz="2900" b="1" dirty="0" err="1"/>
              <a:t>makeSet</a:t>
            </a:r>
            <a:r>
              <a:rPr lang="en-US" sz="2900" b="1" dirty="0"/>
              <a:t>(x) </a:t>
            </a:r>
            <a:r>
              <a:rPr lang="en-US" sz="2900" b="1" dirty="0" smtClean="0"/>
              <a:t>Operation</a:t>
            </a:r>
            <a:endParaRPr lang="en-US" sz="2900" b="1" dirty="0"/>
          </a:p>
          <a:p>
            <a:r>
              <a:rPr lang="en-US" sz="2900" dirty="0"/>
              <a:t>Create a single-node tree </a:t>
            </a:r>
          </a:p>
          <a:p>
            <a:r>
              <a:rPr lang="en-US" sz="2900" dirty="0" smtClean="0"/>
              <a:t>Set  parent[x</a:t>
            </a:r>
            <a:r>
              <a:rPr lang="en-US" sz="2900" dirty="0"/>
              <a:t>] = x </a:t>
            </a:r>
          </a:p>
          <a:p>
            <a:r>
              <a:rPr lang="en-US" sz="2900" dirty="0"/>
              <a:t>Time Complexity:</a:t>
            </a:r>
          </a:p>
          <a:p>
            <a:r>
              <a:rPr lang="en-US" sz="2900" dirty="0"/>
              <a:t>Θ(1) </a:t>
            </a:r>
          </a:p>
          <a:p>
            <a:r>
              <a:rPr lang="en-US" sz="2900" dirty="0"/>
              <a:t>For n elements: Θ(n)</a:t>
            </a:r>
          </a:p>
          <a:p>
            <a:pPr lvl="1"/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25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/>
              <a:t>Union(x</a:t>
            </a:r>
            <a:r>
              <a:rPr lang="en-US" b="1" dirty="0"/>
              <a:t>, y) </a:t>
            </a:r>
            <a:r>
              <a:rPr lang="en-US" b="1" dirty="0" smtClean="0"/>
              <a:t>Operation- Basic </a:t>
            </a:r>
            <a:r>
              <a:rPr lang="en-US" b="1" dirty="0"/>
              <a:t>Quick-Union</a:t>
            </a:r>
          </a:p>
          <a:p>
            <a:r>
              <a:rPr lang="en-US" dirty="0"/>
              <a:t>Find roots: </a:t>
            </a:r>
          </a:p>
          <a:p>
            <a:pPr lvl="1"/>
            <a:r>
              <a:rPr lang="en-US" dirty="0"/>
              <a:t>root(x), root(y) </a:t>
            </a:r>
          </a:p>
          <a:p>
            <a:r>
              <a:rPr lang="en-US" dirty="0"/>
              <a:t>Attach: </a:t>
            </a:r>
          </a:p>
          <a:p>
            <a:pPr lvl="1"/>
            <a:r>
              <a:rPr lang="en-US" dirty="0"/>
              <a:t>root(y) → root(x) </a:t>
            </a:r>
          </a:p>
          <a:p>
            <a:r>
              <a:rPr lang="en-US" dirty="0"/>
              <a:t>Remove: </a:t>
            </a:r>
          </a:p>
          <a:p>
            <a:pPr lvl="1"/>
            <a:r>
              <a:rPr lang="en-US" dirty="0"/>
              <a:t>y’s tree as a separate structure </a:t>
            </a:r>
          </a:p>
          <a:p>
            <a:r>
              <a:rPr lang="en-US" dirty="0"/>
              <a:t>Time Complexity:</a:t>
            </a:r>
          </a:p>
          <a:p>
            <a:r>
              <a:rPr lang="en-US" dirty="0"/>
              <a:t>Θ(1)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266759" y="451374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Forest representation of subsets {1, 4, 5, 2} and {3, 6} used by </a:t>
            </a:r>
            <a:r>
              <a:rPr lang="en-US" dirty="0" smtClean="0"/>
              <a:t>quick union</a:t>
            </a:r>
            <a:r>
              <a:rPr lang="en-US" dirty="0"/>
              <a:t>. (b) Result of union(5, 6).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459" y="2261746"/>
            <a:ext cx="7046300" cy="170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027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/>
              <a:t>Find(x</a:t>
            </a:r>
            <a:r>
              <a:rPr lang="en-US" b="1" dirty="0"/>
              <a:t>) Operation</a:t>
            </a:r>
          </a:p>
          <a:p>
            <a:r>
              <a:rPr lang="en-US" dirty="0"/>
              <a:t>Finding Representative</a:t>
            </a:r>
          </a:p>
          <a:p>
            <a:r>
              <a:rPr lang="en-US" dirty="0"/>
              <a:t>Follow parent pointers: </a:t>
            </a:r>
          </a:p>
          <a:p>
            <a:pPr lvl="1"/>
            <a:r>
              <a:rPr lang="en-US" dirty="0"/>
              <a:t>Until root is reached </a:t>
            </a:r>
          </a:p>
          <a:p>
            <a:r>
              <a:rPr lang="en-US" dirty="0"/>
              <a:t>Time Complexity:</a:t>
            </a:r>
          </a:p>
          <a:p>
            <a:r>
              <a:rPr lang="en-US" dirty="0"/>
              <a:t>Worst case: Θ(n)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86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310719" cy="50220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Optimization – Union by Size</a:t>
            </a:r>
          </a:p>
          <a:p>
            <a:pPr marL="0" indent="0">
              <a:buNone/>
            </a:pPr>
            <a:r>
              <a:rPr lang="en-US" sz="2600" b="1" dirty="0"/>
              <a:t>Balanced Tree Strategy</a:t>
            </a:r>
            <a:endParaRPr lang="en-US" sz="2600" dirty="0"/>
          </a:p>
          <a:p>
            <a:r>
              <a:rPr lang="en-US" sz="2600" dirty="0"/>
              <a:t>Always attach: </a:t>
            </a:r>
          </a:p>
          <a:p>
            <a:pPr lvl="1"/>
            <a:r>
              <a:rPr lang="en-US" sz="2600" dirty="0"/>
              <a:t>Smaller tree → Larger tree </a:t>
            </a:r>
          </a:p>
          <a:p>
            <a:r>
              <a:rPr lang="en-US" sz="2600" dirty="0"/>
              <a:t>Tree size: </a:t>
            </a:r>
          </a:p>
          <a:p>
            <a:pPr lvl="1"/>
            <a:r>
              <a:rPr lang="en-US" sz="2600" dirty="0"/>
              <a:t>Number of nodes </a:t>
            </a:r>
          </a:p>
          <a:p>
            <a:r>
              <a:rPr lang="en-US" sz="2600" dirty="0" smtClean="0"/>
              <a:t>Result: Tree </a:t>
            </a:r>
            <a:r>
              <a:rPr lang="en-US" sz="2600" dirty="0"/>
              <a:t>height = </a:t>
            </a:r>
            <a:r>
              <a:rPr lang="el-GR" sz="2600" dirty="0" smtClean="0"/>
              <a:t>ϴ</a:t>
            </a:r>
            <a:r>
              <a:rPr lang="en-US" sz="2600" dirty="0" smtClean="0"/>
              <a:t>(log </a:t>
            </a:r>
            <a:r>
              <a:rPr lang="en-US" sz="2600" dirty="0"/>
              <a:t>n</a:t>
            </a:r>
            <a:r>
              <a:rPr lang="en-US" sz="2600" dirty="0" smtClean="0"/>
              <a:t>)</a:t>
            </a:r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r>
              <a:rPr lang="en-US" sz="2600" b="1" dirty="0" smtClean="0"/>
              <a:t>Height-Based </a:t>
            </a:r>
            <a:r>
              <a:rPr lang="en-US" sz="2600" b="1" dirty="0"/>
              <a:t>Strategy</a:t>
            </a:r>
          </a:p>
          <a:p>
            <a:r>
              <a:rPr lang="en-US" sz="2600" dirty="0"/>
              <a:t>Rank = approximate height of tree </a:t>
            </a:r>
          </a:p>
          <a:p>
            <a:r>
              <a:rPr lang="en-US" sz="2600" dirty="0"/>
              <a:t>Attach: </a:t>
            </a:r>
          </a:p>
          <a:p>
            <a:pPr lvl="1"/>
            <a:r>
              <a:rPr lang="en-US" sz="2600" dirty="0"/>
              <a:t>Smaller rank tree → Larger rank tree </a:t>
            </a:r>
          </a:p>
          <a:p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05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</a:t>
            </a:r>
            <a:r>
              <a:rPr lang="en-IN" sz="2400" b="1" dirty="0" err="1" smtClean="0">
                <a:solidFill>
                  <a:schemeClr val="accent2">
                    <a:lumMod val="75000"/>
                  </a:schemeClr>
                </a:solidFill>
              </a:rPr>
              <a:t>Kruskals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Improved Complexity</a:t>
            </a:r>
          </a:p>
          <a:p>
            <a:r>
              <a:rPr lang="en-US" dirty="0"/>
              <a:t>With Union by Size/Rank</a:t>
            </a:r>
          </a:p>
          <a:p>
            <a:r>
              <a:rPr lang="en-US" dirty="0"/>
              <a:t>find(x): </a:t>
            </a:r>
            <a:r>
              <a:rPr lang="el-GR" dirty="0" smtClean="0"/>
              <a:t>ϴ</a:t>
            </a:r>
            <a:r>
              <a:rPr lang="en-US" dirty="0" smtClean="0"/>
              <a:t>(log </a:t>
            </a:r>
            <a:r>
              <a:rPr lang="en-US" dirty="0"/>
              <a:t>n) </a:t>
            </a:r>
          </a:p>
          <a:p>
            <a:r>
              <a:rPr lang="en-US" dirty="0"/>
              <a:t>Sequence of </a:t>
            </a:r>
            <a:r>
              <a:rPr lang="en-US" dirty="0" smtClean="0"/>
              <a:t>at </a:t>
            </a:r>
            <a:r>
              <a:rPr lang="en-US" dirty="0"/>
              <a:t>most n − 1 </a:t>
            </a:r>
            <a:r>
              <a:rPr lang="en-US" dirty="0" smtClean="0"/>
              <a:t>unions and </a:t>
            </a:r>
            <a:r>
              <a:rPr lang="en-US" dirty="0"/>
              <a:t>m finds is </a:t>
            </a:r>
            <a:r>
              <a:rPr lang="en-US" dirty="0" smtClean="0"/>
              <a:t>: </a:t>
            </a:r>
            <a:endParaRPr lang="en-US" dirty="0"/>
          </a:p>
          <a:p>
            <a:pPr lvl="1"/>
            <a:r>
              <a:rPr lang="el-GR" dirty="0"/>
              <a:t>ϴ</a:t>
            </a:r>
            <a:r>
              <a:rPr lang="en-US" dirty="0" smtClean="0"/>
              <a:t>(n </a:t>
            </a:r>
            <a:r>
              <a:rPr lang="en-US" dirty="0"/>
              <a:t>+ m log n)</a:t>
            </a:r>
            <a:br>
              <a:rPr lang="en-US" dirty="0"/>
            </a:br>
            <a:r>
              <a:rPr lang="en-US" dirty="0"/>
              <a:t>(m = number of find operations)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7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Multiple Choice Questions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Which property ensures that </a:t>
            </a:r>
            <a:r>
              <a:rPr lang="en-US" sz="2400" dirty="0" err="1"/>
              <a:t>Kruskal’s</a:t>
            </a:r>
            <a:r>
              <a:rPr lang="en-US" sz="2400" dirty="0"/>
              <a:t> algorithm produces a minimum spanning tree?</a:t>
            </a:r>
          </a:p>
          <a:p>
            <a:pPr marL="514350" indent="-514350">
              <a:buAutoNum type="alphaUcPeriod"/>
            </a:pPr>
            <a:r>
              <a:rPr lang="en-US" sz="2400" dirty="0" smtClean="0"/>
              <a:t>It </a:t>
            </a:r>
            <a:r>
              <a:rPr lang="en-US" sz="2400" dirty="0"/>
              <a:t>always selects edges connected to the last added </a:t>
            </a:r>
            <a:r>
              <a:rPr lang="en-US" sz="2400" dirty="0" smtClean="0"/>
              <a:t>vertex</a:t>
            </a:r>
          </a:p>
          <a:p>
            <a:pPr marL="514350" indent="-514350">
              <a:buAutoNum type="alphaUcPeriod"/>
            </a:pPr>
            <a:r>
              <a:rPr lang="en-US" sz="2400" dirty="0" smtClean="0"/>
              <a:t>It </a:t>
            </a:r>
            <a:r>
              <a:rPr lang="en-US" sz="2400" dirty="0"/>
              <a:t>uses breadth-first </a:t>
            </a:r>
            <a:r>
              <a:rPr lang="en-US" sz="2400" dirty="0" smtClean="0"/>
              <a:t>traversal</a:t>
            </a:r>
          </a:p>
          <a:p>
            <a:pPr marL="514350" indent="-514350">
              <a:buAutoNum type="alphaUcPeriod"/>
            </a:pPr>
            <a:r>
              <a:rPr lang="en-US" sz="2400" dirty="0" smtClean="0"/>
              <a:t>It </a:t>
            </a:r>
            <a:r>
              <a:rPr lang="en-US" sz="2400" dirty="0"/>
              <a:t>selects edges in increasing order without forming </a:t>
            </a:r>
            <a:r>
              <a:rPr lang="en-US" sz="2400" dirty="0" smtClean="0"/>
              <a:t>cycles</a:t>
            </a:r>
          </a:p>
          <a:p>
            <a:pPr marL="514350" indent="-514350">
              <a:buAutoNum type="alphaUcPeriod"/>
            </a:pPr>
            <a:r>
              <a:rPr lang="en-US" sz="2400" dirty="0" smtClean="0"/>
              <a:t>It </a:t>
            </a:r>
            <a:r>
              <a:rPr lang="en-US" sz="2400" dirty="0"/>
              <a:t>ensures equal number of edges in all </a:t>
            </a:r>
            <a:r>
              <a:rPr lang="en-US" sz="2400" dirty="0" err="1" smtClean="0"/>
              <a:t>subtrees</a:t>
            </a:r>
            <a:endParaRPr lang="en-US" sz="2400" dirty="0" smtClean="0"/>
          </a:p>
          <a:p>
            <a:pPr marL="514350" indent="-514350">
              <a:buAutoNum type="alphaUcPeriod"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Answer C. It </a:t>
            </a:r>
            <a:r>
              <a:rPr lang="en-US" sz="2400" dirty="0"/>
              <a:t>selects edges in increasing order without forming cycles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01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Multiple Choice Questions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593107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In the </a:t>
            </a:r>
            <a:r>
              <a:rPr lang="en-US" sz="2400" b="1" dirty="0"/>
              <a:t>union-by-size</a:t>
            </a:r>
            <a:r>
              <a:rPr lang="en-US" sz="2400" dirty="0"/>
              <a:t> optimization, why does the sequence of union operations take </a:t>
            </a:r>
            <a:r>
              <a:rPr lang="el-GR" sz="2400" b="1" dirty="0" smtClean="0"/>
              <a:t>ϴ</a:t>
            </a:r>
            <a:r>
              <a:rPr lang="en-US" sz="2400" b="1" dirty="0" smtClean="0"/>
              <a:t>(n </a:t>
            </a:r>
            <a:r>
              <a:rPr lang="en-US" sz="2400" b="1" dirty="0"/>
              <a:t>log n)</a:t>
            </a:r>
            <a:r>
              <a:rPr lang="en-US" sz="2400" dirty="0"/>
              <a:t> time</a:t>
            </a:r>
            <a:r>
              <a:rPr lang="en-US" sz="2400" dirty="0" smtClean="0"/>
              <a:t>?</a:t>
            </a:r>
          </a:p>
          <a:p>
            <a:pPr marL="0" indent="0">
              <a:buNone/>
            </a:pPr>
            <a:endParaRPr lang="en-US" sz="2400" dirty="0"/>
          </a:p>
          <a:p>
            <a:pPr marL="457200" indent="-457200">
              <a:buAutoNum type="alphaUcPeriod"/>
            </a:pPr>
            <a:r>
              <a:rPr lang="en-US" sz="2400" dirty="0" smtClean="0"/>
              <a:t>Each </a:t>
            </a:r>
            <a:r>
              <a:rPr lang="en-US" sz="2400" dirty="0"/>
              <a:t>union takes O(log n) </a:t>
            </a:r>
            <a:r>
              <a:rPr lang="en-US" sz="2400" dirty="0" smtClean="0"/>
              <a:t>time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Each </a:t>
            </a:r>
            <a:r>
              <a:rPr lang="en-US" sz="2400" dirty="0"/>
              <a:t>element changes its representative at most log n </a:t>
            </a:r>
            <a:r>
              <a:rPr lang="en-US" sz="2400" dirty="0" smtClean="0"/>
              <a:t>times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The </a:t>
            </a:r>
            <a:r>
              <a:rPr lang="en-US" sz="2400" dirty="0"/>
              <a:t>number of unions is limited to log </a:t>
            </a:r>
            <a:r>
              <a:rPr lang="en-US" sz="2400" dirty="0" smtClean="0"/>
              <a:t>n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Find </a:t>
            </a:r>
            <a:r>
              <a:rPr lang="en-US" sz="2400" dirty="0"/>
              <a:t>operations dominate the </a:t>
            </a:r>
            <a:r>
              <a:rPr lang="en-US" sz="2400" dirty="0" smtClean="0"/>
              <a:t>complexity</a:t>
            </a:r>
          </a:p>
          <a:p>
            <a:pPr marL="457200" indent="-457200">
              <a:buAutoNum type="alphaUcPeriod"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Answer : B. </a:t>
            </a:r>
            <a:r>
              <a:rPr lang="en-US" sz="2400" dirty="0"/>
              <a:t>Each element changes its representative at most log n times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0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Multiple Choice Questions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593107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Suppose all edges of a graph have </a:t>
            </a:r>
            <a:r>
              <a:rPr lang="en-US" sz="2400" b="1" dirty="0"/>
              <a:t>distinct weights</a:t>
            </a:r>
            <a:r>
              <a:rPr lang="en-US" sz="2400" dirty="0"/>
              <a:t>. Which of the following is true about the MST produced by </a:t>
            </a:r>
            <a:r>
              <a:rPr lang="en-US" sz="2400" dirty="0" err="1"/>
              <a:t>Kruskal’s</a:t>
            </a:r>
            <a:r>
              <a:rPr lang="en-US" sz="2400" dirty="0"/>
              <a:t> algorithm</a:t>
            </a:r>
            <a:r>
              <a:rPr lang="en-US" sz="2400" dirty="0" smtClean="0"/>
              <a:t>?</a:t>
            </a:r>
          </a:p>
          <a:p>
            <a:endParaRPr lang="en-US" sz="2400" dirty="0"/>
          </a:p>
          <a:p>
            <a:pPr marL="457200" indent="-457200">
              <a:buAutoNum type="alphaUcPeriod"/>
            </a:pPr>
            <a:r>
              <a:rPr lang="en-US" sz="2400" dirty="0" smtClean="0"/>
              <a:t>Multiple </a:t>
            </a:r>
            <a:r>
              <a:rPr lang="en-US" sz="2400" dirty="0"/>
              <a:t>MSTs are possible depending on edge processing </a:t>
            </a:r>
            <a:r>
              <a:rPr lang="en-US" sz="2400" dirty="0" smtClean="0"/>
              <a:t>order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The </a:t>
            </a:r>
            <a:r>
              <a:rPr lang="en-US" sz="2400" dirty="0"/>
              <a:t>MST is unique regardless of implementation </a:t>
            </a:r>
            <a:r>
              <a:rPr lang="en-US" sz="2400" dirty="0" smtClean="0"/>
              <a:t>details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The </a:t>
            </a:r>
            <a:r>
              <a:rPr lang="en-US" sz="2400" dirty="0"/>
              <a:t>MST depends on the choice of Union-Find </a:t>
            </a:r>
            <a:r>
              <a:rPr lang="en-US" sz="2400" dirty="0" smtClean="0"/>
              <a:t>structure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The </a:t>
            </a:r>
            <a:r>
              <a:rPr lang="en-US" sz="2400" dirty="0"/>
              <a:t>MST may contain cycles if edges are processed </a:t>
            </a:r>
            <a:r>
              <a:rPr lang="en-US" sz="2400" dirty="0" smtClean="0"/>
              <a:t>incorrectly</a:t>
            </a:r>
          </a:p>
          <a:p>
            <a:pPr marL="457200" indent="-457200">
              <a:buAutoNum type="alphaUcPeriod"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Answer : B. </a:t>
            </a:r>
            <a:r>
              <a:rPr lang="en-US" sz="2400" dirty="0"/>
              <a:t>The MST is unique regardless of implementation details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160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Multiple Choice Questions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593107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During </a:t>
            </a:r>
            <a:r>
              <a:rPr lang="en-US" sz="2400" dirty="0" err="1"/>
              <a:t>Kruskal’s</a:t>
            </a:r>
            <a:r>
              <a:rPr lang="en-US" sz="2400" dirty="0"/>
              <a:t> algorithm, an edge (u, v) is considered. Which condition correctly determines whether adding it will form a cycle</a:t>
            </a:r>
            <a:r>
              <a:rPr lang="en-US" sz="2400" dirty="0" smtClean="0"/>
              <a:t>?</a:t>
            </a:r>
          </a:p>
          <a:p>
            <a:endParaRPr lang="en-US" sz="2400" dirty="0"/>
          </a:p>
          <a:p>
            <a:pPr marL="457200" indent="-457200">
              <a:buAutoNum type="alphaUcPeriod"/>
            </a:pPr>
            <a:r>
              <a:rPr lang="en-US" sz="2400" dirty="0" smtClean="0"/>
              <a:t>If </a:t>
            </a:r>
            <a:r>
              <a:rPr lang="en-US" sz="2400" dirty="0"/>
              <a:t>degree(u) = </a:t>
            </a:r>
            <a:r>
              <a:rPr lang="en-US" sz="2400" dirty="0" smtClean="0"/>
              <a:t>degree(v)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If </a:t>
            </a:r>
            <a:r>
              <a:rPr lang="en-US" sz="2400" dirty="0"/>
              <a:t>u and v belong to the same connected </a:t>
            </a:r>
            <a:r>
              <a:rPr lang="en-US" sz="2400" dirty="0" smtClean="0"/>
              <a:t>component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If </a:t>
            </a:r>
            <a:r>
              <a:rPr lang="en-US" sz="2400" dirty="0"/>
              <a:t>weight(u, v) is greater than previous </a:t>
            </a:r>
            <a:r>
              <a:rPr lang="en-US" sz="2400" dirty="0" smtClean="0"/>
              <a:t>edge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If </a:t>
            </a:r>
            <a:r>
              <a:rPr lang="en-US" sz="2400" dirty="0"/>
              <a:t>u and v are adjacent in adjacency </a:t>
            </a:r>
            <a:r>
              <a:rPr lang="en-US" sz="2400" dirty="0" smtClean="0"/>
              <a:t>list</a:t>
            </a:r>
          </a:p>
          <a:p>
            <a:pPr marL="457200" indent="-457200">
              <a:buAutoNum type="alphaUcPeriod"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Answer B. </a:t>
            </a:r>
            <a:r>
              <a:rPr lang="en-US" sz="2400" dirty="0"/>
              <a:t>If u and v belong to the same connected component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792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Multiple Choice Questions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593107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In a disjoint-set structure implemented using linked lists (Quick-Find variant), each set </a:t>
            </a:r>
            <a:r>
              <a:rPr lang="en-US" sz="2400" dirty="0" smtClean="0"/>
              <a:t>maintains: A </a:t>
            </a:r>
            <a:r>
              <a:rPr lang="en-US" sz="2400" dirty="0"/>
              <a:t>linked list of elements </a:t>
            </a:r>
            <a:r>
              <a:rPr lang="en-US" sz="2400" dirty="0" smtClean="0"/>
              <a:t>, A </a:t>
            </a:r>
            <a:r>
              <a:rPr lang="en-US" sz="2400" dirty="0"/>
              <a:t>representative stored for each </a:t>
            </a:r>
            <a:r>
              <a:rPr lang="en-US" sz="2400" dirty="0" smtClean="0"/>
              <a:t>element, The </a:t>
            </a:r>
            <a:r>
              <a:rPr lang="en-US" sz="2400" dirty="0"/>
              <a:t>size of the list </a:t>
            </a:r>
          </a:p>
          <a:p>
            <a:pPr marL="0" indent="0">
              <a:buNone/>
            </a:pPr>
            <a:r>
              <a:rPr lang="en-US" sz="2400" dirty="0"/>
              <a:t>During a sequence of union operations using union-by-size, what is the maximum number of times an element’s representative can change?</a:t>
            </a:r>
          </a:p>
          <a:p>
            <a:pPr marL="457200" indent="-457200">
              <a:buAutoNum type="alphaUcPeriod"/>
            </a:pPr>
            <a:r>
              <a:rPr lang="pt-BR" sz="2400" dirty="0" smtClean="0"/>
              <a:t>Θ(n)</a:t>
            </a:r>
          </a:p>
          <a:p>
            <a:pPr marL="457200" indent="-457200">
              <a:buAutoNum type="alphaUcPeriod"/>
            </a:pPr>
            <a:r>
              <a:rPr lang="pt-BR" sz="2400" dirty="0" smtClean="0"/>
              <a:t>Θ(log n)</a:t>
            </a:r>
          </a:p>
          <a:p>
            <a:pPr marL="457200" indent="-457200">
              <a:buAutoNum type="alphaUcPeriod"/>
            </a:pPr>
            <a:r>
              <a:rPr lang="pt-BR" sz="2400" dirty="0" smtClean="0"/>
              <a:t>C</a:t>
            </a:r>
            <a:r>
              <a:rPr lang="pt-BR" sz="2400" dirty="0"/>
              <a:t>. </a:t>
            </a:r>
            <a:r>
              <a:rPr lang="pt-BR" sz="2400" dirty="0" smtClean="0"/>
              <a:t>Θ(1)</a:t>
            </a:r>
          </a:p>
          <a:p>
            <a:pPr marL="457200" indent="-457200">
              <a:buAutoNum type="alphaUcPeriod"/>
            </a:pPr>
            <a:r>
              <a:rPr lang="pt-BR" sz="2400" dirty="0" smtClean="0"/>
              <a:t>D</a:t>
            </a:r>
            <a:r>
              <a:rPr lang="pt-BR" sz="2400" dirty="0"/>
              <a:t>. Θ(n log n</a:t>
            </a:r>
            <a:r>
              <a:rPr lang="pt-BR" sz="2400" dirty="0" smtClean="0"/>
              <a:t>)</a:t>
            </a:r>
          </a:p>
          <a:p>
            <a:pPr marL="457200" indent="-457200">
              <a:buAutoNum type="alphaUcPeriod"/>
            </a:pPr>
            <a:endParaRPr lang="pt-BR" sz="2400" dirty="0"/>
          </a:p>
          <a:p>
            <a:pPr marL="0" indent="0">
              <a:buNone/>
            </a:pPr>
            <a:r>
              <a:rPr lang="pt-BR" sz="2400" dirty="0" smtClean="0"/>
              <a:t>Answer B. </a:t>
            </a:r>
            <a:r>
              <a:rPr lang="pt-BR" sz="2400" dirty="0"/>
              <a:t>Θ(log n)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779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1862;p148"/>
          <p:cNvSpPr>
            <a:spLocks noChangeArrowheads="1"/>
          </p:cNvSpPr>
          <p:nvPr/>
        </p:nvSpPr>
        <p:spPr bwMode="auto">
          <a:xfrm>
            <a:off x="5667375" y="2566988"/>
            <a:ext cx="4603750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sz="3600" b="1" dirty="0">
                <a:solidFill>
                  <a:srgbClr val="C55A1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THANK </a:t>
            </a:r>
            <a:r>
              <a:rPr lang="en-US" sz="3600" b="1" dirty="0" smtClean="0">
                <a:solidFill>
                  <a:srgbClr val="C55A1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YOU</a:t>
            </a:r>
          </a:p>
          <a:p>
            <a:pPr eaLnBrk="1" hangingPunct="1"/>
            <a:endParaRPr lang="en-US" sz="3600" b="1" dirty="0" smtClean="0">
              <a:solidFill>
                <a:srgbClr val="C55A1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eaLnBrk="1" hangingPunct="1"/>
            <a:r>
              <a:rPr lang="en-US" sz="24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Dinesh Singh</a:t>
            </a:r>
          </a:p>
          <a:p>
            <a:pPr eaLnBrk="1" hangingPunct="1"/>
            <a:r>
              <a:rPr lang="en-US" sz="24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Department of Computer Science &amp; Engineering</a:t>
            </a:r>
            <a:endParaRPr lang="en-US" sz="2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268" name="Google Shape;1864;p148"/>
          <p:cNvSpPr>
            <a:spLocks noChangeArrowheads="1"/>
          </p:cNvSpPr>
          <p:nvPr/>
        </p:nvSpPr>
        <p:spPr bwMode="auto">
          <a:xfrm>
            <a:off x="5680075" y="3127375"/>
            <a:ext cx="5256213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0739" y="2334597"/>
            <a:ext cx="3150920" cy="17129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=""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>
            <a:off x="4994108" y="3339537"/>
            <a:ext cx="4583156" cy="27277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504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2160</TotalTime>
  <Words>1410</Words>
  <Application>Microsoft Office PowerPoint</Application>
  <PresentationFormat>Widescreen</PresentationFormat>
  <Paragraphs>268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Vandana M Ladwani</dc:creator>
  <cp:lastModifiedBy>Microsoft account</cp:lastModifiedBy>
  <cp:revision>236</cp:revision>
  <dcterms:created xsi:type="dcterms:W3CDTF">2021-01-07T04:42:57Z</dcterms:created>
  <dcterms:modified xsi:type="dcterms:W3CDTF">2026-03-21T05:35:26Z</dcterms:modified>
</cp:coreProperties>
</file>