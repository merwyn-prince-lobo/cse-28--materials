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6858000" cx="12192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hZX7TrDd80Q+w0L85x+Oh4x+HN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0188"/>
            <a:ext cx="3170238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5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7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8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8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9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0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0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21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21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2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2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3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4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4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5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25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6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6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7:notes"/>
          <p:cNvSpPr txBox="1"/>
          <p:nvPr>
            <p:ph idx="1" type="body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7:notes"/>
          <p:cNvSpPr/>
          <p:nvPr>
            <p:ph idx="2" type="sldImg"/>
          </p:nvPr>
        </p:nvSpPr>
        <p:spPr>
          <a:xfrm>
            <a:off x="777875" y="1200150"/>
            <a:ext cx="5759450" cy="32400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4781916" y="1688267"/>
            <a:ext cx="749721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6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4781916" y="4415503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781916" y="4813108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92" name="Google Shape;92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94" name="Google Shape;94;p1"/>
          <p:cNvCxnSpPr/>
          <p:nvPr/>
        </p:nvCxnSpPr>
        <p:spPr>
          <a:xfrm flipH="1" rot="10800000">
            <a:off x="4781916" y="4112436"/>
            <a:ext cx="4581449" cy="1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95" name="Google Shape;95;p1"/>
          <p:cNvGrpSpPr/>
          <p:nvPr/>
        </p:nvGrpSpPr>
        <p:grpSpPr>
          <a:xfrm rot="10800000">
            <a:off x="10855702" y="266068"/>
            <a:ext cx="1066895" cy="1078155"/>
            <a:chOff x="313844" y="5489699"/>
            <a:chExt cx="1066895" cy="1078155"/>
          </a:xfrm>
        </p:grpSpPr>
        <p:sp>
          <p:nvSpPr>
            <p:cNvPr id="96" name="Google Shape;96;p1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C55A1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2052209"/>
            <a:ext cx="3469341" cy="1955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598882" y="1737360"/>
            <a:ext cx="872799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600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598882" y="2888778"/>
            <a:ext cx="82054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2E5395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598883" y="5489699"/>
            <a:ext cx="74972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598883" y="5887304"/>
            <a:ext cx="749721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2"/>
          <p:cNvGrpSpPr/>
          <p:nvPr/>
        </p:nvGrpSpPr>
        <p:grpSpPr>
          <a:xfrm>
            <a:off x="313844" y="5489699"/>
            <a:ext cx="1066895" cy="1078155"/>
            <a:chOff x="313844" y="5489699"/>
            <a:chExt cx="1066895" cy="1078155"/>
          </a:xfrm>
        </p:grpSpPr>
        <p:sp>
          <p:nvSpPr>
            <p:cNvPr id="108" name="Google Shape;108;p2"/>
            <p:cNvSpPr/>
            <p:nvPr/>
          </p:nvSpPr>
          <p:spPr>
            <a:xfrm rot="5400000">
              <a:off x="824432" y="6011547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 rot="10800000">
              <a:off x="313844" y="5489699"/>
              <a:ext cx="45719" cy="1066895"/>
            </a:xfrm>
            <a:prstGeom prst="rect">
              <a:avLst/>
            </a:prstGeom>
            <a:solidFill>
              <a:srgbClr val="F4B08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0" name="Google Shape;110;p2"/>
          <p:cNvCxnSpPr/>
          <p:nvPr/>
        </p:nvCxnSpPr>
        <p:spPr>
          <a:xfrm flipH="1" rot="10800000">
            <a:off x="0" y="2596822"/>
            <a:ext cx="7904054" cy="68537"/>
          </a:xfrm>
          <a:prstGeom prst="straightConnector1">
            <a:avLst/>
          </a:prstGeom>
          <a:noFill/>
          <a:ln cap="flat" cmpd="sng" w="38100">
            <a:solidFill>
              <a:srgbClr val="DFA267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3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19" name="Google Shape;119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20" name="Google Shape;120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21" name="Google Shape;121;p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22" name="Google Shape;122;p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815792" y="1868710"/>
            <a:ext cx="9968748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 and Conquer Technique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strategy based on transforming a problem into a form that is easier to solve.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 in two stages: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Transformation stage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Conquering (solving) stage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2" name="Google Shape;132;p4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3" name="Google Shape;133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4" name="Google Shape;134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35" name="Google Shape;135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36" name="Google Shape;136;p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815792" y="1868710"/>
            <a:ext cx="9968748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1: Transformation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original problem instance is modified to make it easier to solve.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Transformation may simplify the problem or change its representation.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Stage 2: Conquering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transformation, the modified problem is solved using an appropriate algorithm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7" name="Google Shape;147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8" name="Google Shape;148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49" name="Google Shape;149;p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50" name="Google Shape;150;p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815792" y="1868710"/>
            <a:ext cx="996874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Major Variations of Transform and Conquer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Instance Simplification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Representation Change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Problem Reduction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741" y="4109760"/>
            <a:ext cx="8923422" cy="20423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6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6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2" name="Google Shape;162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3" name="Google Shape;163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64" name="Google Shape;164;p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65" name="Google Shape;165;p6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815792" y="1868710"/>
            <a:ext cx="9968748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Instance Simplification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Transforms the problem into a simpler or more convenient instance of the same problem.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Presorting data before applying another algorithm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Representation Change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Transforms the problem into a different representation of the same instance.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new representation makes the problem easier to solve.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Representation change : Heaps, Heap Sort,  Red Black Trees, 2-3 Trees 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7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p7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6" name="Google Shape;176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7" name="Google Shape;177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78" name="Google Shape;178;p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79" name="Google Shape;179;p7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815792" y="1868710"/>
            <a:ext cx="9968748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Reduction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Transforms the problem into another problem for which a known algorithm already exists. The solution to the new problem helps solve the original problem.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8" name="Google Shape;188;p8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p8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90" name="Google Shape;190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91" name="Google Shape;191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192" name="Google Shape;192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193" name="Google Shape;193;p8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815792" y="1868710"/>
            <a:ext cx="9968748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Presorting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Presorting is a technique where the input data is sorted first to make solving the problem easier.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algorithmic questions become simpler when the list is sorted.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overall efficiency depends on the efficiency of the sorting algorithm used.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9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3" name="Google Shape;203;p9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4" name="Google Shape;204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5" name="Google Shape;205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06" name="Google Shape;206;p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07" name="Google Shape;207;p9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815792" y="1868710"/>
            <a:ext cx="9968748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Element Uniqueness Problem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Problem: Check whether all elements in an array are unique.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Brute-force approach compares all pairs of elements.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Worst-case complexity: Θ(n²).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Presorting Idea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Instead of comparing all pairs: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Sort the array.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Compare only consecutive elements.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duplicates exist, they must appear next to each other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6" name="Google Shape;216;p10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7" name="Google Shape;217;p10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18" name="Google Shape;218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19" name="Google Shape;219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20" name="Google Shape;220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21" name="Google Shape;221;p10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482" y="2151242"/>
            <a:ext cx="10433369" cy="3496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0" name="Google Shape;230;p11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p11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2" name="Google Shape;232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3" name="Google Shape;233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34" name="Google Shape;234;p1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35" name="Google Shape;235;p11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1"/>
          <p:cNvSpPr/>
          <p:nvPr/>
        </p:nvSpPr>
        <p:spPr>
          <a:xfrm>
            <a:off x="726146" y="1778610"/>
            <a:ext cx="10165971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Time Analysis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 = T-sort(n) + T-scan(n)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Sorting requires Θ(n log n).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Scanning requires Θ(n).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Overall complexity: Θ(n log n).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a good sorting algorithm (e.g., Merge Sort), the presorting approach solves the element uniqueness problem in Θ(n log n) time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" name="Google Shape;244;p12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5" name="Google Shape;245;p12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46" name="Google Shape;246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47" name="Google Shape;247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48" name="Google Shape;248;p1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49" name="Google Shape;249;p12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2"/>
          <p:cNvSpPr/>
          <p:nvPr/>
        </p:nvSpPr>
        <p:spPr>
          <a:xfrm>
            <a:off x="726146" y="1778610"/>
            <a:ext cx="10165971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Computing a Mode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mode is the value that occurs most frequently in a list of numbers.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For the list {5,1,5,7,6,5,7}, the mode is 5.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several values have the same highest frequency, any of them can be considered a mode.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9" name="Google Shape;259;p13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60" name="Google Shape;260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61" name="Google Shape;261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62" name="Google Shape;262;p1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63" name="Google Shape;263;p1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3"/>
          <p:cNvSpPr/>
          <p:nvPr/>
        </p:nvSpPr>
        <p:spPr>
          <a:xfrm>
            <a:off x="726146" y="1778610"/>
            <a:ext cx="10165971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Brute Force Approach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 the list and compute the frequency of every distinct value.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 a separate list storing: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Distinct elements encountered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Their frequencies.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element in the original list: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it with elements in the auxiliary list.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 match is found, increase its frequency.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Otherwise, add it as a new distinct value with frequency = 1.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1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3" name="Google Shape;273;p14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74" name="Google Shape;274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75" name="Google Shape;275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76" name="Google Shape;276;p1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77" name="Google Shape;277;p1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4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4"/>
          <p:cNvSpPr/>
          <p:nvPr/>
        </p:nvSpPr>
        <p:spPr>
          <a:xfrm>
            <a:off x="726146" y="1778610"/>
            <a:ext cx="10165971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Worst Case Scenario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worst case occurs when the list has no equal elements.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element must be compared with all previously seen elements.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Comparisons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8144" y="4008345"/>
            <a:ext cx="8205158" cy="14242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1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8" name="Google Shape;288;p15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89" name="Google Shape;289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90" name="Google Shape;290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291" name="Google Shape;291;p1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292" name="Google Shape;292;p1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5"/>
          <p:cNvSpPr/>
          <p:nvPr/>
        </p:nvSpPr>
        <p:spPr>
          <a:xfrm>
            <a:off x="726146" y="1778610"/>
            <a:ext cx="10165971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the Mode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building the frequency list,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scan the auxiliary list to find the value with the largest frequency.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requires at most (n − 1) additional comparisons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additional comparisons do not change the overall complexity.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Therefore, the brute-force algorithm has worst-case time complexity Θ(n²).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16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2" name="Google Shape;302;p16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03" name="Google Shape;303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04" name="Google Shape;304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05" name="Google Shape;305;p1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06" name="Google Shape;306;p16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6"/>
          <p:cNvSpPr/>
          <p:nvPr/>
        </p:nvSpPr>
        <p:spPr>
          <a:xfrm>
            <a:off x="726146" y="1778610"/>
            <a:ext cx="10542489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Presorting Approach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First sort the input list.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Equal values will become adjacent.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The mode is the value that forms the longest run of consecutive equal elements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 of Presorting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sorting, we only need to scan the array once to find the longest sequence of identical adjacent elements.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17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6" name="Google Shape;316;p17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17" name="Google Shape;317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18" name="Google Shape;318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19" name="Google Shape;319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20" name="Google Shape;320;p17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7"/>
          <p:cNvSpPr/>
          <p:nvPr/>
        </p:nvSpPr>
        <p:spPr>
          <a:xfrm>
            <a:off x="605117" y="1510994"/>
            <a:ext cx="1017942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2" name="Google Shape;3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09464" y="1484554"/>
            <a:ext cx="7490029" cy="4450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8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18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0" name="Google Shape;330;p18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31" name="Google Shape;331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32" name="Google Shape;332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33" name="Google Shape;333;p1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34" name="Google Shape;334;p18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8"/>
          <p:cNvSpPr/>
          <p:nvPr/>
        </p:nvSpPr>
        <p:spPr>
          <a:xfrm>
            <a:off x="605117" y="1510994"/>
            <a:ext cx="10179423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 Complexity with Presorting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 = T_sort(n) + T_scan(n)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sorting uses an efficient algorithm (e.g., Merge Sort):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T(n) = Θ(n log n) + Θ(n) = Θ(n log n).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6" name="Google Shape;3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9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2" name="Google Shape;342;p19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3" name="Google Shape;343;p19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44" name="Google Shape;344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45" name="Google Shape;345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46" name="Google Shape;346;p19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47" name="Google Shape;347;p19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605117" y="1510994"/>
            <a:ext cx="10179423" cy="50059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Searching problem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problem of searching for a given value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given array of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sortable items.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brute-force solution here is sequential search which needs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comparisons in the worst case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array is sorted first, we can then apply binary search, which requires only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</a:t>
            </a:r>
            <a:r>
              <a:rPr baseline="-25000" lang="en-US" sz="3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+ 1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comparisons in the worst case.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Assuming the most efficient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 </a:t>
            </a:r>
            <a:r>
              <a:rPr i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sort, the total running time of such a searching algorithm in the worst case will be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5979" y="5920139"/>
            <a:ext cx="8294733" cy="534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0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6" name="Google Shape;356;p20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p20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58" name="Google Shape;358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59" name="Google Shape;359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60" name="Google Shape;360;p2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61" name="Google Shape;361;p20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05117" y="1510994"/>
            <a:ext cx="10179423" cy="32947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Searching problem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 is inferior to sequential search.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if we are to search in the same list more than once, the time spent on sorting might well be justified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1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9" name="Google Shape;369;p21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0" name="Google Shape;370;p21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71" name="Google Shape;371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72" name="Google Shape;372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73" name="Google Shape;373;p21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74" name="Google Shape;374;p21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/>
          <p:nvPr/>
        </p:nvSpPr>
        <p:spPr>
          <a:xfrm>
            <a:off x="605117" y="1510994"/>
            <a:ext cx="10179423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problem of finding the distance between the two closest numbers in an array of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numbers. (The distance between two numbers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computed as |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−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|.)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Design a presorting-based algorithm for solving this problem and determine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efficiency class.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Compare the efficiency of this algorithm with that of the brute-force algorithm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6" name="Google Shape;37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Transform and Conquer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2" name="Google Shape;382;p22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3" name="Google Shape;383;p22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84" name="Google Shape;384;p2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85" name="Google Shape;385;p2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86" name="Google Shape;386;p22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387" name="Google Shape;387;p22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605117" y="1510994"/>
            <a:ext cx="10179423" cy="48628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 the array first and then scan it to find the smallest difference between two successive elements A[i] and A[i + 1] (0 ≤ i ≤ n − 2).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presorting is done with a ϴ(n log n) algorithm, the running time of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entire algorithm will be in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ϴ(n log n) + ϴ(n) = ϴ(n log n)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time efficiency of the brute-force algorithm is in Ɵ(n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because the algorithm considers n(n − 1)/2 pairs of the array’s elements.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5" name="Google Shape;395;p23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6" name="Google Shape;396;p23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97" name="Google Shape;397;p2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98" name="Google Shape;398;p2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399" name="Google Shape;399;p23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400" name="Google Shape;400;p23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3"/>
          <p:cNvSpPr/>
          <p:nvPr/>
        </p:nvSpPr>
        <p:spPr>
          <a:xfrm>
            <a:off x="605117" y="1510994"/>
            <a:ext cx="10179423" cy="52629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algorithm checks whether all elements in an array of size n are unique using the presorting technique.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array is first sorted using Merge Sort, and then adjacent elements are compared.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the overall worst-case time complexity of the algorithm?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Θ(n)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Θ(nlog⁡n)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Θ(n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Θ(log⁡n)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B. Θ(nlog⁡n)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2" name="Google Shape;40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4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8" name="Google Shape;408;p24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9" name="Google Shape;409;p24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10" name="Google Shape;410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11" name="Google Shape;411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12" name="Google Shape;412;p2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413" name="Google Shape;413;p24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605117" y="1510994"/>
            <a:ext cx="10179423" cy="489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 the brute-force algorithm for computing the mode of an array by building a frequency list of distinct elements.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input contains all distinct elements, how many comparisons are made in the worst case while constructing the frequency list?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n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n(n−1)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n(n−1)/2​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n log⁡n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c. n(n−1)/2​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5" name="Google Shape;4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5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1" name="Google Shape;421;p25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2" name="Google Shape;422;p25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23" name="Google Shape;423;p2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24" name="Google Shape;424;p2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25" name="Google Shape;425;p25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426" name="Google Shape;426;p25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605117" y="1510994"/>
            <a:ext cx="10179423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an array of n elements is sorted first and then scanned to compute the mode by finding the longest run of identical adjacent elements.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 following statements is TRUE?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The scanning step dominates the running time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The sorting step dominates the running time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Both steps contribute equally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The algorithm runs in Θ(n</a:t>
            </a:r>
            <a:r>
              <a:rPr baseline="30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B. The sorting step dominates the running time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Google Shape;4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26"/>
          <p:cNvSpPr/>
          <p:nvPr/>
        </p:nvSpPr>
        <p:spPr>
          <a:xfrm>
            <a:off x="371879" y="732580"/>
            <a:ext cx="860230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Multiple choice Questions</a:t>
            </a:r>
            <a:endParaRPr b="1" sz="2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4" name="Google Shape;434;p26"/>
          <p:cNvCxnSpPr/>
          <p:nvPr/>
        </p:nvCxnSpPr>
        <p:spPr>
          <a:xfrm>
            <a:off x="-8308" y="1316458"/>
            <a:ext cx="9008617" cy="15953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5" name="Google Shape;435;p26"/>
          <p:cNvSpPr/>
          <p:nvPr/>
        </p:nvSpPr>
        <p:spPr>
          <a:xfrm>
            <a:off x="393111" y="252240"/>
            <a:ext cx="7497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Design and Analysis of Algorithms</a:t>
            </a:r>
            <a:endParaRPr b="1" sz="32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36" name="Google Shape;436;p2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37" name="Google Shape;437;p2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Difference between Linked List and Arrays" id="438" name="Google Shape;438;p26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https://media.geeksforgeeks.org/wp-content/cdn-uploads/gq/2013/03/Linkedlist.png" id="439" name="Google Shape;439;p26"/>
          <p:cNvSpPr/>
          <p:nvPr/>
        </p:nvSpPr>
        <p:spPr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6"/>
          <p:cNvSpPr/>
          <p:nvPr/>
        </p:nvSpPr>
        <p:spPr>
          <a:xfrm>
            <a:off x="605117" y="1510994"/>
            <a:ext cx="10179423" cy="415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 following statements correctly explains why presorting helps solve many algorithmic problems efficiently?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Sorting reduces the input size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Sorting eliminates duplicate elements automatically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 Sorting places related elements together, simplifying later processing</a:t>
            </a:r>
            <a:b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 Sorting reduces the number of comparisons to constant time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 C. Sorting places related elements together, simplifying later processing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1" name="Google Shape;44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9" y="181253"/>
            <a:ext cx="1600199" cy="80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7"/>
          <p:cNvSpPr/>
          <p:nvPr/>
        </p:nvSpPr>
        <p:spPr>
          <a:xfrm>
            <a:off x="5667375" y="2566988"/>
            <a:ext cx="4603750" cy="665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C55A1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Dinesh Singh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Science &amp; Engineering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7"/>
          <p:cNvSpPr/>
          <p:nvPr/>
        </p:nvSpPr>
        <p:spPr>
          <a:xfrm>
            <a:off x="5680075" y="3127375"/>
            <a:ext cx="5256213" cy="603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8" name="Google Shape;44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0739" y="2334597"/>
            <a:ext cx="3150920" cy="17129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9" name="Google Shape;449;p27"/>
          <p:cNvCxnSpPr/>
          <p:nvPr/>
        </p:nvCxnSpPr>
        <p:spPr>
          <a:xfrm>
            <a:off x="4994108" y="3339537"/>
            <a:ext cx="4583156" cy="27277"/>
          </a:xfrm>
          <a:prstGeom prst="straightConnector1">
            <a:avLst/>
          </a:prstGeom>
          <a:noFill/>
          <a:ln cap="flat" cmpd="sng" w="38100">
            <a:solidFill>
              <a:srgbClr val="C55A1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2020-06-03T14:19:11Z</dcterms:created>
  <dc:creator>Krishna Venkataram</dc:creator>
</cp:coreProperties>
</file>