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57" r:id="rId2"/>
    <p:sldId id="358" r:id="rId3"/>
    <p:sldId id="430" r:id="rId4"/>
    <p:sldId id="431" r:id="rId5"/>
    <p:sldId id="432" r:id="rId6"/>
    <p:sldId id="433" r:id="rId7"/>
    <p:sldId id="435" r:id="rId8"/>
    <p:sldId id="436" r:id="rId9"/>
    <p:sldId id="437" r:id="rId10"/>
    <p:sldId id="438" r:id="rId11"/>
    <p:sldId id="440" r:id="rId12"/>
    <p:sldId id="444" r:id="rId13"/>
    <p:sldId id="441" r:id="rId14"/>
    <p:sldId id="442" r:id="rId15"/>
    <p:sldId id="443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398" r:id="rId2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A0341-2F63-47B2-9E60-5F81B062F40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A8CE8-D711-4D60-B3DC-D134696A3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6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859;g16597ac8331_4_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sz="1200" smtClean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860;g16597ac8331_4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4381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DFE3490-CF8C-4FDE-9D71-2170861F2A61}"/>
              </a:ext>
            </a:extLst>
          </p:cNvPr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Design and Analysis of Algorithms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 smtClean="0"/>
              <a:t>Dinesh</a:t>
            </a:r>
            <a:r>
              <a:rPr lang="en-IN" sz="2400" b="1" dirty="0" smtClean="0"/>
              <a:t>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 &amp; </a:t>
            </a:r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52209"/>
            <a:ext cx="3469341" cy="19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DFE3490-CF8C-4FDE-9D71-2170861F2A61}"/>
              </a:ext>
            </a:extLst>
          </p:cNvPr>
          <p:cNvSpPr/>
          <p:nvPr/>
        </p:nvSpPr>
        <p:spPr>
          <a:xfrm>
            <a:off x="592646" y="1633896"/>
            <a:ext cx="87279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4CEFAD4-E477-4E46-B5A6-ADB26E6A2863}"/>
              </a:ext>
            </a:extLst>
          </p:cNvPr>
          <p:cNvSpPr/>
          <p:nvPr/>
        </p:nvSpPr>
        <p:spPr>
          <a:xfrm>
            <a:off x="598882" y="2888778"/>
            <a:ext cx="10494942" cy="1582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 smtClean="0">
                <a:solidFill>
                  <a:srgbClr val="2E5395"/>
                </a:solidFill>
                <a:cs typeface="Calibri"/>
              </a:rPr>
              <a:t>B TREES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3600" b="1" dirty="0" smtClean="0">
              <a:solidFill>
                <a:srgbClr val="2E5395"/>
              </a:solidFill>
              <a:cs typeface="Calibri"/>
            </a:endParaRPr>
          </a:p>
          <a:p>
            <a:r>
              <a:rPr lang="en-IN" sz="2400" b="1" dirty="0" smtClean="0"/>
              <a:t>From Data Structures and</a:t>
            </a:r>
            <a:r>
              <a:rPr lang="en-IN" sz="2400" b="1" dirty="0"/>
              <a:t> </a:t>
            </a:r>
            <a:r>
              <a:rPr lang="en-IN" sz="2400" b="1" dirty="0" smtClean="0"/>
              <a:t>Program Design - Robert </a:t>
            </a:r>
            <a:r>
              <a:rPr lang="en-IN" sz="2400" b="1" dirty="0"/>
              <a:t>L. </a:t>
            </a:r>
            <a:r>
              <a:rPr lang="en-IN" sz="2400" b="1" dirty="0" smtClean="0"/>
              <a:t>Kruse,  Alexander J</a:t>
            </a:r>
            <a:r>
              <a:rPr lang="en-IN" sz="2400" b="1" dirty="0"/>
              <a:t>. </a:t>
            </a:r>
            <a:r>
              <a:rPr lang="en-IN" sz="2400" b="1" dirty="0" err="1" smtClean="0"/>
              <a:t>Ryba</a:t>
            </a:r>
            <a:r>
              <a:rPr lang="en-IN" sz="2400" b="1" dirty="0" smtClean="0"/>
              <a:t> </a:t>
            </a:r>
            <a:endParaRPr lang="en-IN" sz="2400" b="1" dirty="0"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85D8B7B-5B60-4808-A096-FB24198F96E9}"/>
              </a:ext>
            </a:extLst>
          </p:cNvPr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 smtClean="0"/>
              <a:t>Dinesh</a:t>
            </a:r>
            <a:r>
              <a:rPr lang="en-IN" sz="2400" b="1" dirty="0" smtClean="0"/>
              <a:t>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43662B4-0C28-4203-AEB1-4CC1644B8226}"/>
              </a:ext>
            </a:extLst>
          </p:cNvPr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Department of </a:t>
            </a:r>
            <a:r>
              <a:rPr lang="en-US" sz="2000" dirty="0" smtClean="0"/>
              <a:t>Computer Science &amp; </a:t>
            </a:r>
            <a:r>
              <a:rPr lang="en-US" sz="2000" dirty="0"/>
              <a:t>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868710"/>
            <a:ext cx="99687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10" dirty="0">
                <a:ea typeface="Times New Roman" panose="02020603050405020304" pitchFamily="18" charset="0"/>
              </a:rPr>
              <a:t>A B-tree of order m is an m-way search </a:t>
            </a:r>
            <a:r>
              <a:rPr lang="en-US" sz="2400" spc="10" dirty="0" smtClean="0">
                <a:ea typeface="Times New Roman" panose="02020603050405020304" pitchFamily="18" charset="0"/>
              </a:rPr>
              <a:t>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spc="10" dirty="0" smtClean="0"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10" dirty="0" smtClean="0">
                <a:ea typeface="Times New Roman" panose="02020603050405020304" pitchFamily="18" charset="0"/>
              </a:rPr>
              <a:t>Each </a:t>
            </a:r>
            <a:r>
              <a:rPr lang="en-US" sz="2400" spc="10" dirty="0">
                <a:ea typeface="Times New Roman" panose="02020603050405020304" pitchFamily="18" charset="0"/>
              </a:rPr>
              <a:t>node can store multiple keys and </a:t>
            </a:r>
            <a:r>
              <a:rPr lang="en-US" sz="2400" spc="10" dirty="0" smtClean="0">
                <a:ea typeface="Times New Roman" panose="02020603050405020304" pitchFamily="18" charset="0"/>
              </a:rPr>
              <a:t>children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spc="10" dirty="0" smtClean="0"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10" dirty="0" smtClean="0">
                <a:ea typeface="Times New Roman" panose="02020603050405020304" pitchFamily="18" charset="0"/>
              </a:rPr>
              <a:t>Designed </a:t>
            </a:r>
            <a:r>
              <a:rPr lang="en-US" sz="2400" spc="10" dirty="0">
                <a:ea typeface="Times New Roman" panose="02020603050405020304" pitchFamily="18" charset="0"/>
              </a:rPr>
              <a:t>for efficient disk-based storage and </a:t>
            </a:r>
            <a:r>
              <a:rPr lang="en-US" sz="2400" spc="10" dirty="0" smtClean="0">
                <a:ea typeface="Times New Roman" panose="02020603050405020304" pitchFamily="18" charset="0"/>
              </a:rPr>
              <a:t>retrieval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spc="10" dirty="0" smtClean="0"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10" dirty="0" smtClean="0">
                <a:ea typeface="Times New Roman" panose="02020603050405020304" pitchFamily="18" charset="0"/>
              </a:rPr>
              <a:t>Reduces </a:t>
            </a:r>
            <a:r>
              <a:rPr lang="en-US" sz="2400" spc="10" dirty="0">
                <a:ea typeface="Times New Roman" panose="02020603050405020304" pitchFamily="18" charset="0"/>
              </a:rPr>
              <a:t>tree height by storing more data per </a:t>
            </a:r>
            <a:r>
              <a:rPr lang="en-US" sz="2400" spc="10" dirty="0" smtClean="0">
                <a:ea typeface="Times New Roman" panose="02020603050405020304" pitchFamily="18" charset="0"/>
              </a:rPr>
              <a:t>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spc="10" dirty="0" smtClean="0"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10" dirty="0" smtClean="0">
                <a:ea typeface="Times New Roman" panose="02020603050405020304" pitchFamily="18" charset="0"/>
              </a:rPr>
              <a:t>Widely </a:t>
            </a:r>
            <a:r>
              <a:rPr lang="en-US" sz="2400" spc="10" dirty="0">
                <a:ea typeface="Times New Roman" panose="02020603050405020304" pitchFamily="18" charset="0"/>
              </a:rPr>
              <a:t>used in databases and file systems</a:t>
            </a:r>
            <a:endParaRPr lang="en-IN" sz="2400" spc="10" dirty="0">
              <a:solidFill>
                <a:srgbClr val="273239"/>
              </a:solidFill>
              <a:ea typeface="Times New Roman" panose="02020603050405020304" pitchFamily="18" charset="0"/>
            </a:endParaRPr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4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05641"/>
            <a:ext cx="996874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Properties of B-Tree </a:t>
            </a:r>
            <a:r>
              <a:rPr lang="en-US" sz="2400" b="1" dirty="0" smtClean="0"/>
              <a:t>of order m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All </a:t>
            </a:r>
            <a:r>
              <a:rPr lang="en-US" sz="2000" dirty="0"/>
              <a:t>leaves are at the same </a:t>
            </a:r>
            <a:r>
              <a:rPr lang="en-US" sz="2000" dirty="0" smtClean="0"/>
              <a:t>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Ensures </a:t>
            </a:r>
            <a:r>
              <a:rPr lang="en-US" sz="2000" dirty="0"/>
              <a:t>balanced </a:t>
            </a:r>
            <a:r>
              <a:rPr lang="en-US" sz="2000" dirty="0" smtClean="0"/>
              <a:t>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Every </a:t>
            </a:r>
            <a:r>
              <a:rPr lang="en-US" sz="2000" dirty="0"/>
              <a:t>internal node (except root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Has </a:t>
            </a:r>
            <a:r>
              <a:rPr lang="en-US" sz="2000" dirty="0"/>
              <a:t>at most m </a:t>
            </a:r>
            <a:r>
              <a:rPr lang="en-US" sz="2000" dirty="0" smtClean="0"/>
              <a:t>children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Has </a:t>
            </a:r>
            <a:r>
              <a:rPr lang="en-US" sz="2000" dirty="0"/>
              <a:t>at least </a:t>
            </a:r>
            <a:r>
              <a:rPr lang="en-US" sz="2000" dirty="0" smtClean="0"/>
              <a:t>⌈ m/2 ⌉ children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Number </a:t>
            </a:r>
            <a:r>
              <a:rPr lang="en-US" sz="2000" dirty="0"/>
              <a:t>of keys in a node: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One less than number of </a:t>
            </a:r>
            <a:r>
              <a:rPr lang="en-US" sz="2000" dirty="0" smtClean="0"/>
              <a:t>children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Root </a:t>
            </a:r>
            <a:r>
              <a:rPr lang="en-US" sz="2000" dirty="0"/>
              <a:t>node: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have at most m children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have as few as 2 children (if not a leaf)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a single node </a:t>
            </a:r>
            <a:r>
              <a:rPr lang="en-US" sz="2000" dirty="0" smtClean="0"/>
              <a:t>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Leaf </a:t>
            </a:r>
            <a:r>
              <a:rPr lang="en-US" sz="2000" dirty="0"/>
              <a:t>nodes</a:t>
            </a:r>
            <a:r>
              <a:rPr lang="en-US" sz="2000" dirty="0" smtClean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Contain </a:t>
            </a:r>
            <a:r>
              <a:rPr lang="en-US" sz="2000" dirty="0"/>
              <a:t>only keys (no children</a:t>
            </a:r>
            <a:r>
              <a:rPr lang="en-US" sz="2000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Number </a:t>
            </a:r>
            <a:r>
              <a:rPr lang="en-US" sz="2000" dirty="0"/>
              <a:t>of keys in a leaf node</a:t>
            </a:r>
            <a:r>
              <a:rPr lang="en-US" sz="2000" dirty="0" smtClean="0"/>
              <a:t>: Maximum</a:t>
            </a:r>
            <a:r>
              <a:rPr lang="en-US" sz="2000" dirty="0"/>
              <a:t>: </a:t>
            </a:r>
            <a:r>
              <a:rPr lang="en-US" sz="2000" dirty="0" smtClean="0"/>
              <a:t>m-1 , </a:t>
            </a:r>
            <a:r>
              <a:rPr lang="en-US" sz="2000" dirty="0"/>
              <a:t> </a:t>
            </a:r>
            <a:r>
              <a:rPr lang="en-US" sz="2000" dirty="0" smtClean="0"/>
              <a:t>Minimum</a:t>
            </a:r>
            <a:r>
              <a:rPr lang="en-US" sz="2000" dirty="0"/>
              <a:t>: ⌈𝑚/2⌉−</a:t>
            </a:r>
            <a:r>
              <a:rPr lang="en-US" sz="2000" dirty="0" smtClean="0"/>
              <a:t>1 (except </a:t>
            </a:r>
            <a:r>
              <a:rPr lang="en-US" sz="2000" dirty="0"/>
              <a:t>root)</a:t>
            </a:r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7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868710"/>
            <a:ext cx="9968748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/>
              <a:t>Insertion in B-Tree – </a:t>
            </a:r>
            <a:r>
              <a:rPr lang="en-IN" sz="2200" b="1" dirty="0" smtClean="0"/>
              <a:t>Overview</a:t>
            </a:r>
          </a:p>
          <a:p>
            <a:endParaRPr lang="en-US" sz="22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B-trees grow from the </a:t>
            </a:r>
            <a:r>
              <a:rPr lang="en-US" sz="2200" dirty="0" smtClean="0"/>
              <a:t>root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Unlike </a:t>
            </a:r>
            <a:r>
              <a:rPr lang="en-US" sz="2200" dirty="0"/>
              <a:t>BSTs</a:t>
            </a:r>
            <a:r>
              <a:rPr lang="en-US" sz="2200" dirty="0" smtClean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Growth </a:t>
            </a:r>
            <a:r>
              <a:rPr lang="en-US" sz="2200" dirty="0"/>
              <a:t>is not at </a:t>
            </a:r>
            <a:r>
              <a:rPr lang="en-US" sz="2200" dirty="0" smtClean="0"/>
              <a:t>leaves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Height </a:t>
            </a:r>
            <a:r>
              <a:rPr lang="en-US" sz="2200" dirty="0"/>
              <a:t>increases only at </a:t>
            </a:r>
            <a:r>
              <a:rPr lang="en-US" sz="2200" dirty="0" smtClean="0"/>
              <a:t>root</a:t>
            </a:r>
          </a:p>
          <a:p>
            <a:pPr lvl="2"/>
            <a:endParaRPr lang="en-US" sz="2200" dirty="0"/>
          </a:p>
          <a:p>
            <a:r>
              <a:rPr lang="en-US" sz="2200" b="1" dirty="0" smtClean="0"/>
              <a:t>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Search </a:t>
            </a:r>
            <a:r>
              <a:rPr lang="en-US" sz="2200" dirty="0"/>
              <a:t>for the position of new key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If key not present: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Search ends at a leaf node</a:t>
            </a:r>
          </a:p>
          <a:p>
            <a:pPr lvl="1"/>
            <a:endParaRPr lang="en-US" sz="20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6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868710"/>
            <a:ext cx="9968748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Insert </a:t>
            </a:r>
            <a:r>
              <a:rPr lang="en-US" sz="2200" b="1" dirty="0"/>
              <a:t>into Leaf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If leaf node is not full: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Insert key in sorted order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Process </a:t>
            </a:r>
            <a:r>
              <a:rPr lang="en-US" sz="2200" dirty="0" smtClean="0"/>
              <a:t>completes</a:t>
            </a:r>
          </a:p>
          <a:p>
            <a:pPr lvl="1"/>
            <a:endParaRPr lang="en-US" sz="2200" dirty="0" smtClean="0"/>
          </a:p>
          <a:p>
            <a:r>
              <a:rPr lang="en-US" sz="2200" b="1" dirty="0" smtClean="0"/>
              <a:t>Handling </a:t>
            </a:r>
            <a:r>
              <a:rPr lang="en-US" sz="2200" b="1" dirty="0"/>
              <a:t>Overflow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If node is full: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Split node into two nodes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Split happens at median key</a:t>
            </a:r>
          </a:p>
          <a:p>
            <a:pPr lvl="1"/>
            <a:endParaRPr lang="en-US" sz="2200" dirty="0"/>
          </a:p>
          <a:p>
            <a:pPr lvl="1"/>
            <a:endParaRPr lang="en-US" dirty="0"/>
          </a:p>
          <a:p>
            <a:pPr lvl="1"/>
            <a:endParaRPr lang="en-US" sz="20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4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Node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Median key is: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NOT kept in either node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Moved up to parent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Remaining keys: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Distributed to left and right nodes</a:t>
            </a:r>
          </a:p>
          <a:p>
            <a:r>
              <a:rPr lang="en-US" sz="2200" b="1" dirty="0" smtClean="0"/>
              <a:t>Propagation Upward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Parent may also become full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Splitting may propagate upward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Process continues recursively</a:t>
            </a:r>
          </a:p>
          <a:p>
            <a:r>
              <a:rPr lang="en-US" sz="2200" b="1" dirty="0" smtClean="0"/>
              <a:t>Root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If root is full: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Root is split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Median becomes new root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</a:t>
            </a:r>
            <a:r>
              <a:rPr lang="en-US" sz="2200" dirty="0" smtClean="0"/>
              <a:t>eight increases</a:t>
            </a:r>
          </a:p>
          <a:p>
            <a:endParaRPr lang="en-US" sz="2200" dirty="0" smtClean="0"/>
          </a:p>
          <a:p>
            <a:pPr lvl="1"/>
            <a:endParaRPr lang="en-US" sz="22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393111" y="1513221"/>
            <a:ext cx="10485560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 smtClean="0"/>
          </a:p>
          <a:p>
            <a:endParaRPr lang="en-IN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9588" y="1426316"/>
            <a:ext cx="995082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dirty="0" smtClean="0"/>
              <a:t>Insert the following keys into a B Tree of order m=5</a:t>
            </a:r>
          </a:p>
          <a:p>
            <a:pPr lvl="0"/>
            <a:r>
              <a:rPr lang="pt-BR" sz="2400" i="1" dirty="0" smtClean="0"/>
              <a:t>a,g, f, b, k, d, h, m, j, e, s, i, r, x, c, l, n, t, u, p.</a:t>
            </a:r>
          </a:p>
          <a:p>
            <a:pPr lvl="0"/>
            <a:endParaRPr lang="en-IN" sz="2400" b="1" dirty="0"/>
          </a:p>
          <a:p>
            <a:pPr lvl="0" fontAlgn="base"/>
            <a:r>
              <a:rPr lang="en" sz="2400" dirty="0">
                <a:solidFill>
                  <a:schemeClr val="dk1"/>
                </a:solidFill>
              </a:rPr>
              <a:t>		</a:t>
            </a:r>
            <a:endParaRPr lang="en-IN" sz="2400" b="1" dirty="0"/>
          </a:p>
          <a:p>
            <a:pPr lvl="0" fontAlgn="base"/>
            <a:endParaRPr lang="en-IN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824" y="2999708"/>
            <a:ext cx="7756392" cy="33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6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393111" y="1513221"/>
            <a:ext cx="10485560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 smtClean="0"/>
          </a:p>
          <a:p>
            <a:endParaRPr lang="en-IN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9588" y="1426316"/>
            <a:ext cx="99508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/>
            <a:r>
              <a:rPr lang="en" sz="2400" dirty="0">
                <a:solidFill>
                  <a:schemeClr val="dk1"/>
                </a:solidFill>
              </a:rPr>
              <a:t>		</a:t>
            </a:r>
            <a:endParaRPr lang="en-IN" sz="2400" b="1" dirty="0"/>
          </a:p>
          <a:p>
            <a:pPr lvl="0" fontAlgn="base"/>
            <a:endParaRPr lang="en-IN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62" y="2293686"/>
            <a:ext cx="9288649" cy="38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0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393111" y="1513221"/>
            <a:ext cx="10485560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 smtClean="0"/>
          </a:p>
          <a:p>
            <a:endParaRPr lang="en-IN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9588" y="1426316"/>
            <a:ext cx="99508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/>
            <a:r>
              <a:rPr lang="en" sz="2400" dirty="0">
                <a:solidFill>
                  <a:schemeClr val="dk1"/>
                </a:solidFill>
              </a:rPr>
              <a:t>		</a:t>
            </a:r>
            <a:endParaRPr lang="en-IN" sz="2400" b="1" dirty="0"/>
          </a:p>
          <a:p>
            <a:pPr lvl="0" fontAlgn="base"/>
            <a:endParaRPr lang="en-IN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59" y="2711320"/>
            <a:ext cx="7621188" cy="279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Deletion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Deletion in B-Trees is more complex than insertion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Goal: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 B-tree properties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Ensure minimum occupancy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Deletion always targets a leaf node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Case 1 : If </a:t>
            </a:r>
            <a:r>
              <a:rPr lang="en-US" sz="2000" b="1" dirty="0"/>
              <a:t>the key is in an internal node: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Replace it with: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Immediate predecessor, or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Immediate successor </a:t>
            </a:r>
            <a:endParaRPr lang="en-US" sz="20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immediate predecessor (or successor</a:t>
            </a:r>
            <a:r>
              <a:rPr lang="en-IN" sz="2000" dirty="0" smtClean="0"/>
              <a:t>) </a:t>
            </a:r>
            <a:r>
              <a:rPr lang="en-US" sz="2000" dirty="0" smtClean="0"/>
              <a:t>is </a:t>
            </a:r>
            <a:r>
              <a:rPr lang="en-US" sz="2000" dirty="0"/>
              <a:t>guaranteed to be in a leaf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Then delete from the leaf </a:t>
            </a:r>
            <a:r>
              <a:rPr lang="en-US" sz="2000" dirty="0" smtClean="0"/>
              <a:t>node</a:t>
            </a:r>
            <a:endParaRPr lang="en-US" sz="22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Case </a:t>
            </a:r>
            <a:r>
              <a:rPr lang="en-US" sz="2000" b="1" dirty="0" smtClean="0"/>
              <a:t>2 – </a:t>
            </a:r>
            <a:r>
              <a:rPr lang="en-US" sz="2000" b="1" dirty="0"/>
              <a:t>Deletion from Leaf (No Underflow</a:t>
            </a:r>
            <a:r>
              <a:rPr lang="en-US" sz="2000" b="1" dirty="0" smtClean="0"/>
              <a:t>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leaf has more than minimum entries: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Simply delete the key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further action </a:t>
            </a:r>
            <a:r>
              <a:rPr lang="en-US" sz="2000" dirty="0" smtClean="0"/>
              <a:t>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 smtClean="0"/>
              <a:t>                                       Case 1 and 2 :  Deleting r (internal node ) and h (leaf node)</a:t>
            </a:r>
            <a:endParaRPr lang="en-US" sz="2000" b="1" dirty="0"/>
          </a:p>
          <a:p>
            <a:endParaRPr lang="en-US" sz="2000" b="1" dirty="0" smtClean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60" y="3108819"/>
            <a:ext cx="6294864" cy="272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4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Case </a:t>
            </a:r>
            <a:r>
              <a:rPr lang="en-US" sz="2000" b="1" dirty="0"/>
              <a:t>3</a:t>
            </a:r>
            <a:r>
              <a:rPr lang="en-US" sz="2000" b="1" dirty="0" smtClean="0"/>
              <a:t> </a:t>
            </a:r>
            <a:r>
              <a:rPr lang="en-US" sz="2000" b="1" dirty="0"/>
              <a:t>– Leaf has Minimum </a:t>
            </a:r>
            <a:r>
              <a:rPr lang="en-US" sz="2000" b="1" dirty="0" smtClean="0"/>
              <a:t>Entries</a:t>
            </a:r>
          </a:p>
          <a:p>
            <a:endParaRPr lang="en-US" sz="2000" dirty="0"/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000" dirty="0"/>
              <a:t>If deletion causes underflow: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Check adjacent sibling nodes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000" dirty="0"/>
              <a:t>Two possibilities: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Borrow (Redistribution)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Merge (Combination</a:t>
            </a:r>
            <a:r>
              <a:rPr lang="en-US" sz="2000" dirty="0" smtClean="0"/>
              <a:t>)</a:t>
            </a:r>
          </a:p>
          <a:p>
            <a:pPr marL="171450" lvl="1"/>
            <a:endParaRPr lang="en-US" sz="2000" dirty="0"/>
          </a:p>
          <a:p>
            <a:r>
              <a:rPr lang="en-US" sz="2000" b="1" dirty="0"/>
              <a:t>Case </a:t>
            </a:r>
            <a:r>
              <a:rPr lang="en-US" sz="2000" b="1" dirty="0" smtClean="0"/>
              <a:t>3A </a:t>
            </a:r>
            <a:r>
              <a:rPr lang="en-US" sz="2000" b="1" dirty="0"/>
              <a:t>– Redistribution (Borrowing)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sibling has more than minimum entries: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Move one key from sibling to parent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Move parent key to current node </a:t>
            </a:r>
          </a:p>
          <a:p>
            <a:pPr lvl="1"/>
            <a:endParaRPr lang="en-US" sz="22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332" y="2151242"/>
            <a:ext cx="6586447" cy="2165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04916" y="4427670"/>
            <a:ext cx="2194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Case </a:t>
            </a:r>
            <a:r>
              <a:rPr lang="en-US" b="1" dirty="0" smtClean="0"/>
              <a:t>3A  - Deleting 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61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en-US" sz="2000" dirty="0"/>
          </a:p>
          <a:p>
            <a:r>
              <a:rPr lang="en-US" sz="2000" b="1" dirty="0"/>
              <a:t>Case </a:t>
            </a:r>
            <a:r>
              <a:rPr lang="en-US" sz="2000" b="1" dirty="0" smtClean="0"/>
              <a:t>3B </a:t>
            </a:r>
            <a:r>
              <a:rPr lang="en-US" sz="2000" b="1" dirty="0"/>
              <a:t>– Merging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sibling has minimum entries: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Merge: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Current node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Sibling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One key from parent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Forms a single node </a:t>
            </a:r>
          </a:p>
          <a:p>
            <a:pPr marL="114300"/>
            <a:endParaRPr lang="en-US" sz="2000" dirty="0"/>
          </a:p>
          <a:p>
            <a:pPr lvl="1"/>
            <a:endParaRPr lang="en-US" sz="22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46" y="2350365"/>
            <a:ext cx="7400455" cy="262135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19119" y="5153808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Case </a:t>
            </a:r>
            <a:r>
              <a:rPr lang="en-US" b="1" dirty="0" smtClean="0"/>
              <a:t>3B  - Deleting 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7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Effect of </a:t>
            </a:r>
            <a:r>
              <a:rPr lang="en-US" sz="2000" b="1" dirty="0" smtClean="0"/>
              <a:t>Merge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Parent loses one key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parent now has too few entries: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Problem propagates upward </a:t>
            </a:r>
          </a:p>
          <a:p>
            <a:pPr marL="4572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Cascading </a:t>
            </a:r>
            <a:r>
              <a:rPr lang="en-US" sz="2000" b="1" dirty="0" smtClean="0"/>
              <a:t>Effect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Underflow may continue up the tree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Same process applies: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Borrow or Merge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May reach the </a:t>
            </a:r>
            <a:r>
              <a:rPr lang="en-US" sz="2000" dirty="0" smtClean="0"/>
              <a:t>root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height </a:t>
            </a:r>
            <a:r>
              <a:rPr lang="en-US" sz="2000" dirty="0"/>
              <a:t>of the tree decreases.</a:t>
            </a:r>
          </a:p>
          <a:p>
            <a:endParaRPr lang="en-US" sz="22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06" y="2151242"/>
            <a:ext cx="6786611" cy="354910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19119" y="5933734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Case </a:t>
            </a:r>
            <a:r>
              <a:rPr lang="en-US" b="1" dirty="0" smtClean="0"/>
              <a:t>3B  - Deleting 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03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 Trees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Time Complexity </a:t>
            </a:r>
          </a:p>
          <a:p>
            <a:r>
              <a:rPr lang="en-IN" sz="2200" b="1" dirty="0" smtClean="0"/>
              <a:t>Insertion </a:t>
            </a:r>
          </a:p>
          <a:p>
            <a:r>
              <a:rPr lang="en-IN" sz="2200" dirty="0" smtClean="0"/>
              <a:t>Search </a:t>
            </a:r>
            <a:r>
              <a:rPr lang="en-IN" sz="2200" dirty="0"/>
              <a:t>for position → </a:t>
            </a:r>
            <a:r>
              <a:rPr lang="el-GR" sz="2200" dirty="0" smtClean="0"/>
              <a:t>ϴ</a:t>
            </a:r>
            <a:r>
              <a:rPr lang="en-IN" sz="2200" dirty="0" smtClean="0"/>
              <a:t>(log </a:t>
            </a:r>
            <a:r>
              <a:rPr lang="en-IN" sz="2200" dirty="0"/>
              <a:t>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Insert in leaf → </a:t>
            </a:r>
            <a:r>
              <a:rPr lang="el-GR" sz="2200" dirty="0"/>
              <a:t>ϴ</a:t>
            </a:r>
            <a:r>
              <a:rPr lang="en-IN" sz="2200" dirty="0" smtClean="0"/>
              <a:t>(1</a:t>
            </a:r>
            <a:r>
              <a:rPr lang="en-IN" sz="2200" dirty="0"/>
              <a:t>) </a:t>
            </a:r>
            <a:r>
              <a:rPr lang="en-IN" sz="2200" dirty="0" smtClean="0"/>
              <a:t> </a:t>
            </a: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Splits may propagate upward → at most height = </a:t>
            </a:r>
            <a:r>
              <a:rPr lang="el-GR" sz="2200" dirty="0"/>
              <a:t>ϴ</a:t>
            </a:r>
            <a:r>
              <a:rPr lang="en-IN" sz="2200" dirty="0" smtClean="0"/>
              <a:t>(log </a:t>
            </a:r>
            <a:r>
              <a:rPr lang="en-IN" sz="2200" dirty="0"/>
              <a:t>n</a:t>
            </a:r>
            <a:r>
              <a:rPr lang="en-IN" sz="22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r>
              <a:rPr lang="en-IN" sz="2200" dirty="0" smtClean="0"/>
              <a:t>Final Complexity : </a:t>
            </a:r>
            <a:r>
              <a:rPr lang="el-GR" sz="2200" dirty="0"/>
              <a:t>ϴ</a:t>
            </a:r>
            <a:r>
              <a:rPr lang="en-IN" sz="2200" dirty="0" smtClean="0"/>
              <a:t>(log </a:t>
            </a:r>
            <a:r>
              <a:rPr lang="en-IN" sz="2200" dirty="0"/>
              <a:t>n</a:t>
            </a:r>
            <a:r>
              <a:rPr lang="en-IN" sz="2200" dirty="0" smtClean="0"/>
              <a:t>)</a:t>
            </a:r>
          </a:p>
          <a:p>
            <a:endParaRPr lang="en-US" sz="2200" b="1" dirty="0" smtClean="0"/>
          </a:p>
          <a:p>
            <a:r>
              <a:rPr lang="en-US" sz="2200" b="1" dirty="0" smtClean="0"/>
              <a:t>Deletion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Search for key → </a:t>
            </a:r>
            <a:r>
              <a:rPr lang="el-GR" sz="2200" dirty="0"/>
              <a:t>ϴ</a:t>
            </a:r>
            <a:r>
              <a:rPr lang="en-US" sz="2200" dirty="0"/>
              <a:t>(log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Replace (if internal node) → </a:t>
            </a:r>
            <a:r>
              <a:rPr lang="el-GR" sz="2200" dirty="0"/>
              <a:t>ϴ</a:t>
            </a:r>
            <a:r>
              <a:rPr lang="en-US" sz="2200" dirty="0"/>
              <a:t>(1)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Borrow / Merge operations → may propagate upward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Maximum levels affected = height = </a:t>
            </a:r>
            <a:r>
              <a:rPr lang="el-GR" sz="2200" dirty="0"/>
              <a:t>ϴ</a:t>
            </a:r>
            <a:r>
              <a:rPr lang="en-US" sz="2200" dirty="0"/>
              <a:t>(log n)</a:t>
            </a:r>
          </a:p>
          <a:p>
            <a:endParaRPr lang="en-US" sz="2200" dirty="0"/>
          </a:p>
          <a:p>
            <a:r>
              <a:rPr lang="en-IN" sz="2200" dirty="0"/>
              <a:t>Final complexity : </a:t>
            </a:r>
            <a:r>
              <a:rPr lang="el-GR" sz="2200" dirty="0"/>
              <a:t>ϴ</a:t>
            </a:r>
            <a:r>
              <a:rPr lang="en-IN" sz="2200" dirty="0"/>
              <a:t>(log n</a:t>
            </a:r>
            <a:r>
              <a:rPr lang="en-IN" sz="2200" dirty="0" smtClean="0"/>
              <a:t>)</a:t>
            </a:r>
            <a:endParaRPr lang="en-US" sz="2200" b="1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0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B-tree of order </a:t>
            </a:r>
            <a:r>
              <a:rPr lang="en-US" sz="2400" dirty="0" smtClean="0"/>
              <a:t>m=6 </a:t>
            </a:r>
            <a:r>
              <a:rPr lang="en-US" sz="2400" dirty="0"/>
              <a:t>is given. What is the minimum number of keys in a non-root internal node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 2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3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4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5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A: </a:t>
            </a:r>
            <a:r>
              <a:rPr lang="en-US" sz="2400" dirty="0"/>
              <a:t>2</a:t>
            </a:r>
            <a:endParaRPr lang="en-US" sz="2400" dirty="0" smtClean="0"/>
          </a:p>
          <a:p>
            <a:pPr marL="457200" indent="-457200">
              <a:buAutoNum type="alphaUcPeriod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9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99687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During insertion in a B-tree, when a node is split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b="1" dirty="0"/>
              <a:t>A.</a:t>
            </a:r>
            <a:r>
              <a:rPr lang="en-US" sz="2400" dirty="0"/>
              <a:t> The largest key is promoted to the parent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The smallest key is promoted to the parent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The median key is promoted to the parent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All keys are redistributed equally without promotion</a:t>
            </a:r>
          </a:p>
          <a:p>
            <a:pPr marL="457200" indent="-457200">
              <a:buAutoNum type="alphaUcPeriod"/>
            </a:pPr>
            <a:endParaRPr lang="en-US" sz="2400" dirty="0" smtClean="0"/>
          </a:p>
          <a:p>
            <a:r>
              <a:rPr lang="en-US" sz="2400" dirty="0" smtClean="0"/>
              <a:t>Answer : C.  </a:t>
            </a:r>
            <a:r>
              <a:rPr lang="en-US" sz="2400" dirty="0"/>
              <a:t>The median key is promoted to the parent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103318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deletion in a B-tree. Which of the following correctly describes redistribution (borrowing</a:t>
            </a:r>
            <a:r>
              <a:rPr lang="en-US" sz="2400" dirty="0" smtClean="0"/>
              <a:t>)?</a:t>
            </a:r>
          </a:p>
          <a:p>
            <a:endParaRPr lang="en-US" sz="2400" dirty="0"/>
          </a:p>
          <a:p>
            <a:r>
              <a:rPr lang="en-US" sz="2400" b="1" dirty="0"/>
              <a:t>A.</a:t>
            </a:r>
            <a:r>
              <a:rPr lang="en-US" sz="2400" dirty="0"/>
              <a:t> A key is moved directly from sibling to the deficient node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A key from parent replaces the deleted key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A key from sibling moves to parent, and parent key moves to deficient node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Two nodes combine and reduce height</a:t>
            </a:r>
          </a:p>
          <a:p>
            <a:endParaRPr lang="en-US" sz="2400" dirty="0" smtClean="0"/>
          </a:p>
          <a:p>
            <a:r>
              <a:rPr lang="en-US" sz="2400" dirty="0" smtClean="0"/>
              <a:t>Answer C: </a:t>
            </a:r>
            <a:r>
              <a:rPr lang="en-US" sz="2400" dirty="0"/>
              <a:t>A key from sibling moves to parent, and parent key moves to deficient node</a:t>
            </a:r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3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103318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 the worst case, deletion in a B-tree may cause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Multiple </a:t>
            </a:r>
            <a:r>
              <a:rPr lang="en-US" sz="2400" dirty="0"/>
              <a:t>node </a:t>
            </a:r>
            <a:r>
              <a:rPr lang="en-US" sz="2400" dirty="0" smtClean="0"/>
              <a:t>splits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</a:t>
            </a:r>
            <a:r>
              <a:rPr lang="en-US" sz="2400" dirty="0"/>
              <a:t>Propagation of underflow up to the </a:t>
            </a:r>
            <a:r>
              <a:rPr lang="en-US" sz="2400" dirty="0" smtClean="0"/>
              <a:t>root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</a:t>
            </a:r>
            <a:r>
              <a:rPr lang="en-US" sz="2400" dirty="0"/>
              <a:t>Increase in tree </a:t>
            </a:r>
            <a:r>
              <a:rPr lang="en-US" sz="2400" dirty="0" smtClean="0"/>
              <a:t>height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 </a:t>
            </a:r>
            <a:r>
              <a:rPr lang="en-US" sz="2400" dirty="0"/>
              <a:t>Violation of search tree </a:t>
            </a:r>
            <a:r>
              <a:rPr lang="en-US" sz="2400" dirty="0" smtClean="0"/>
              <a:t>property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: B. </a:t>
            </a:r>
            <a:r>
              <a:rPr lang="en-US" sz="2400" dirty="0"/>
              <a:t>Propagation of underflow up to the root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endParaRPr lang="en-US" sz="24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1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103318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Which of the following statements is </a:t>
            </a:r>
            <a:r>
              <a:rPr lang="en-US" sz="2400" b="1" dirty="0"/>
              <a:t>TRUE</a:t>
            </a:r>
            <a:r>
              <a:rPr lang="en-US" sz="2400" dirty="0"/>
              <a:t> regarding B-tree insertion and deletion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A.</a:t>
            </a:r>
            <a:r>
              <a:rPr lang="en-US" sz="2400" dirty="0"/>
              <a:t> Both operations may increase tree height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Only insertion may increase tree height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Only deletion may increase tree height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Neither operation affects tree height</a:t>
            </a:r>
          </a:p>
          <a:p>
            <a:endParaRPr lang="en-US" sz="2400" dirty="0" smtClean="0"/>
          </a:p>
          <a:p>
            <a:r>
              <a:rPr lang="en-US" sz="2400" dirty="0" smtClean="0"/>
              <a:t>Answer:  B. </a:t>
            </a:r>
            <a:r>
              <a:rPr lang="en-US" sz="2400" dirty="0"/>
              <a:t>Only insertion may increase tree height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AutoNum type="alphaUcPeriod"/>
            </a:pPr>
            <a:endParaRPr lang="en-US" sz="24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5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0A7DEA-950C-4954-B3B7-2672370FABF4}"/>
              </a:ext>
            </a:extLst>
          </p:cNvPr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Multiple choice Questions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15792" y="1559429"/>
            <a:ext cx="103318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a B-tree of order </a:t>
            </a:r>
            <a:r>
              <a:rPr lang="en-US" sz="2400" dirty="0" smtClean="0"/>
              <a:t>m=4. A </a:t>
            </a:r>
            <a:r>
              <a:rPr lang="en-US" sz="2400" dirty="0"/>
              <a:t>key is deleted from a leaf node that already has the minimum number of keys. Its immediate sibling also has the minimum number of keys. What will happen next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Redistribution </a:t>
            </a:r>
            <a:r>
              <a:rPr lang="en-US" sz="2400" dirty="0"/>
              <a:t>(borrowing) will </a:t>
            </a:r>
            <a:r>
              <a:rPr lang="en-US" sz="2400" dirty="0" smtClean="0"/>
              <a:t>occur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key will be deleted without any structural </a:t>
            </a:r>
            <a:r>
              <a:rPr lang="en-US" sz="2400" dirty="0" smtClean="0"/>
              <a:t>change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node will merge with its sibling and a key from the parent will move </a:t>
            </a:r>
            <a:r>
              <a:rPr lang="en-US" sz="2400" dirty="0" smtClean="0"/>
              <a:t>down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root will always </a:t>
            </a:r>
            <a:r>
              <a:rPr lang="en-US" sz="2400" dirty="0" smtClean="0"/>
              <a:t>split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: C. </a:t>
            </a:r>
            <a:r>
              <a:rPr lang="en-US" sz="2400" dirty="0"/>
              <a:t>The node will merge with its sibling and a key from the parent will move down</a:t>
            </a:r>
          </a:p>
          <a:p>
            <a:endParaRPr lang="en-US" sz="2400" dirty="0"/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9" y="181253"/>
            <a:ext cx="1600199" cy="8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2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862;p148"/>
          <p:cNvSpPr>
            <a:spLocks noChangeArrowheads="1"/>
          </p:cNvSpPr>
          <p:nvPr/>
        </p:nvSpPr>
        <p:spPr bwMode="auto"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THANK </a:t>
            </a:r>
            <a:r>
              <a:rPr lang="en-US" sz="3600" b="1" dirty="0" smtClean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YOU</a:t>
            </a:r>
          </a:p>
          <a:p>
            <a:pPr eaLnBrk="1" hangingPunct="1"/>
            <a:endParaRPr lang="en-US" sz="3600" b="1" dirty="0" smtClean="0">
              <a:solidFill>
                <a:srgbClr val="C55A1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Dinesh Singh</a:t>
            </a: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Department of Computer Science &amp; Engineering</a:t>
            </a:r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268" name="Google Shape;1864;p148"/>
          <p:cNvSpPr>
            <a:spLocks noChangeArrowheads="1"/>
          </p:cNvSpPr>
          <p:nvPr/>
        </p:nvSpPr>
        <p:spPr bwMode="auto"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739" y="2334597"/>
            <a:ext cx="3150920" cy="17129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1EEB87D2-BD33-43D4-B135-6F0E91C4917A}"/>
              </a:ext>
            </a:extLst>
          </p:cNvPr>
          <p:cNvCxnSpPr>
            <a:cxnSpLocks/>
          </p:cNvCxnSpPr>
          <p:nvPr/>
        </p:nvCxnSpPr>
        <p:spPr>
          <a:xfrm>
            <a:off x="4994108" y="3339537"/>
            <a:ext cx="4583156" cy="272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19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1106</Words>
  <Application>Microsoft Office PowerPoint</Application>
  <PresentationFormat>Widescreen</PresentationFormat>
  <Paragraphs>242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Microsoft account</cp:lastModifiedBy>
  <cp:revision>438</cp:revision>
  <cp:lastPrinted>2023-08-29T04:57:39Z</cp:lastPrinted>
  <dcterms:created xsi:type="dcterms:W3CDTF">2020-06-03T14:19:11Z</dcterms:created>
  <dcterms:modified xsi:type="dcterms:W3CDTF">2026-03-23T23:40:19Z</dcterms:modified>
</cp:coreProperties>
</file>