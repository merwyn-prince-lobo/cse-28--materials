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88" r:id="rId5"/>
    <p:sldId id="279" r:id="rId6"/>
    <p:sldId id="278" r:id="rId7"/>
    <p:sldId id="280" r:id="rId8"/>
    <p:sldId id="281" r:id="rId9"/>
    <p:sldId id="282" r:id="rId10"/>
    <p:sldId id="283" r:id="rId11"/>
    <p:sldId id="295" r:id="rId12"/>
    <p:sldId id="289" r:id="rId13"/>
    <p:sldId id="284" r:id="rId14"/>
    <p:sldId id="290" r:id="rId15"/>
    <p:sldId id="291" r:id="rId16"/>
    <p:sldId id="292" r:id="rId17"/>
    <p:sldId id="293" r:id="rId18"/>
    <p:sldId id="294" r:id="rId19"/>
    <p:sldId id="287" r:id="rId20"/>
    <p:sldId id="297" r:id="rId21"/>
    <p:sldId id="296" r:id="rId22"/>
    <p:sldId id="299" r:id="rId23"/>
    <p:sldId id="298" r:id="rId24"/>
    <p:sldId id="301" r:id="rId25"/>
    <p:sldId id="302" r:id="rId26"/>
    <p:sldId id="303" r:id="rId27"/>
    <p:sldId id="304" r:id="rId28"/>
    <p:sldId id="30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35F3C-E135-426E-9386-DAFFC7A8379E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BDB39-AEA8-4726-BAC6-E5A9E1E90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34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859;g16597ac8331_4_0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sz="1200" smtClean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860;g16597ac8331_4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54934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52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4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0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2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48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85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3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6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39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06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87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6EAA-ACE3-4BD7-819F-48D5C743B1B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35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94786" y="33715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Design and Analysis of Algorithms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822259" y="443931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Dinesh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  <a:r>
              <a:rPr lang="en-US" sz="2400" dirty="0" smtClean="0"/>
              <a:t>Computer Science &amp; </a:t>
            </a:r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017898"/>
            <a:ext cx="6449301" cy="9454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92" y="3371567"/>
            <a:ext cx="2454107" cy="12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6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715770"/>
            <a:ext cx="8727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cap="all" dirty="0" smtClean="0"/>
              <a:t>DESIGN AND ANALYSIS OF ALGORITHMS</a:t>
            </a:r>
            <a:endParaRPr lang="en-US" sz="3600" b="1" cap="all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309611" y="2900080"/>
            <a:ext cx="96277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Greedy Technique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Dinesh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Department of </a:t>
            </a:r>
            <a:r>
              <a:rPr lang="en-US" sz="2000" dirty="0" smtClean="0"/>
              <a:t>Computer Science &amp; </a:t>
            </a:r>
            <a:r>
              <a:rPr lang="en-US" sz="2000" dirty="0"/>
              <a:t>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1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b="1" dirty="0"/>
              <a:t>Greedy Approach</a:t>
            </a:r>
          </a:p>
          <a:p>
            <a:pPr lvl="0"/>
            <a:endParaRPr lang="en-US" sz="2400" b="1" dirty="0"/>
          </a:p>
          <a:p>
            <a:r>
              <a:rPr lang="en-US" sz="2400" dirty="0"/>
              <a:t>The greedy approach suggests constructing a solution through a sequence of steps, each expanding a partially constructed solution obtained so far, until a complete solution to the problem is reached.</a:t>
            </a:r>
          </a:p>
          <a:p>
            <a:r>
              <a:rPr lang="en-US" sz="2400" dirty="0"/>
              <a:t>At each step the choice made to expand partially constructed solution must be:</a:t>
            </a:r>
          </a:p>
          <a:p>
            <a:endParaRPr lang="en-US" sz="2400" dirty="0"/>
          </a:p>
          <a:p>
            <a:pPr marL="342900" indent="-342900"/>
            <a:r>
              <a:rPr lang="en-US" sz="2400" b="1" i="1" dirty="0"/>
              <a:t>feasible</a:t>
            </a:r>
            <a:r>
              <a:rPr lang="en-US" sz="2400" b="1" dirty="0"/>
              <a:t>,</a:t>
            </a:r>
            <a:r>
              <a:rPr lang="en-US" sz="2400" dirty="0"/>
              <a:t> i.e., it has to satisfy the problem’s constraints</a:t>
            </a:r>
          </a:p>
          <a:p>
            <a:pPr marL="342900" indent="-342900"/>
            <a:r>
              <a:rPr lang="en-US" sz="2400" b="1" i="1" dirty="0"/>
              <a:t>locally optimal</a:t>
            </a:r>
            <a:r>
              <a:rPr lang="en-US" sz="2400" dirty="0"/>
              <a:t>, i.e., it has to be the best local choice among all feasible choices available on that step</a:t>
            </a:r>
          </a:p>
          <a:p>
            <a:pPr marL="342900" indent="-342900"/>
            <a:r>
              <a:rPr lang="en-US" sz="2400" b="1" i="1" dirty="0"/>
              <a:t>irrevocable</a:t>
            </a:r>
            <a:r>
              <a:rPr lang="en-US" sz="2400" dirty="0"/>
              <a:t>, i.e., once made, it cannot be changed on subsequent steps of the algorithm</a:t>
            </a:r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u="sng" dirty="0"/>
              <a:t>Finding a Minimum Spanning Tree</a:t>
            </a:r>
          </a:p>
          <a:p>
            <a:endParaRPr lang="en-US" sz="2400" b="1" u="sng" dirty="0"/>
          </a:p>
          <a:p>
            <a:r>
              <a:rPr lang="en-US" sz="2400" dirty="0"/>
              <a:t>A </a:t>
            </a:r>
            <a:r>
              <a:rPr lang="en-US" sz="2400" b="1" i="1" dirty="0"/>
              <a:t>spanning tree </a:t>
            </a:r>
            <a:r>
              <a:rPr lang="en-US" sz="2400" dirty="0"/>
              <a:t>of an undirected connected graph is its connected acyclic sub graph (i.e., a tree) that contains all the vertices of the graph. </a:t>
            </a:r>
          </a:p>
          <a:p>
            <a:endParaRPr lang="en-US" sz="2400" dirty="0"/>
          </a:p>
          <a:p>
            <a:r>
              <a:rPr lang="en-US" sz="2400" dirty="0"/>
              <a:t>If such a graph has weights assigned to its edges:</a:t>
            </a:r>
          </a:p>
          <a:p>
            <a:endParaRPr lang="en-US" sz="2400" b="1" dirty="0"/>
          </a:p>
          <a:p>
            <a:r>
              <a:rPr lang="en-US" sz="2400" dirty="0"/>
              <a:t>A </a:t>
            </a:r>
            <a:r>
              <a:rPr lang="en-US" sz="2400" b="1" i="1" dirty="0"/>
              <a:t>minimum spanning tree </a:t>
            </a:r>
            <a:r>
              <a:rPr lang="en-US" sz="2400" dirty="0"/>
              <a:t>is its spanning tree of the smallest weight, where the </a:t>
            </a:r>
            <a:r>
              <a:rPr lang="en-US" sz="2400" b="1" i="1" dirty="0"/>
              <a:t>weight </a:t>
            </a:r>
            <a:r>
              <a:rPr lang="en-US" sz="2400" dirty="0"/>
              <a:t>of a tree is defined as the sum of the weights on all its edges. 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i="1" dirty="0"/>
              <a:t>minimum spanning tree problem </a:t>
            </a:r>
            <a:r>
              <a:rPr lang="en-US" sz="2400" dirty="0"/>
              <a:t>is the problem of finding a minimum spanning tree for a given weighted connected graph</a:t>
            </a:r>
            <a:endParaRPr lang="en-US" sz="2400" b="1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7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12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365" y="1535306"/>
            <a:ext cx="2440834" cy="200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917" y="3745903"/>
            <a:ext cx="7561474" cy="27120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009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400" dirty="0"/>
              <a:t>Find </a:t>
            </a:r>
            <a:r>
              <a:rPr lang="en" sz="2400" b="1" dirty="0"/>
              <a:t>Minimum Spanning Tree </a:t>
            </a:r>
            <a:r>
              <a:rPr lang="en" sz="2400" dirty="0"/>
              <a:t>of the following graph</a:t>
            </a:r>
            <a:endParaRPr lang="en-US" sz="2400" b="1" u="sng" dirty="0"/>
          </a:p>
          <a:p>
            <a:pPr lvl="0"/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12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172" y="2995512"/>
            <a:ext cx="5493700" cy="3738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562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Prims Algorithm</a:t>
            </a:r>
          </a:p>
          <a:p>
            <a:endParaRPr lang="en-US" sz="2400" dirty="0"/>
          </a:p>
          <a:p>
            <a:pPr marL="342900" indent="-342900"/>
            <a:r>
              <a:rPr lang="en-US" sz="2400" dirty="0"/>
              <a:t>Prim’s algorithm constructs a minimum spanning tree through a sequence of expanding </a:t>
            </a:r>
            <a:r>
              <a:rPr lang="en-US" sz="2400" dirty="0" err="1"/>
              <a:t>subtrees</a:t>
            </a:r>
            <a:r>
              <a:rPr lang="en-US" sz="2400" dirty="0"/>
              <a:t>.</a:t>
            </a:r>
          </a:p>
          <a:p>
            <a:pPr marL="342900" indent="-342900"/>
            <a:r>
              <a:rPr lang="en-US" sz="2400" dirty="0"/>
              <a:t>The initial </a:t>
            </a:r>
            <a:r>
              <a:rPr lang="en-US" sz="2400" dirty="0" err="1"/>
              <a:t>subtree</a:t>
            </a:r>
            <a:r>
              <a:rPr lang="en-US" sz="2400" dirty="0"/>
              <a:t> in such a sequence consists of a single vertex selected arbitrarily from the set </a:t>
            </a:r>
            <a:r>
              <a:rPr lang="en-US" sz="2400" i="1" dirty="0"/>
              <a:t>V </a:t>
            </a:r>
            <a:r>
              <a:rPr lang="en-US" sz="2400" dirty="0"/>
              <a:t>of the graph’s vertices</a:t>
            </a:r>
          </a:p>
          <a:p>
            <a:pPr marL="342900" indent="-342900"/>
            <a:r>
              <a:rPr lang="en-US" sz="2400" dirty="0"/>
              <a:t>On each iteration, the algorithm expands the current tree in the greedy manner by simply attaching to it the nearest vertex not in that tree.</a:t>
            </a:r>
          </a:p>
          <a:p>
            <a:pPr marL="342900" indent="-342900"/>
            <a:r>
              <a:rPr lang="en-US" sz="2400" dirty="0"/>
              <a:t>The algorithm stops after all the graph’s vertices have been included in the tree being constructed. Since the algorithm expands a tree by exactly one vertex on each of its iterations, the total number of such iterations is </a:t>
            </a:r>
            <a:r>
              <a:rPr lang="en-US" sz="2400" i="1" dirty="0"/>
              <a:t>n </a:t>
            </a:r>
            <a:r>
              <a:rPr lang="en-US" sz="2400" dirty="0"/>
              <a:t>− 1</a:t>
            </a:r>
            <a:r>
              <a:rPr lang="en-US" sz="2400" i="1" dirty="0"/>
              <a:t>, </a:t>
            </a:r>
            <a:r>
              <a:rPr lang="en-US" sz="2400" dirty="0"/>
              <a:t>where </a:t>
            </a:r>
            <a:r>
              <a:rPr lang="en-US" sz="2400" i="1" dirty="0"/>
              <a:t>n </a:t>
            </a:r>
            <a:r>
              <a:rPr lang="en-US" sz="2400" dirty="0"/>
              <a:t>is the number of vertices in the graph</a:t>
            </a:r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6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12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546823"/>
            <a:ext cx="3906350" cy="25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471" y="1860056"/>
            <a:ext cx="1377083" cy="12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3252" y="1813367"/>
            <a:ext cx="2361500" cy="12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4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608" y="4803822"/>
            <a:ext cx="2730731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4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1600" y="4332160"/>
            <a:ext cx="2913375" cy="23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48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14002" y="4117748"/>
            <a:ext cx="3133729" cy="2333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252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Pseudo Code of Prims Algorithm</a:t>
            </a:r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72" y="2488530"/>
            <a:ext cx="7706663" cy="410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4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Implementation of Prims Algorithm</a:t>
            </a:r>
          </a:p>
          <a:p>
            <a:pPr marL="342900" indent="-342900" algn="just"/>
            <a:r>
              <a:rPr lang="en-US" sz="2400" dirty="0"/>
              <a:t>Each vertex not in the current tree should have the information of its nearest tree vertex and the distance to that </a:t>
            </a:r>
            <a:r>
              <a:rPr lang="en-US" sz="2400" dirty="0" smtClean="0"/>
              <a:t>vertex</a:t>
            </a:r>
          </a:p>
          <a:p>
            <a:pPr marL="0" indent="0" algn="just">
              <a:buNone/>
            </a:pPr>
            <a:endParaRPr lang="en-US" sz="2400" dirty="0"/>
          </a:p>
          <a:p>
            <a:pPr marL="285750" indent="-285750" algn="just"/>
            <a:r>
              <a:rPr lang="en-US" sz="2400" dirty="0"/>
              <a:t>This is provided by attaching two labels to a vertex: the name of the nearest tree vertex and the length (the weight) of the corresponding edge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endParaRPr lang="en-US" sz="2400" dirty="0"/>
          </a:p>
          <a:p>
            <a:pPr marL="342900" indent="-342900" algn="just"/>
            <a:r>
              <a:rPr lang="en-US" sz="2400" dirty="0"/>
              <a:t>Vertices that are not adjacent to any of the tree vertices can be given the </a:t>
            </a:r>
            <a:r>
              <a:rPr lang="en-US" sz="2400" dirty="0">
                <a:solidFill>
                  <a:srgbClr val="FF0000"/>
                </a:solidFill>
              </a:rPr>
              <a:t>∞ </a:t>
            </a:r>
            <a:r>
              <a:rPr lang="en-US" sz="2400" dirty="0"/>
              <a:t>label indicating their </a:t>
            </a:r>
            <a:r>
              <a:rPr lang="en-US" sz="2400" dirty="0">
                <a:solidFill>
                  <a:srgbClr val="FF0000"/>
                </a:solidFill>
              </a:rPr>
              <a:t>“infinite” </a:t>
            </a:r>
            <a:r>
              <a:rPr lang="en-US" sz="2400" dirty="0"/>
              <a:t>distance to the tree vertices and a </a:t>
            </a:r>
            <a:r>
              <a:rPr lang="en-US" sz="2400" dirty="0">
                <a:solidFill>
                  <a:srgbClr val="FF0000"/>
                </a:solidFill>
              </a:rPr>
              <a:t>null </a:t>
            </a:r>
            <a:r>
              <a:rPr lang="en-US" sz="2400" dirty="0"/>
              <a:t>label for the name of the nearest tree vertex.</a:t>
            </a:r>
          </a:p>
          <a:p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5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/>
            <a:r>
              <a:rPr lang="en-US" sz="2400" dirty="0" smtClean="0"/>
              <a:t>Split </a:t>
            </a:r>
            <a:r>
              <a:rPr lang="en-US" sz="2400" dirty="0"/>
              <a:t>the vertices that are not in the tree into two sets, the </a:t>
            </a:r>
            <a:r>
              <a:rPr lang="en-US" sz="2400" dirty="0">
                <a:solidFill>
                  <a:srgbClr val="FF0000"/>
                </a:solidFill>
              </a:rPr>
              <a:t>“fringe</a:t>
            </a:r>
            <a:r>
              <a:rPr lang="en-US" sz="2400" dirty="0"/>
              <a:t>” and the </a:t>
            </a:r>
            <a:r>
              <a:rPr lang="en-US" sz="2400" dirty="0">
                <a:solidFill>
                  <a:srgbClr val="FF0000"/>
                </a:solidFill>
              </a:rPr>
              <a:t>“unseen.” </a:t>
            </a:r>
            <a:r>
              <a:rPr lang="en-US" sz="2400" dirty="0"/>
              <a:t>The fringe contains only the vertices that are not in the tree but are adjacent to at least one tree vertex</a:t>
            </a:r>
            <a:r>
              <a:rPr lang="en-US" sz="2400" dirty="0" smtClean="0"/>
              <a:t>.</a:t>
            </a:r>
          </a:p>
          <a:p>
            <a:pPr marL="342900" indent="-342900" algn="just"/>
            <a:endParaRPr lang="en-US" sz="2400" dirty="0"/>
          </a:p>
          <a:p>
            <a:pPr marL="342900" indent="-342900" algn="just"/>
            <a:r>
              <a:rPr lang="en-US" sz="2400" dirty="0"/>
              <a:t>The fringe vertices are the candidates from which the next tree vertex is selected</a:t>
            </a:r>
            <a:r>
              <a:rPr lang="en-US" sz="2400" dirty="0" smtClean="0"/>
              <a:t>.</a:t>
            </a:r>
          </a:p>
          <a:p>
            <a:pPr marL="342900" indent="-342900" algn="just"/>
            <a:endParaRPr lang="en-US" sz="2400" dirty="0"/>
          </a:p>
          <a:p>
            <a:pPr marL="342900" indent="-342900" algn="just"/>
            <a:r>
              <a:rPr lang="en-US" sz="2400" dirty="0" smtClean="0"/>
              <a:t>The </a:t>
            </a:r>
            <a:r>
              <a:rPr lang="en-US" sz="2400" dirty="0"/>
              <a:t>next vertex U</a:t>
            </a:r>
            <a:r>
              <a:rPr lang="en-US" sz="2400" baseline="30000" dirty="0"/>
              <a:t>* </a:t>
            </a:r>
            <a:r>
              <a:rPr lang="en-US" sz="2400" dirty="0"/>
              <a:t>to be added to the current tree </a:t>
            </a:r>
            <a:r>
              <a:rPr lang="en-US" sz="2400" i="1" dirty="0"/>
              <a:t>T </a:t>
            </a:r>
            <a:r>
              <a:rPr lang="en-US" sz="2400" dirty="0"/>
              <a:t>=&lt;</a:t>
            </a:r>
            <a:r>
              <a:rPr lang="en-US" sz="2400" i="1" dirty="0"/>
              <a:t>V</a:t>
            </a:r>
            <a:r>
              <a:rPr lang="en-US" sz="2400" i="1" baseline="-25000" dirty="0"/>
              <a:t>T</a:t>
            </a:r>
            <a:r>
              <a:rPr lang="en-US" sz="2400" i="1" dirty="0"/>
              <a:t>, E</a:t>
            </a:r>
            <a:r>
              <a:rPr lang="en-US" sz="2400" i="1" baseline="-25000" dirty="0"/>
              <a:t>T </a:t>
            </a:r>
            <a:r>
              <a:rPr lang="en-US" sz="2400" i="1" dirty="0"/>
              <a:t>&gt; </a:t>
            </a:r>
            <a:r>
              <a:rPr lang="en-US" sz="2400" dirty="0" smtClean="0"/>
              <a:t>is computed by selecting the  </a:t>
            </a:r>
            <a:r>
              <a:rPr lang="en-US" sz="2400" dirty="0"/>
              <a:t>vertex with the smallest distance label in the  set </a:t>
            </a:r>
            <a:r>
              <a:rPr lang="en-US" sz="2400" i="1" dirty="0"/>
              <a:t>V </a:t>
            </a:r>
            <a:r>
              <a:rPr lang="en-US" sz="2400" dirty="0"/>
              <a:t>− </a:t>
            </a:r>
            <a:r>
              <a:rPr lang="en-US" sz="2400" i="1" dirty="0"/>
              <a:t>V</a:t>
            </a:r>
            <a:r>
              <a:rPr lang="en-US" sz="2400" i="1" baseline="-25000" dirty="0"/>
              <a:t>T</a:t>
            </a:r>
            <a:r>
              <a:rPr lang="en-US" sz="2400" i="1" dirty="0"/>
              <a:t> . </a:t>
            </a:r>
            <a:endParaRPr lang="en-US" sz="2400" dirty="0"/>
          </a:p>
          <a:p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4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26668"/>
            <a:ext cx="10862050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After </a:t>
            </a:r>
            <a:r>
              <a:rPr lang="en-US" sz="2400" dirty="0"/>
              <a:t>a vertex </a:t>
            </a:r>
            <a:r>
              <a:rPr lang="en-US" sz="2400" i="1" dirty="0"/>
              <a:t>u</a:t>
            </a:r>
            <a:r>
              <a:rPr lang="en-US" sz="2400" baseline="30000" dirty="0"/>
              <a:t>∗ </a:t>
            </a:r>
            <a:r>
              <a:rPr lang="en-US" sz="2400" dirty="0"/>
              <a:t> to be added to the tree is identified, </a:t>
            </a:r>
            <a:r>
              <a:rPr lang="en-US" sz="2400" dirty="0" smtClean="0"/>
              <a:t>Perform </a:t>
            </a:r>
            <a:r>
              <a:rPr lang="en-US" sz="2400" dirty="0"/>
              <a:t>two </a:t>
            </a:r>
            <a:r>
              <a:rPr lang="en-US" sz="2400" dirty="0" smtClean="0"/>
              <a:t>operations</a:t>
            </a:r>
          </a:p>
          <a:p>
            <a:pPr marL="0" indent="0">
              <a:buNone/>
            </a:pPr>
            <a:endParaRPr lang="en-US" sz="2400" b="1" dirty="0"/>
          </a:p>
          <a:p>
            <a:pPr marL="800100" lvl="1" indent="-342900"/>
            <a:r>
              <a:rPr lang="en-US" sz="2100" dirty="0"/>
              <a:t>Move </a:t>
            </a:r>
            <a:r>
              <a:rPr lang="en-US" sz="2100" i="1" dirty="0"/>
              <a:t>u</a:t>
            </a:r>
            <a:r>
              <a:rPr lang="en-US" sz="2100" baseline="30000" dirty="0"/>
              <a:t>∗</a:t>
            </a:r>
            <a:r>
              <a:rPr lang="en-US" sz="2100" dirty="0"/>
              <a:t> from the set </a:t>
            </a:r>
            <a:r>
              <a:rPr lang="en-US" sz="2100" i="1" dirty="0"/>
              <a:t>V </a:t>
            </a:r>
            <a:r>
              <a:rPr lang="en-US" sz="2100" dirty="0"/>
              <a:t>− </a:t>
            </a:r>
            <a:r>
              <a:rPr lang="en-US" sz="2100" i="1" dirty="0"/>
              <a:t>V</a:t>
            </a:r>
            <a:r>
              <a:rPr lang="en-US" sz="2100" i="1" baseline="-25000" dirty="0"/>
              <a:t>T</a:t>
            </a:r>
            <a:r>
              <a:rPr lang="en-US" sz="2100" i="1" dirty="0"/>
              <a:t> </a:t>
            </a:r>
            <a:r>
              <a:rPr lang="en-US" sz="2100" dirty="0"/>
              <a:t>to the set of tree vertices </a:t>
            </a:r>
            <a:r>
              <a:rPr lang="en-US" sz="2100" i="1" dirty="0"/>
              <a:t>V</a:t>
            </a:r>
            <a:r>
              <a:rPr lang="en-US" sz="2100" i="1" baseline="-25000" dirty="0"/>
              <a:t>T</a:t>
            </a:r>
            <a:r>
              <a:rPr lang="en-US" sz="2100" i="1" dirty="0"/>
              <a:t> </a:t>
            </a:r>
            <a:r>
              <a:rPr lang="en-US" sz="2100" dirty="0" smtClean="0"/>
              <a:t>.</a:t>
            </a:r>
          </a:p>
          <a:p>
            <a:pPr marL="457200" lvl="1" indent="0">
              <a:buNone/>
            </a:pPr>
            <a:endParaRPr lang="en-US" sz="2100" dirty="0"/>
          </a:p>
          <a:p>
            <a:pPr marL="800100" lvl="1" indent="-342900"/>
            <a:r>
              <a:rPr lang="en-US" sz="2100" dirty="0"/>
              <a:t>For each remaining vertex </a:t>
            </a:r>
            <a:r>
              <a:rPr lang="en-US" sz="2100" i="1" dirty="0"/>
              <a:t>u </a:t>
            </a:r>
            <a:r>
              <a:rPr lang="en-US" sz="2100" dirty="0"/>
              <a:t>in </a:t>
            </a:r>
            <a:r>
              <a:rPr lang="en-US" sz="2100" i="1" dirty="0"/>
              <a:t>V </a:t>
            </a:r>
            <a:r>
              <a:rPr lang="en-US" sz="2100" dirty="0"/>
              <a:t>− </a:t>
            </a:r>
            <a:r>
              <a:rPr lang="en-US" sz="2100" i="1" dirty="0"/>
              <a:t>V</a:t>
            </a:r>
            <a:r>
              <a:rPr lang="en-US" sz="2100" i="1" baseline="-25000" dirty="0"/>
              <a:t>T</a:t>
            </a:r>
            <a:r>
              <a:rPr lang="en-US" sz="2100" i="1" dirty="0"/>
              <a:t> </a:t>
            </a:r>
            <a:r>
              <a:rPr lang="en-US" sz="2100" dirty="0"/>
              <a:t>that is connected to </a:t>
            </a:r>
            <a:r>
              <a:rPr lang="en-US" sz="2100" i="1" dirty="0"/>
              <a:t>u</a:t>
            </a:r>
            <a:r>
              <a:rPr lang="en-US" sz="2100" baseline="30000" dirty="0"/>
              <a:t>∗</a:t>
            </a:r>
            <a:r>
              <a:rPr lang="en-US" sz="2100" dirty="0"/>
              <a:t> </a:t>
            </a:r>
            <a:r>
              <a:rPr lang="en-US" sz="2100" dirty="0" smtClean="0"/>
              <a:t>, </a:t>
            </a:r>
          </a:p>
          <a:p>
            <a:pPr marL="457200" lvl="1" indent="0">
              <a:buNone/>
            </a:pPr>
            <a:endParaRPr lang="en-US" sz="2100" dirty="0"/>
          </a:p>
          <a:p>
            <a:pPr lvl="3"/>
            <a:r>
              <a:rPr lang="en-US" sz="2000" dirty="0" smtClean="0"/>
              <a:t>if  </a:t>
            </a:r>
            <a:r>
              <a:rPr lang="en-US" sz="2000" dirty="0"/>
              <a:t>the u’s distance label is greater than the distance </a:t>
            </a:r>
            <a:r>
              <a:rPr lang="en-US" sz="2000" dirty="0" smtClean="0"/>
              <a:t>between </a:t>
            </a:r>
            <a:r>
              <a:rPr lang="en-US" sz="2000" dirty="0"/>
              <a:t>u and u* </a:t>
            </a:r>
            <a:r>
              <a:rPr lang="en-US" sz="2000" dirty="0" smtClean="0"/>
              <a:t>(</a:t>
            </a:r>
            <a:r>
              <a:rPr lang="en-US" sz="2000" b="1" dirty="0"/>
              <a:t>d</a:t>
            </a:r>
            <a:r>
              <a:rPr lang="en-US" sz="2000" b="1" baseline="-25000" dirty="0"/>
              <a:t>u</a:t>
            </a:r>
            <a:r>
              <a:rPr lang="en-US" sz="2000" b="1" dirty="0"/>
              <a:t> &gt; w[u*,</a:t>
            </a:r>
            <a:r>
              <a:rPr lang="en-US" sz="2000" b="1" dirty="0" smtClean="0"/>
              <a:t>u] ) , </a:t>
            </a:r>
            <a:r>
              <a:rPr lang="en-US" sz="2000" dirty="0" smtClean="0"/>
              <a:t>Update </a:t>
            </a:r>
            <a:r>
              <a:rPr lang="en-US" sz="2000" dirty="0"/>
              <a:t>labels of u </a:t>
            </a:r>
          </a:p>
          <a:p>
            <a:pPr marL="3200400" lvl="7" indent="0">
              <a:buNone/>
            </a:pPr>
            <a:r>
              <a:rPr lang="en-US" sz="2100" dirty="0" smtClean="0"/>
              <a:t>1</a:t>
            </a:r>
            <a:r>
              <a:rPr lang="en-US" sz="2100" dirty="0"/>
              <a:t>) by </a:t>
            </a:r>
            <a:r>
              <a:rPr lang="en-US" sz="2100" i="1" dirty="0"/>
              <a:t>u</a:t>
            </a:r>
            <a:r>
              <a:rPr lang="en-US" sz="2100" baseline="30000" dirty="0" smtClean="0"/>
              <a:t>∗</a:t>
            </a:r>
            <a:r>
              <a:rPr lang="en-US" sz="2100" dirty="0" smtClean="0"/>
              <a:t> ( name of the nearest tree vertex) </a:t>
            </a:r>
            <a:r>
              <a:rPr lang="en-US" sz="2100" dirty="0"/>
              <a:t>and</a:t>
            </a:r>
          </a:p>
          <a:p>
            <a:pPr marL="3200400" lvl="7" indent="0">
              <a:buNone/>
            </a:pPr>
            <a:r>
              <a:rPr lang="en-US" sz="2100" dirty="0" smtClean="0"/>
              <a:t>2</a:t>
            </a:r>
            <a:r>
              <a:rPr lang="en-US" sz="2100" dirty="0"/>
              <a:t>) the weight of the edge </a:t>
            </a:r>
            <a:r>
              <a:rPr lang="en-US" sz="2100" dirty="0" smtClean="0"/>
              <a:t>between </a:t>
            </a:r>
            <a:r>
              <a:rPr lang="en-US" sz="2100" i="1" dirty="0"/>
              <a:t>u</a:t>
            </a:r>
            <a:r>
              <a:rPr lang="en-US" sz="2100" dirty="0"/>
              <a:t>* </a:t>
            </a:r>
            <a:r>
              <a:rPr lang="en-US" sz="2100" dirty="0" smtClean="0"/>
              <a:t>and u</a:t>
            </a:r>
            <a:r>
              <a:rPr lang="en-US" sz="2000" dirty="0"/>
              <a:t>.</a:t>
            </a:r>
          </a:p>
          <a:p>
            <a:pPr lvl="2"/>
            <a:endParaRPr lang="en-US" sz="16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7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2000" b="1" dirty="0" smtClean="0"/>
              <a:t>Finding Minimum Spanning Tree for the following graph</a:t>
            </a:r>
            <a:endParaRPr lang="en-IN" sz="2000" dirty="0"/>
          </a:p>
          <a:p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471" y="2269683"/>
            <a:ext cx="4712493" cy="272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0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2000" b="1" dirty="0"/>
              <a:t>Prim’s Algorithm:</a:t>
            </a:r>
            <a:endParaRPr lang="en-IN" sz="2000" dirty="0"/>
          </a:p>
          <a:p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37" y="2585624"/>
            <a:ext cx="9167061" cy="271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7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2000" b="1" dirty="0"/>
              <a:t>Prim’s Algorithm:</a:t>
            </a:r>
            <a:endParaRPr lang="en-IN" sz="2000" dirty="0"/>
          </a:p>
          <a:p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4" y="2488531"/>
            <a:ext cx="8394065" cy="7758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36" y="3576394"/>
            <a:ext cx="8014028" cy="189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0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2000" b="1" dirty="0"/>
              <a:t>Prim’s Algorithm:</a:t>
            </a:r>
            <a:endParaRPr lang="en-IN" sz="2000" dirty="0"/>
          </a:p>
          <a:p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4" y="2488531"/>
            <a:ext cx="8394065" cy="775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45" y="3754841"/>
            <a:ext cx="8063061" cy="188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8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2000" b="1" dirty="0"/>
              <a:t>Prim’s Algorithm:</a:t>
            </a:r>
            <a:endParaRPr lang="en-IN" sz="2000" dirty="0"/>
          </a:p>
          <a:p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4" y="2488531"/>
            <a:ext cx="8394065" cy="7758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63" y="3445167"/>
            <a:ext cx="7964425" cy="182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5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2000" b="1" dirty="0"/>
              <a:t>Prim’s Algorithm:</a:t>
            </a:r>
            <a:endParaRPr lang="en-IN" sz="2000" dirty="0"/>
          </a:p>
          <a:p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4" y="2488531"/>
            <a:ext cx="8394065" cy="775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84" y="3704164"/>
            <a:ext cx="8046739" cy="221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9" y="1666322"/>
            <a:ext cx="102332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Efficiency of Prims </a:t>
            </a:r>
            <a:r>
              <a:rPr lang="en-US" sz="2200" b="1" dirty="0" err="1" smtClean="0"/>
              <a:t>Agorithm</a:t>
            </a:r>
            <a:endParaRPr lang="en-US" sz="2200" b="1" dirty="0" smtClean="0"/>
          </a:p>
          <a:p>
            <a:endParaRPr lang="en-US" sz="2200" b="1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/>
              <a:t>The Efficiency depends on the data structures chosen for the graph itself and for the priority queue of the set </a:t>
            </a:r>
            <a:r>
              <a:rPr lang="en-US" sz="2200" i="1" dirty="0" smtClean="0"/>
              <a:t>V </a:t>
            </a:r>
            <a:r>
              <a:rPr lang="en-US" sz="2200" dirty="0" smtClean="0"/>
              <a:t>− </a:t>
            </a:r>
            <a:r>
              <a:rPr lang="en-US" sz="2200" i="1" dirty="0" smtClean="0"/>
              <a:t>V</a:t>
            </a:r>
            <a:r>
              <a:rPr lang="en-US" sz="2200" i="1" baseline="-25000" dirty="0" smtClean="0"/>
              <a:t>T</a:t>
            </a:r>
            <a:r>
              <a:rPr lang="en-US" sz="2200" i="1" dirty="0" smtClean="0"/>
              <a:t> </a:t>
            </a:r>
            <a:r>
              <a:rPr lang="en-US" sz="2200" dirty="0" smtClean="0"/>
              <a:t>whose vertex priorities are the distances to the nearest tree vertices.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200" dirty="0" smtClean="0"/>
          </a:p>
          <a:p>
            <a:r>
              <a:rPr lang="en-US" sz="2200" dirty="0" smtClean="0"/>
              <a:t>If Graph represented as a Adjacency Matrix and Priority queue implemented as an unordered array -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200" dirty="0" smtClean="0"/>
          </a:p>
          <a:p>
            <a:r>
              <a:rPr lang="en-US" sz="2200" dirty="0" smtClean="0"/>
              <a:t>Extract Minimum Vertex (</a:t>
            </a:r>
            <a:r>
              <a:rPr lang="en-US" sz="2200" dirty="0"/>
              <a:t>choose next vertex to include in </a:t>
            </a:r>
            <a:r>
              <a:rPr lang="en-US" sz="2200" dirty="0" smtClean="0"/>
              <a:t>MST</a:t>
            </a:r>
            <a:r>
              <a:rPr lang="en-US" sz="2400" dirty="0" smtClean="0"/>
              <a:t>)</a:t>
            </a:r>
            <a:endParaRPr lang="en-US" sz="2200" dirty="0" smtClean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 dirty="0" smtClean="0"/>
              <a:t>Scan </a:t>
            </a:r>
            <a:r>
              <a:rPr lang="en-US" sz="2200" dirty="0"/>
              <a:t>the entire array to find the minimum </a:t>
            </a:r>
            <a:r>
              <a:rPr lang="en-US" sz="2200" dirty="0" smtClean="0"/>
              <a:t>key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 dirty="0" smtClean="0"/>
              <a:t>Cost </a:t>
            </a:r>
            <a:r>
              <a:rPr lang="en-US" sz="2200" dirty="0"/>
              <a:t>per extraction = </a:t>
            </a:r>
            <a:r>
              <a:rPr lang="el-GR" sz="2200" dirty="0"/>
              <a:t>ϴ</a:t>
            </a:r>
            <a:r>
              <a:rPr lang="en-US" sz="2200" dirty="0" smtClean="0"/>
              <a:t>(V)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 dirty="0" smtClean="0"/>
              <a:t>Done </a:t>
            </a:r>
            <a:r>
              <a:rPr lang="en-US" sz="2200" dirty="0"/>
              <a:t>V </a:t>
            </a:r>
            <a:r>
              <a:rPr lang="en-US" sz="2200" dirty="0" smtClean="0"/>
              <a:t>times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 dirty="0" smtClean="0"/>
              <a:t>Total </a:t>
            </a:r>
            <a:r>
              <a:rPr lang="en-US" sz="2200" dirty="0"/>
              <a:t>cost</a:t>
            </a:r>
            <a:r>
              <a:rPr lang="en-US" sz="2200" dirty="0" smtClean="0"/>
              <a:t>=</a:t>
            </a:r>
            <a:r>
              <a:rPr lang="el-GR" sz="2200" dirty="0"/>
              <a:t> ϴ</a:t>
            </a:r>
            <a:r>
              <a:rPr lang="en-US" sz="2200" dirty="0" smtClean="0"/>
              <a:t>(V</a:t>
            </a:r>
            <a:r>
              <a:rPr lang="en-US" sz="2200" baseline="30000" dirty="0" smtClean="0"/>
              <a:t>2</a:t>
            </a:r>
            <a:r>
              <a:rPr lang="en-US" sz="22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368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9" y="1666322"/>
            <a:ext cx="10233212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200" b="1" dirty="0" smtClean="0"/>
          </a:p>
          <a:p>
            <a:r>
              <a:rPr lang="en-US" sz="2200" b="1" dirty="0"/>
              <a:t>Update Adjacent Vertices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Using an adjacency matrix, to find neighbors of a vertex, </a:t>
            </a:r>
            <a:r>
              <a:rPr lang="en-US" sz="2200" dirty="0" smtClean="0"/>
              <a:t>scan </a:t>
            </a:r>
            <a:r>
              <a:rPr lang="en-US" sz="2200" dirty="0"/>
              <a:t>an entire row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Cost per iteration = </a:t>
            </a:r>
            <a:r>
              <a:rPr lang="el-GR" sz="2200" dirty="0"/>
              <a:t>ϴ</a:t>
            </a:r>
            <a:r>
              <a:rPr lang="en-US" sz="2200" dirty="0" smtClean="0"/>
              <a:t>(V</a:t>
            </a:r>
            <a:r>
              <a:rPr lang="en-US" sz="22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Done V times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Total </a:t>
            </a:r>
            <a:r>
              <a:rPr lang="en-US" sz="2200" dirty="0" smtClean="0"/>
              <a:t>cost=</a:t>
            </a:r>
            <a:r>
              <a:rPr lang="el-GR" sz="2200" dirty="0"/>
              <a:t> ϴ</a:t>
            </a:r>
            <a:r>
              <a:rPr lang="en-US" sz="2200" dirty="0" smtClean="0"/>
              <a:t>(V</a:t>
            </a:r>
            <a:r>
              <a:rPr lang="en-US" sz="2200" baseline="30000" dirty="0" smtClean="0"/>
              <a:t>2</a:t>
            </a:r>
            <a:r>
              <a:rPr lang="en-US" sz="22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pt-BR" b="1" dirty="0" smtClean="0"/>
              <a:t>Total </a:t>
            </a:r>
            <a:r>
              <a:rPr lang="pt-BR" b="1" dirty="0"/>
              <a:t>Complexity</a:t>
            </a:r>
          </a:p>
          <a:p>
            <a:pPr lvl="1"/>
            <a:r>
              <a:rPr lang="el-GR" sz="2200" dirty="0" smtClean="0"/>
              <a:t>ϴ</a:t>
            </a:r>
            <a:r>
              <a:rPr lang="pt-BR" sz="2200" dirty="0" smtClean="0"/>
              <a:t>(V</a:t>
            </a:r>
            <a:r>
              <a:rPr lang="pt-BR" sz="2200" baseline="30000" dirty="0" smtClean="0"/>
              <a:t>2</a:t>
            </a:r>
            <a:r>
              <a:rPr lang="pt-BR" sz="2200" dirty="0" smtClean="0"/>
              <a:t>)+</a:t>
            </a:r>
            <a:r>
              <a:rPr lang="el-GR" sz="2200" dirty="0"/>
              <a:t> ϴ</a:t>
            </a:r>
            <a:r>
              <a:rPr lang="pt-BR" sz="2200" dirty="0" smtClean="0"/>
              <a:t>(V</a:t>
            </a:r>
            <a:r>
              <a:rPr lang="pt-BR" sz="2200" baseline="30000" dirty="0" smtClean="0"/>
              <a:t>2</a:t>
            </a:r>
            <a:r>
              <a:rPr lang="pt-BR" sz="2200" dirty="0" smtClean="0"/>
              <a:t>)=</a:t>
            </a:r>
            <a:r>
              <a:rPr lang="el-GR" sz="2200" dirty="0"/>
              <a:t> ϴ</a:t>
            </a:r>
            <a:r>
              <a:rPr lang="pt-BR" sz="2200" dirty="0" smtClean="0"/>
              <a:t>(V</a:t>
            </a:r>
            <a:r>
              <a:rPr lang="pt-BR" sz="2200" baseline="30000" dirty="0" smtClean="0"/>
              <a:t>2</a:t>
            </a:r>
            <a:r>
              <a:rPr lang="pt-BR" sz="2200" dirty="0" smtClean="0"/>
              <a:t>)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9821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Technique – Prims Algorithm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8" y="1384970"/>
            <a:ext cx="1112071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 smtClean="0"/>
              <a:t>If Graph represented as a Adjacency Matrix and Priority queue implemented as a min Heap</a:t>
            </a:r>
          </a:p>
          <a:p>
            <a:endParaRPr lang="en-US" sz="2100" b="1" dirty="0" smtClean="0"/>
          </a:p>
          <a:p>
            <a:r>
              <a:rPr lang="en-US" sz="2100" dirty="0" smtClean="0"/>
              <a:t>For a graph with V vertices:</a:t>
            </a:r>
          </a:p>
          <a:p>
            <a:r>
              <a:rPr lang="en-US" sz="2100" b="1" dirty="0" smtClean="0"/>
              <a:t>Extract minimum from heap (choose next vertex to include in MST)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 smtClean="0"/>
              <a:t>Done V times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 smtClean="0"/>
              <a:t>Each operation in a heap takes </a:t>
            </a:r>
            <a:r>
              <a:rPr lang="el-GR" sz="2100" dirty="0" smtClean="0"/>
              <a:t>ϴ</a:t>
            </a:r>
            <a:r>
              <a:rPr lang="en-US" sz="2100" dirty="0" smtClean="0"/>
              <a:t>(log V)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 smtClean="0"/>
              <a:t>Total : </a:t>
            </a:r>
            <a:r>
              <a:rPr lang="el-GR" sz="2100" dirty="0"/>
              <a:t>ϴ </a:t>
            </a:r>
            <a:r>
              <a:rPr lang="en-US" sz="2100" dirty="0" err="1" smtClean="0"/>
              <a:t>VlogV</a:t>
            </a:r>
            <a:endParaRPr lang="en-US" sz="2100" dirty="0" smtClean="0"/>
          </a:p>
          <a:p>
            <a:pPr lvl="1"/>
            <a:endParaRPr lang="en-US" sz="2100" dirty="0" smtClean="0"/>
          </a:p>
          <a:p>
            <a:r>
              <a:rPr lang="en-US" sz="2100" b="1" dirty="0" smtClean="0"/>
              <a:t>Update keys of adjacent vertices 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 smtClean="0"/>
              <a:t>Scan </a:t>
            </a:r>
            <a:r>
              <a:rPr lang="en-US" sz="2100" dirty="0"/>
              <a:t>entire row of matrix → Θ(V) per iteration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/>
              <a:t>Done for V </a:t>
            </a:r>
            <a:r>
              <a:rPr lang="en-US" sz="2100" dirty="0" smtClean="0"/>
              <a:t>vertices, Total </a:t>
            </a:r>
            <a:r>
              <a:rPr lang="en-US" sz="2100" dirty="0"/>
              <a:t>scanning cost: Θ(V²</a:t>
            </a:r>
            <a:r>
              <a:rPr lang="en-US" sz="21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/>
              <a:t>Update happens only when key </a:t>
            </a:r>
            <a:r>
              <a:rPr lang="en-US" sz="2100" dirty="0" smtClean="0"/>
              <a:t>improves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 smtClean="0"/>
              <a:t>Each </a:t>
            </a:r>
            <a:r>
              <a:rPr lang="en-US" sz="2100" dirty="0"/>
              <a:t>update costs Θ(log V) in a heap</a:t>
            </a:r>
            <a:endParaRPr lang="en-US" sz="2100" dirty="0" smtClean="0"/>
          </a:p>
          <a:p>
            <a:r>
              <a:rPr lang="en-US" sz="2100" b="1" dirty="0"/>
              <a:t>Scanning cost dominates the overall </a:t>
            </a:r>
            <a:r>
              <a:rPr lang="en-US" sz="2100" b="1" dirty="0" smtClean="0"/>
              <a:t>complexity</a:t>
            </a:r>
          </a:p>
          <a:p>
            <a:endParaRPr lang="en-US" sz="2100" dirty="0"/>
          </a:p>
          <a:p>
            <a:r>
              <a:rPr lang="en-IN" sz="2100" b="1" dirty="0"/>
              <a:t>Final Complexity:</a:t>
            </a:r>
            <a:r>
              <a:rPr lang="el-GR" sz="2100" b="1" dirty="0"/>
              <a:t> Θ(</a:t>
            </a:r>
            <a:r>
              <a:rPr lang="en-IN" sz="2100" b="1" dirty="0"/>
              <a:t>V²)</a:t>
            </a: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48239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Greedy </a:t>
            </a:r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Technique – Prims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0375" y="1316458"/>
            <a:ext cx="1112071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If Graph represented as a Adjacency List and Priority queue implemented as a min Heap</a:t>
            </a:r>
          </a:p>
          <a:p>
            <a:r>
              <a:rPr lang="en-US" sz="2000" dirty="0" smtClean="0"/>
              <a:t>Let: V </a:t>
            </a:r>
            <a:r>
              <a:rPr lang="en-US" sz="2000" dirty="0"/>
              <a:t>= number of </a:t>
            </a:r>
            <a:r>
              <a:rPr lang="en-US" sz="2000" dirty="0" smtClean="0"/>
              <a:t>vertices, E </a:t>
            </a:r>
            <a:r>
              <a:rPr lang="en-US" sz="2000" dirty="0"/>
              <a:t>= number of </a:t>
            </a:r>
            <a:r>
              <a:rPr lang="en-US" sz="2000" dirty="0" smtClean="0"/>
              <a:t>edges</a:t>
            </a:r>
          </a:p>
          <a:p>
            <a:r>
              <a:rPr lang="en-US" sz="2000" b="1" dirty="0"/>
              <a:t>Extract-Min </a:t>
            </a:r>
            <a:r>
              <a:rPr lang="en-US" sz="2000" b="1" dirty="0" smtClean="0"/>
              <a:t>Operation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We </a:t>
            </a:r>
            <a:r>
              <a:rPr lang="en-US" sz="2000" dirty="0"/>
              <a:t>extract one vertex at a time into </a:t>
            </a:r>
            <a:r>
              <a:rPr lang="en-US" sz="2000" dirty="0" smtClean="0"/>
              <a:t>MST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Total </a:t>
            </a:r>
            <a:r>
              <a:rPr lang="en-US" sz="2000" dirty="0"/>
              <a:t>extractions = </a:t>
            </a:r>
            <a:r>
              <a:rPr lang="en-US" sz="2000" dirty="0" smtClean="0"/>
              <a:t>V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Each </a:t>
            </a:r>
            <a:r>
              <a:rPr lang="en-US" sz="2000" dirty="0"/>
              <a:t>extract-min in heap = </a:t>
            </a:r>
            <a:r>
              <a:rPr lang="el-GR" sz="2000" dirty="0"/>
              <a:t>Θ(</a:t>
            </a:r>
            <a:r>
              <a:rPr lang="en-US" sz="2000" dirty="0"/>
              <a:t>log V</a:t>
            </a:r>
            <a:r>
              <a:rPr lang="en-US" sz="20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Total cost = </a:t>
            </a:r>
            <a:r>
              <a:rPr lang="el-GR" sz="2000" dirty="0" smtClean="0"/>
              <a:t>Θ(</a:t>
            </a:r>
            <a:r>
              <a:rPr lang="en-US" sz="2000" dirty="0" err="1"/>
              <a:t>VlogV</a:t>
            </a:r>
            <a:r>
              <a:rPr lang="en-US" sz="20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r>
              <a:rPr lang="en-US" sz="2000" b="1" dirty="0"/>
              <a:t>Update keys of adjacent vertices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Using adjacency list, we only visit actual </a:t>
            </a:r>
            <a:r>
              <a:rPr lang="en-US" sz="2000" dirty="0" smtClean="0"/>
              <a:t>neighbors, each </a:t>
            </a:r>
            <a:r>
              <a:rPr lang="en-US" sz="2000" dirty="0"/>
              <a:t>edge is examined once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Total adjacency traversal=Θ(E</a:t>
            </a:r>
            <a:r>
              <a:rPr lang="en-US" sz="20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When a better edge is found, we update the </a:t>
            </a:r>
            <a:r>
              <a:rPr lang="en-US" sz="2000" dirty="0" smtClean="0"/>
              <a:t>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Each update of key </a:t>
            </a:r>
            <a:r>
              <a:rPr lang="en-US" sz="2000" dirty="0"/>
              <a:t>operation = Θ(log V</a:t>
            </a:r>
            <a:r>
              <a:rPr lang="en-US" sz="20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Each edge can cause at most one </a:t>
            </a:r>
            <a:r>
              <a:rPr lang="en-US" sz="2000" dirty="0" smtClean="0"/>
              <a:t>improvement , Total </a:t>
            </a:r>
            <a:r>
              <a:rPr lang="en-US" sz="2000" dirty="0"/>
              <a:t>cost=</a:t>
            </a:r>
            <a:r>
              <a:rPr lang="el-GR" sz="2000" dirty="0"/>
              <a:t>Θ(</a:t>
            </a:r>
            <a:r>
              <a:rPr lang="en-US" sz="2000" dirty="0" err="1"/>
              <a:t>ElogV</a:t>
            </a:r>
            <a:r>
              <a:rPr lang="en-US" sz="2000" dirty="0" smtClean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Since E &gt;V, </a:t>
            </a:r>
            <a:r>
              <a:rPr lang="el-GR" sz="2000" dirty="0"/>
              <a:t>Θ(</a:t>
            </a:r>
            <a:r>
              <a:rPr lang="en-US" sz="2000" dirty="0" err="1" smtClean="0"/>
              <a:t>ElogV</a:t>
            </a:r>
            <a:r>
              <a:rPr lang="en-US" sz="2000" dirty="0" smtClean="0"/>
              <a:t>)dominates,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Final Complexity : </a:t>
            </a:r>
            <a:r>
              <a:rPr lang="el-GR" sz="2000" dirty="0"/>
              <a:t>Θ(</a:t>
            </a:r>
            <a:r>
              <a:rPr lang="en-US" sz="2000" dirty="0" err="1"/>
              <a:t>ElogV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241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8" y="1384970"/>
            <a:ext cx="1112071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In Prim’s algorithm implemented using a min-heap and adjacency list, which of the following best explains why the complexity is  </a:t>
            </a:r>
            <a:r>
              <a:rPr lang="el-GR" sz="2200" dirty="0" smtClean="0"/>
              <a:t>Θ</a:t>
            </a:r>
            <a:r>
              <a:rPr lang="en-US" sz="2200" dirty="0" smtClean="0"/>
              <a:t>(</a:t>
            </a:r>
            <a:r>
              <a:rPr lang="en-US" sz="2200" dirty="0" err="1" smtClean="0"/>
              <a:t>Elog</a:t>
            </a:r>
            <a:r>
              <a:rPr lang="en-US" sz="2200" dirty="0" err="1"/>
              <a:t>⁡</a:t>
            </a:r>
            <a:r>
              <a:rPr lang="en-US" sz="2200" dirty="0" err="1" smtClean="0"/>
              <a:t>V</a:t>
            </a:r>
            <a:r>
              <a:rPr lang="en-US" sz="2200" dirty="0" smtClean="0"/>
              <a:t>) ?</a:t>
            </a:r>
          </a:p>
          <a:p>
            <a:endParaRPr lang="en-US" sz="2200" dirty="0"/>
          </a:p>
          <a:p>
            <a:r>
              <a:rPr lang="en-US" sz="2200" dirty="0"/>
              <a:t>A. Each vertex is inserted into the heap once</a:t>
            </a:r>
            <a:br>
              <a:rPr lang="en-US" sz="2200" dirty="0"/>
            </a:br>
            <a:r>
              <a:rPr lang="en-US" sz="2200" dirty="0"/>
              <a:t>B. Each edge is processed once and may cause a decrease-key </a:t>
            </a:r>
            <a:r>
              <a:rPr lang="en-US" sz="2200" dirty="0" smtClean="0"/>
              <a:t>operation (up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C. </a:t>
            </a:r>
            <a:r>
              <a:rPr lang="en-US" sz="2200" dirty="0" err="1"/>
              <a:t>Heapify</a:t>
            </a:r>
            <a:r>
              <a:rPr lang="en-US" sz="2200" dirty="0"/>
              <a:t> operation dominates the execution</a:t>
            </a:r>
            <a:br>
              <a:rPr lang="en-US" sz="2200" dirty="0"/>
            </a:br>
            <a:r>
              <a:rPr lang="en-US" sz="2200" dirty="0"/>
              <a:t>D. The number of vertices is always greater than edges</a:t>
            </a:r>
          </a:p>
          <a:p>
            <a:endParaRPr lang="en-US" sz="2200" dirty="0" smtClean="0"/>
          </a:p>
          <a:p>
            <a:r>
              <a:rPr lang="en-IN" sz="2200" dirty="0"/>
              <a:t>Answer: </a:t>
            </a:r>
            <a:r>
              <a:rPr lang="en-IN" sz="2200" dirty="0" smtClean="0"/>
              <a:t>B </a:t>
            </a:r>
            <a:r>
              <a:rPr lang="en-US" sz="2200" dirty="0"/>
              <a:t>Each edge is processed once and may cause a decrease-key operation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54881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8" y="1384970"/>
            <a:ext cx="1112071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Consider Prim’s algorithm using an adjacency matrix and simple array (no heap). What is the dominant operation contributing to the total complexity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Extract-min operation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Decrease-key operation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Scanning </a:t>
            </a:r>
            <a:r>
              <a:rPr lang="en-US" sz="2400" dirty="0"/>
              <a:t>all vertices to find the </a:t>
            </a:r>
            <a:r>
              <a:rPr lang="en-US" sz="2400" dirty="0" smtClean="0"/>
              <a:t>minimum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Edge relaxation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C: Scanning </a:t>
            </a:r>
            <a:r>
              <a:rPr lang="en-US" sz="2400" dirty="0"/>
              <a:t>all vertices to find the minimum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435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8" y="1384970"/>
            <a:ext cx="1112071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Prim’s algorithm, why does using an adjacency matrix with a min-heap still result in </a:t>
            </a:r>
            <a:r>
              <a:rPr lang="en-US" sz="2400" dirty="0" smtClean="0"/>
              <a:t>  </a:t>
            </a:r>
            <a:r>
              <a:rPr lang="el-GR" sz="2400" dirty="0" smtClean="0"/>
              <a:t>Θ </a:t>
            </a:r>
            <a:r>
              <a:rPr lang="en-US" sz="2400" dirty="0" smtClean="0"/>
              <a:t>(V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)?</a:t>
            </a:r>
          </a:p>
          <a:p>
            <a:endParaRPr lang="en-US" sz="2400" dirty="0"/>
          </a:p>
          <a:p>
            <a:r>
              <a:rPr lang="en-US" sz="2400" dirty="0"/>
              <a:t>A. Heap operations are slower than array operations</a:t>
            </a:r>
            <a:br>
              <a:rPr lang="en-US" sz="2400" dirty="0"/>
            </a:br>
            <a:r>
              <a:rPr lang="en-US" sz="2400" dirty="0"/>
              <a:t>B. Decrease-key is performed </a:t>
            </a:r>
            <a:r>
              <a:rPr lang="en-US" sz="2400" dirty="0" smtClean="0"/>
              <a:t>V</a:t>
            </a:r>
            <a:r>
              <a:rPr lang="en-US" sz="2400" baseline="30000" dirty="0" smtClean="0"/>
              <a:t>2</a:t>
            </a:r>
            <a:r>
              <a:rPr lang="en-US" sz="2400" dirty="0"/>
              <a:t> </a:t>
            </a:r>
            <a:r>
              <a:rPr lang="en-US" sz="2400" dirty="0" smtClean="0"/>
              <a:t>times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C. Matrix forces scanning of all vertices for each iteration</a:t>
            </a:r>
            <a:br>
              <a:rPr lang="en-US" sz="2400" dirty="0"/>
            </a:br>
            <a:r>
              <a:rPr lang="en-US" sz="2400" dirty="0"/>
              <a:t>D. Extract-min becomes </a:t>
            </a:r>
            <a:r>
              <a:rPr lang="el-GR" sz="2400" dirty="0" smtClean="0"/>
              <a:t>Θ</a:t>
            </a:r>
            <a:r>
              <a:rPr lang="en-US" sz="2400" dirty="0" smtClean="0"/>
              <a:t>(V)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Answer : C. Matrix </a:t>
            </a:r>
            <a:r>
              <a:rPr lang="en-US" sz="2400" dirty="0"/>
              <a:t>forces scanning of all vertices for each iteration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267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8" y="1384970"/>
            <a:ext cx="1112071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term “locally optimal choice” in greedy algorithms refers to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/>
              <a:t>A. Choosing a solution that is globally optimal</a:t>
            </a:r>
            <a:br>
              <a:rPr lang="en-US" sz="2400" dirty="0"/>
            </a:br>
            <a:r>
              <a:rPr lang="en-US" sz="2400" dirty="0"/>
              <a:t>B. Choosing the best option among all future possibilities</a:t>
            </a:r>
            <a:br>
              <a:rPr lang="en-US" sz="2400" dirty="0"/>
            </a:br>
            <a:r>
              <a:rPr lang="en-US" sz="2400" dirty="0"/>
              <a:t>C. Choosing the best option available at the current step</a:t>
            </a:r>
            <a:br>
              <a:rPr lang="en-US" sz="2400" dirty="0"/>
            </a:br>
            <a:r>
              <a:rPr lang="en-US" sz="2400" dirty="0"/>
              <a:t>D. Choosing a random feasible solution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endParaRPr lang="en-US" sz="2400" dirty="0" smtClean="0"/>
          </a:p>
          <a:p>
            <a:r>
              <a:rPr lang="en-US" sz="2400" dirty="0" smtClean="0"/>
              <a:t>Answer C. Choosing </a:t>
            </a:r>
            <a:r>
              <a:rPr lang="en-US" sz="2400" dirty="0"/>
              <a:t>the best option available at the current step</a:t>
            </a:r>
          </a:p>
        </p:txBody>
      </p:sp>
    </p:spTree>
    <p:extLst>
      <p:ext uri="{BB962C8B-B14F-4D97-AF65-F5344CB8AC3E}">
        <p14:creationId xmlns:p14="http://schemas.microsoft.com/office/powerpoint/2010/main" val="12690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5" y="1513221"/>
            <a:ext cx="10085042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/>
          </a:p>
          <a:p>
            <a:endParaRPr lang="en-US" sz="2400" b="1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45458" y="1384970"/>
            <a:ext cx="1112071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Which of the following scenarios would </a:t>
            </a:r>
            <a:r>
              <a:rPr lang="en-US" sz="2400" b="1" dirty="0"/>
              <a:t>fail</a:t>
            </a:r>
            <a:r>
              <a:rPr lang="en-US" sz="2400" dirty="0"/>
              <a:t> for a greedy approach?</a:t>
            </a:r>
          </a:p>
          <a:p>
            <a:endParaRPr lang="en-US" sz="2400" dirty="0" smtClean="0"/>
          </a:p>
          <a:p>
            <a:pPr marL="457200" indent="-457200">
              <a:buAutoNum type="alphaUcPeriod"/>
            </a:pPr>
            <a:r>
              <a:rPr lang="en-US" sz="2400" dirty="0" smtClean="0"/>
              <a:t>When </a:t>
            </a:r>
            <a:r>
              <a:rPr lang="en-US" sz="2400" dirty="0"/>
              <a:t>local choices always lead to global </a:t>
            </a:r>
            <a:r>
              <a:rPr lang="en-US" sz="2400" dirty="0" smtClean="0"/>
              <a:t>optimum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When </a:t>
            </a:r>
            <a:r>
              <a:rPr lang="en-US" sz="2400" dirty="0"/>
              <a:t>early decisions restrict future optimal </a:t>
            </a:r>
            <a:r>
              <a:rPr lang="en-US" sz="2400" dirty="0" smtClean="0"/>
              <a:t>solutions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When </a:t>
            </a:r>
            <a:r>
              <a:rPr lang="en-US" sz="2400" dirty="0"/>
              <a:t>choices are </a:t>
            </a:r>
            <a:r>
              <a:rPr lang="en-US" sz="2400" dirty="0" smtClean="0"/>
              <a:t>independent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When </a:t>
            </a:r>
            <a:r>
              <a:rPr lang="en-US" sz="2400" dirty="0"/>
              <a:t>the solution is constructed </a:t>
            </a:r>
            <a:r>
              <a:rPr lang="en-US" sz="2400" dirty="0" smtClean="0"/>
              <a:t>incrementally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B. </a:t>
            </a:r>
            <a:r>
              <a:rPr lang="en-US" sz="2400" dirty="0"/>
              <a:t>When early decisions restrict future optimal solutions</a:t>
            </a:r>
          </a:p>
        </p:txBody>
      </p:sp>
    </p:spTree>
    <p:extLst>
      <p:ext uri="{BB962C8B-B14F-4D97-AF65-F5344CB8AC3E}">
        <p14:creationId xmlns:p14="http://schemas.microsoft.com/office/powerpoint/2010/main" val="174311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862;p148"/>
          <p:cNvSpPr>
            <a:spLocks noChangeArrowheads="1"/>
          </p:cNvSpPr>
          <p:nvPr/>
        </p:nvSpPr>
        <p:spPr bwMode="auto"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sz="3600" b="1" dirty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THANK </a:t>
            </a:r>
            <a:r>
              <a:rPr lang="en-US" sz="3600" b="1" dirty="0" smtClean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YOU</a:t>
            </a:r>
          </a:p>
          <a:p>
            <a:pPr eaLnBrk="1" hangingPunct="1"/>
            <a:endParaRPr lang="en-US" sz="3600" b="1" dirty="0" smtClean="0">
              <a:solidFill>
                <a:srgbClr val="C55A1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Dinesh Singh</a:t>
            </a: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Department of Computer Science &amp; Engineering</a:t>
            </a:r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268" name="Google Shape;1864;p148"/>
          <p:cNvSpPr>
            <a:spLocks noChangeArrowheads="1"/>
          </p:cNvSpPr>
          <p:nvPr/>
        </p:nvSpPr>
        <p:spPr bwMode="auto"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739" y="2334597"/>
            <a:ext cx="3150920" cy="17129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>
            <a:off x="4994108" y="3339537"/>
            <a:ext cx="4583156" cy="27277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56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1426</Words>
  <Application>Microsoft Office PowerPoint</Application>
  <PresentationFormat>Widescreen</PresentationFormat>
  <Paragraphs>211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Vandana M Ladwani</dc:creator>
  <cp:lastModifiedBy>Microsoft account</cp:lastModifiedBy>
  <cp:revision>236</cp:revision>
  <dcterms:created xsi:type="dcterms:W3CDTF">2021-01-07T04:42:57Z</dcterms:created>
  <dcterms:modified xsi:type="dcterms:W3CDTF">2026-03-23T09:20:32Z</dcterms:modified>
</cp:coreProperties>
</file>