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7315200" cy="96012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g2SykmcccmgkvIp5DeS6yKmENG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customschemas.google.com/relationships/presentationmetadata" Target="meta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70238" cy="481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375" y="0"/>
            <a:ext cx="3170238" cy="481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20188"/>
            <a:ext cx="3170238" cy="4810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1461dc0bb_0_0:notes"/>
          <p:cNvSpPr txBox="1"/>
          <p:nvPr>
            <p:ph idx="1" type="body"/>
          </p:nvPr>
        </p:nvSpPr>
        <p:spPr>
          <a:xfrm>
            <a:off x="731838" y="4621213"/>
            <a:ext cx="5851500" cy="3779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d1461dc0bb_0_0:notes"/>
          <p:cNvSpPr/>
          <p:nvPr>
            <p:ph idx="2" type="sldImg"/>
          </p:nvPr>
        </p:nvSpPr>
        <p:spPr>
          <a:xfrm>
            <a:off x="777875" y="1200150"/>
            <a:ext cx="5759400" cy="324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3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4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4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5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6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6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7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7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8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8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9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9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0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0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1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1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2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2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Relationship Id="rId4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Relationship Id="rId4" Type="http://schemas.openxmlformats.org/officeDocument/2006/relationships/image" Target="../media/image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Relationship Id="rId4" Type="http://schemas.openxmlformats.org/officeDocument/2006/relationships/image" Target="../media/image1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Relationship Id="rId4" Type="http://schemas.openxmlformats.org/officeDocument/2006/relationships/image" Target="../media/image1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Relationship Id="rId4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jpg"/><Relationship Id="rId4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4781916" y="1688267"/>
            <a:ext cx="749721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6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4781916" y="4415503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Dinesh Singh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4781916" y="4813108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&amp; Engineering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1"/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</p:grpSpPr>
        <p:sp>
          <p:nvSpPr>
            <p:cNvPr id="92" name="Google Shape;92;p1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4" name="Google Shape;94;p1"/>
          <p:cNvCxnSpPr/>
          <p:nvPr/>
        </p:nvCxnSpPr>
        <p:spPr>
          <a:xfrm flipH="1" rot="10800000">
            <a:off x="4781916" y="4112436"/>
            <a:ext cx="4581449" cy="1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95" name="Google Shape;95;p1"/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</p:grpSpPr>
        <p:sp>
          <p:nvSpPr>
            <p:cNvPr id="96" name="Google Shape;96;p1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052209"/>
            <a:ext cx="3469341" cy="19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/>
          <p:nvPr/>
        </p:nvSpPr>
        <p:spPr>
          <a:xfrm>
            <a:off x="598882" y="1737360"/>
            <a:ext cx="87279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6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598882" y="2888778"/>
            <a:ext cx="820548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E5395"/>
                </a:solidFill>
                <a:latin typeface="Calibri"/>
                <a:ea typeface="Calibri"/>
                <a:cs typeface="Calibri"/>
                <a:sym typeface="Calibri"/>
              </a:rPr>
              <a:t>RED BLACK TREES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598883" y="5489699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Dinesh Singh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598883" y="5887304"/>
            <a:ext cx="74972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&amp; Engineering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7" name="Google Shape;107;p2"/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</p:grpSpPr>
        <p:sp>
          <p:nvSpPr>
            <p:cNvPr id="108" name="Google Shape;108;p2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F4B08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F4B08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0" name="Google Shape;110;p2"/>
          <p:cNvCxnSpPr/>
          <p:nvPr/>
        </p:nvCxnSpPr>
        <p:spPr>
          <a:xfrm flipH="1" rot="10800000">
            <a:off x="0" y="2596822"/>
            <a:ext cx="7904054" cy="68537"/>
          </a:xfrm>
          <a:prstGeom prst="straightConnector1">
            <a:avLst/>
          </a:prstGeom>
          <a:noFill/>
          <a:ln cap="flat" cmpd="sng" w="38100">
            <a:solidFill>
              <a:srgbClr val="DFA26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11" name="Google Shape;1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Red Black Trees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3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8" name="Google Shape;118;p3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19" name="Google Shape;119;p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20" name="Google Shape;120;p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21" name="Google Shape;121;p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122" name="Google Shape;122;p3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815792" y="1868710"/>
            <a:ext cx="9968748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Red-Black tree is a kind of self-balancing binary search tree where each node has an extra bit, and that bit is often interpreted as the colour (red or black).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Although the balance of the tree is not perfect, it is good enough to reduce the searching time and maintain it around ϴ(log n) time, where n 	is the total number of elements in the tree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7323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Red Black Trees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4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33" name="Google Shape;133;p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34" name="Google Shape;134;p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35" name="Google Shape;135;p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136" name="Google Shape;136;p4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815792" y="1868710"/>
            <a:ext cx="9968748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Properties of Red Black Tree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27323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node has a colour either red or black.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root of the tree is always black.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no two adjacent red nodes (A red node cannot have a red parent or red child).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 Node is considered as BLACK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path from a node (including root) to any of its descendant’s NULL nodes has the same number of black nodes.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7323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Red Black Trees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5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6" name="Google Shape;146;p5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47" name="Google Shape;147;p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48" name="Google Shape;148;p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49" name="Google Shape;149;p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150" name="Google Shape;150;p5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784" y="1972548"/>
            <a:ext cx="6022117" cy="4126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1461dc0bb_0_0"/>
          <p:cNvSpPr/>
          <p:nvPr/>
        </p:nvSpPr>
        <p:spPr>
          <a:xfrm>
            <a:off x="371879" y="732580"/>
            <a:ext cx="860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Red Black Trees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g3d1461dc0bb_0_0"/>
          <p:cNvCxnSpPr/>
          <p:nvPr/>
        </p:nvCxnSpPr>
        <p:spPr>
          <a:xfrm>
            <a:off x="-8308" y="1316458"/>
            <a:ext cx="9008700" cy="1590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0" name="Google Shape;160;g3d1461dc0bb_0_0"/>
          <p:cNvSpPr/>
          <p:nvPr/>
        </p:nvSpPr>
        <p:spPr>
          <a:xfrm>
            <a:off x="393111" y="252240"/>
            <a:ext cx="74973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61" name="Google Shape;161;g3d1461dc0bb_0_0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62" name="Google Shape;162;g3d1461dc0bb_0_0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63" name="Google Shape;163;g3d1461dc0bb_0_0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164" name="Google Shape;164;g3d1461dc0bb_0_0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d1461dc0bb_0_0"/>
          <p:cNvSpPr/>
          <p:nvPr/>
        </p:nvSpPr>
        <p:spPr>
          <a:xfrm>
            <a:off x="605117" y="1510994"/>
            <a:ext cx="1017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d1461dc0bb_0_0"/>
          <p:cNvSpPr/>
          <p:nvPr/>
        </p:nvSpPr>
        <p:spPr>
          <a:xfrm>
            <a:off x="815792" y="1505641"/>
            <a:ext cx="9968700" cy="51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5016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Interesting points about Red-Black Tree:</a:t>
            </a:r>
            <a:endParaRPr/>
          </a:p>
          <a:p>
            <a:pPr indent="-381000" lvl="0" marL="457200" rtl="0" algn="just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Black height of the red-black tree is the number of black nodes on a path from   the root node to a leaf(NIL) node. All NIL nodes are also counted as black nodes. So, a   red-black tree of height h has black height &gt;= h/2. The longest Path from a   node to a leaf is at most  twice the length of the shortest path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2E5496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115" lvl="0" marL="3359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Height of a red-black tree with n nodes is h&lt;= 2 log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 + 1).</a:t>
            </a:r>
            <a:endParaRPr/>
          </a:p>
          <a:p>
            <a:pPr indent="-285115" lvl="0" marL="335915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leaves (NIL) are black.</a:t>
            </a:r>
            <a:endParaRPr/>
          </a:p>
          <a:p>
            <a:pPr indent="-285115" lvl="0" marL="335280" marR="43180" rtl="0" algn="l">
              <a:lnSpc>
                <a:spcPct val="1145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Black depth = number of black nodes from root to the node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115" lvl="0" marL="335915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red-black tree is a special case of a binary tree.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g3d1461dc0bb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Red Black Trees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7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4" name="Google Shape;174;p7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75" name="Google Shape;175;p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76" name="Google Shape;176;p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77" name="Google Shape;177;p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178" name="Google Shape;178;p7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605117" y="1514052"/>
            <a:ext cx="9968748" cy="44398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50165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Insertion into a Red Black Tree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Algorithm: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x be the newly inserted node.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Perform Standard BST Insertion and make the colour of newly inserted node as RED.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If x is the root, change the colour of x as BLACK.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Do the following if the color of x’s parent is not BLACK </a:t>
            </a: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x is not the root.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If x’s uncle is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1" lang="en-US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RED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b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(i)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Change the colour of parent and uncle as BLACK. </a:t>
            </a:r>
            <a:b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(ii)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Colour of a grandparent as RED. </a:t>
            </a:r>
            <a:b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(iii)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Change x = x’s grandparent, repeat steps 2 and 3 for new x. 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Red Black Trees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p8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8" name="Google Shape;188;p8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89" name="Google Shape;189;p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90" name="Google Shape;190;p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91" name="Google Shape;191;p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192" name="Google Shape;192;p8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578222" y="1510994"/>
            <a:ext cx="9968748" cy="3352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If x’s uncle is BLACK, then there can be four configurations for x, x’s parent (p)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and x’s grandparent (g) 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(i) Left Left Case (p is left child of g and x is left child of p) </a:t>
            </a:r>
            <a:b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(ii) Left Right Case (p is left child of g and x is the right child of p) </a:t>
            </a:r>
            <a:b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(iii) Right Right Case (Mirror of case i) </a:t>
            </a:r>
            <a:b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(iv) Right Left Case (Mirror of case ii)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Red Black Trees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" name="Google Shape;201;p9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2" name="Google Shape;202;p9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03" name="Google Shape;203;p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04" name="Google Shape;204;p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05" name="Google Shape;205;p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06" name="Google Shape;206;p9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578222" y="1510994"/>
            <a:ext cx="9968748" cy="15743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 Left Case (R rotation):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media.geeksforgeeks.org/wp-content/uploads/20200506190350/output244.png" id="210" name="Google Shape;21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2393574"/>
            <a:ext cx="7848600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Red Black Trees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p10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7" name="Google Shape;217;p10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18" name="Google Shape;218;p1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19" name="Google Shape;219;p1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20" name="Google Shape;220;p1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21" name="Google Shape;221;p10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578222" y="1510994"/>
            <a:ext cx="9968748" cy="1816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 Right Case (LR rotation):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media.geeksforgeeks.org/wp-content/uploads/20200506190543/output245.png" id="225" name="Google Shape;22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1293" y="2342428"/>
            <a:ext cx="8821271" cy="3829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Red Black Trees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" name="Google Shape;231;p11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2" name="Google Shape;232;p11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33" name="Google Shape;233;p1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34" name="Google Shape;234;p1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35" name="Google Shape;235;p1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36" name="Google Shape;236;p11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578222" y="1510994"/>
            <a:ext cx="9968748" cy="15485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Right Right Case (L rotation):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media.geeksforgeeks.org/wp-content/uploads/20200506190822/output246.png" id="240" name="Google Shape;24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399" y="2088776"/>
            <a:ext cx="9932895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Red Black Trees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" name="Google Shape;246;p12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7" name="Google Shape;247;p12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48" name="Google Shape;248;p1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49" name="Google Shape;249;p1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50" name="Google Shape;250;p1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51" name="Google Shape;251;p12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578222" y="1510994"/>
            <a:ext cx="9968748" cy="1877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Right Left Case (RL rotation):</a:t>
            </a:r>
            <a:endParaRPr/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media.geeksforgeeks.org/wp-content/uploads/20200506191035/output247.png" id="255" name="Google Shape;25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799" y="1922929"/>
            <a:ext cx="9740153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Red Black Trees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1" name="Google Shape;261;p13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2" name="Google Shape;262;p13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63" name="Google Shape;263;p1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64" name="Google Shape;264;p1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65" name="Google Shape;265;p1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66" name="Google Shape;266;p13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578222" y="1510994"/>
            <a:ext cx="9968748" cy="1877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red-black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3,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21,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5694" y="2824352"/>
            <a:ext cx="5311055" cy="15728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4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Red Black Trees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6" name="Google Shape;276;p14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7" name="Google Shape;277;p14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78" name="Google Shape;278;p1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79" name="Google Shape;279;p1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80" name="Google Shape;280;p1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81" name="Google Shape;281;p14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4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578222" y="1510994"/>
            <a:ext cx="9968748" cy="1877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red-black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3,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21,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4" name="Google Shape;28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17958" y="2535045"/>
            <a:ext cx="5029207" cy="2590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Red Black Trees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1" name="Google Shape;291;p15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2" name="Google Shape;292;p15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93" name="Google Shape;293;p1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94" name="Google Shape;294;p1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95" name="Google Shape;295;p1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96" name="Google Shape;296;p15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5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578222" y="1510994"/>
            <a:ext cx="9968748" cy="1877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red-black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3,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21,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" name="Google Shape;2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5935" y="1974842"/>
            <a:ext cx="6083502" cy="4593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Red Black Trees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6" name="Google Shape;306;p16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7" name="Google Shape;307;p16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08" name="Google Shape;308;p1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09" name="Google Shape;309;p1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10" name="Google Shape;310;p1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311" name="Google Shape;311;p16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6"/>
          <p:cNvSpPr/>
          <p:nvPr/>
        </p:nvSpPr>
        <p:spPr>
          <a:xfrm>
            <a:off x="578222" y="1510994"/>
            <a:ext cx="9968748" cy="1877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red-black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3,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21,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4" name="Google Shape;3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97202" y="2083920"/>
            <a:ext cx="5911373" cy="4343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7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Red Black Trees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1" name="Google Shape;321;p17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2" name="Google Shape;322;p17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23" name="Google Shape;323;p1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24" name="Google Shape;324;p1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25" name="Google Shape;325;p1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326" name="Google Shape;326;p17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7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7"/>
          <p:cNvSpPr/>
          <p:nvPr/>
        </p:nvSpPr>
        <p:spPr>
          <a:xfrm>
            <a:off x="578222" y="1510994"/>
            <a:ext cx="9968748" cy="15485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 Red Black Tree for the following numbers 3, 2, 5, 6, 10, 4 , 7, 8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9" name="Google Shape;3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12141" y="1987828"/>
            <a:ext cx="5950366" cy="4806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8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Red Black Trees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" name="Google Shape;336;p18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7" name="Google Shape;337;p18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38" name="Google Shape;338;p1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39" name="Google Shape;339;p1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40" name="Google Shape;340;p1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341" name="Google Shape;341;p18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8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8"/>
          <p:cNvSpPr/>
          <p:nvPr/>
        </p:nvSpPr>
        <p:spPr>
          <a:xfrm>
            <a:off x="578222" y="1510994"/>
            <a:ext cx="9968748" cy="15485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 Red Black Tree for the following numbers 3, 2, 5, 6, 10, 4 , 7, 8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4" name="Google Shape;3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7962" y="2541023"/>
            <a:ext cx="8016220" cy="26014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9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Multiple choice Questions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1" name="Google Shape;351;p19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2" name="Google Shape;352;p19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53" name="Google Shape;353;p1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54" name="Google Shape;354;p1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55" name="Google Shape;355;p1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356" name="Google Shape;356;p19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9"/>
          <p:cNvSpPr/>
          <p:nvPr/>
        </p:nvSpPr>
        <p:spPr>
          <a:xfrm>
            <a:off x="605117" y="1510994"/>
            <a:ext cx="10179423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During the insertion of a node in a Red-Black Tree, suppose: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new node is red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Its parent is red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uncle is also red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of the following operations is performed?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 Single rotation followed by recoloring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 Recolor parent and uncle to black, grandparent to red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 Double rotation followed by recoloring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 Recolor only the inserted node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B: Recolor parent and uncle to black, grandparent to red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8" name="Google Shape;3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0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Multiple choice Questions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4" name="Google Shape;364;p20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5" name="Google Shape;365;p20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66" name="Google Shape;366;p2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67" name="Google Shape;367;p2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68" name="Google Shape;368;p2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369" name="Google Shape;369;p20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0"/>
          <p:cNvSpPr/>
          <p:nvPr/>
        </p:nvSpPr>
        <p:spPr>
          <a:xfrm>
            <a:off x="605117" y="1510994"/>
            <a:ext cx="10179423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During Red-Black Tree insertion, suppose: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Parent of inserted node is red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Uncle is black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inserted node is the right child of a left child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sequence of operations will restore the Red-Black properties?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 Left rotation at parent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 Right rotation at grandparent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 Left rotation at parent followed by right rotation at grandparent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 Right rotation at parent followed by left rotation at grandparent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C:  Left rotation at parent followed by right rotation at grandparent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1" name="Google Shape;37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1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Multiple choice Questions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7" name="Google Shape;377;p21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8" name="Google Shape;378;p21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79" name="Google Shape;379;p2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80" name="Google Shape;380;p2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81" name="Google Shape;381;p2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382" name="Google Shape;382;p21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1"/>
          <p:cNvSpPr/>
          <p:nvPr/>
        </p:nvSpPr>
        <p:spPr>
          <a:xfrm>
            <a:off x="605117" y="1510994"/>
            <a:ext cx="10179423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During Red-Black Tree insertion, suppose the parent and uncle of the inserted node are both red. After recoloring: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Parent becomes black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Uncle becomes black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Grandparent becomes red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condition may still violate the Red-Black properties?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 Root becomes red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 Two consecutive red nodes may appear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 Black-height becomes unequal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 A node may have three children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B : Two consecutive red nodes may appear</a:t>
            </a:r>
            <a:endParaRPr/>
          </a:p>
        </p:txBody>
      </p:sp>
      <p:pic>
        <p:nvPicPr>
          <p:cNvPr id="384" name="Google Shape;38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2"/>
          <p:cNvSpPr/>
          <p:nvPr/>
        </p:nvSpPr>
        <p:spPr>
          <a:xfrm>
            <a:off x="5667375" y="2566988"/>
            <a:ext cx="4603750" cy="665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Dinesh Singh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&amp; Engineering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2"/>
          <p:cNvSpPr/>
          <p:nvPr/>
        </p:nvSpPr>
        <p:spPr>
          <a:xfrm>
            <a:off x="5680075" y="3127375"/>
            <a:ext cx="5256213" cy="603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1" name="Google Shape;39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0739" y="2334597"/>
            <a:ext cx="3150920" cy="17129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2" name="Google Shape;392;p22"/>
          <p:cNvCxnSpPr/>
          <p:nvPr/>
        </p:nvCxnSpPr>
        <p:spPr>
          <a:xfrm>
            <a:off x="4994108" y="3339537"/>
            <a:ext cx="4583156" cy="27277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2020-06-03T14:19:11Z</dcterms:created>
  <dc:creator>Krishna Venkataram</dc:creator>
</cp:coreProperties>
</file>