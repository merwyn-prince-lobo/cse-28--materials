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58" r:id="rId3"/>
    <p:sldId id="278" r:id="rId4"/>
    <p:sldId id="261" r:id="rId5"/>
    <p:sldId id="262" r:id="rId6"/>
    <p:sldId id="279" r:id="rId7"/>
    <p:sldId id="281" r:id="rId8"/>
    <p:sldId id="265" r:id="rId9"/>
    <p:sldId id="266" r:id="rId10"/>
    <p:sldId id="267" r:id="rId11"/>
    <p:sldId id="276" r:id="rId12"/>
    <p:sldId id="268" r:id="rId13"/>
    <p:sldId id="269" r:id="rId14"/>
    <p:sldId id="270" r:id="rId15"/>
    <p:sldId id="271" r:id="rId16"/>
    <p:sldId id="275" r:id="rId17"/>
    <p:sldId id="272" r:id="rId18"/>
    <p:sldId id="286" r:id="rId19"/>
    <p:sldId id="282" r:id="rId20"/>
    <p:sldId id="283" r:id="rId21"/>
    <p:sldId id="284" r:id="rId22"/>
    <p:sldId id="285" r:id="rId23"/>
    <p:sldId id="28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8" autoAdjust="0"/>
    <p:restoredTop sz="94660"/>
  </p:normalViewPr>
  <p:slideViewPr>
    <p:cSldViewPr snapToGrid="0">
      <p:cViewPr varScale="1">
        <p:scale>
          <a:sx n="71" d="100"/>
          <a:sy n="71" d="100"/>
        </p:scale>
        <p:origin x="41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635F3C-E135-426E-9386-DAFFC7A8379E}" type="datetimeFigureOut">
              <a:rPr lang="en-IN" smtClean="0"/>
              <a:t>21-03-2026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2BDB39-AEA8-4726-BAC6-E5A9E1E90593}" type="slidenum">
              <a:rPr lang="en-IN" smtClean="0"/>
              <a:t>‹#›</a:t>
            </a:fld>
            <a:endParaRPr lang="en-IN"/>
          </a:p>
        </p:txBody>
      </p:sp>
    </p:spTree>
    <p:extLst>
      <p:ext uri="{BB962C8B-B14F-4D97-AF65-F5344CB8AC3E}">
        <p14:creationId xmlns:p14="http://schemas.microsoft.com/office/powerpoint/2010/main" val="2769343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2290" name="Google Shape;1859;g16597ac8331_4_0:notes"/>
          <p:cNvSpPr txBox="1">
            <a:spLocks noGrp="1"/>
          </p:cNvSpPr>
          <p:nvPr>
            <p:ph type="body" idx="1"/>
          </p:nvPr>
        </p:nvSpPr>
        <p:spPr>
          <a:ln/>
        </p:spPr>
        <p:txBody>
          <a:bodyPr/>
          <a:lstStyle/>
          <a:p>
            <a:pPr marL="0" indent="0" eaLnBrk="1" hangingPunct="1">
              <a:buSzPts val="1400"/>
            </a:pPr>
            <a:endParaRPr lang="en-US" sz="1200" smtClean="0">
              <a:latin typeface="Calibri" panose="020F0502020204030204" pitchFamily="34" charset="0"/>
              <a:cs typeface="Calibri" panose="020F0502020204030204" pitchFamily="34" charset="0"/>
              <a:sym typeface="Calibri" panose="020F0502020204030204" pitchFamily="34" charset="0"/>
            </a:endParaRPr>
          </a:p>
        </p:txBody>
      </p:sp>
      <p:sp>
        <p:nvSpPr>
          <p:cNvPr id="12291" name="Google Shape;1860;g16597ac8331_4_0:notes"/>
          <p:cNvSpPr>
            <a:spLocks noGrp="1" noRot="1" noChangeAspect="1" noTextEdit="1"/>
          </p:cNvSpPr>
          <p:nvPr>
            <p:ph type="sldImg" idx="2"/>
          </p:nvPr>
        </p:nvSpPr>
        <p:spPr>
          <a:noFill/>
          <a:ln>
            <a:headEnd/>
            <a:tailEnd/>
          </a:ln>
        </p:spPr>
      </p:sp>
    </p:spTree>
    <p:extLst>
      <p:ext uri="{BB962C8B-B14F-4D97-AF65-F5344CB8AC3E}">
        <p14:creationId xmlns:p14="http://schemas.microsoft.com/office/powerpoint/2010/main" val="2039732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BB06EAA-ACE3-4BD7-819F-48D5C743B1B1}"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D3D38E-EC83-471E-996F-E7A5338EF65E}" type="slidenum">
              <a:rPr lang="en-IN" smtClean="0"/>
              <a:t>‹#›</a:t>
            </a:fld>
            <a:endParaRPr lang="en-IN"/>
          </a:p>
        </p:txBody>
      </p:sp>
    </p:spTree>
    <p:extLst>
      <p:ext uri="{BB962C8B-B14F-4D97-AF65-F5344CB8AC3E}">
        <p14:creationId xmlns:p14="http://schemas.microsoft.com/office/powerpoint/2010/main" val="2177525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BB06EAA-ACE3-4BD7-819F-48D5C743B1B1}"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D3D38E-EC83-471E-996F-E7A5338EF65E}" type="slidenum">
              <a:rPr lang="en-IN" smtClean="0"/>
              <a:t>‹#›</a:t>
            </a:fld>
            <a:endParaRPr lang="en-IN"/>
          </a:p>
        </p:txBody>
      </p:sp>
    </p:spTree>
    <p:extLst>
      <p:ext uri="{BB962C8B-B14F-4D97-AF65-F5344CB8AC3E}">
        <p14:creationId xmlns:p14="http://schemas.microsoft.com/office/powerpoint/2010/main" val="4205498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BB06EAA-ACE3-4BD7-819F-48D5C743B1B1}"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D3D38E-EC83-471E-996F-E7A5338EF65E}" type="slidenum">
              <a:rPr lang="en-IN" smtClean="0"/>
              <a:t>‹#›</a:t>
            </a:fld>
            <a:endParaRPr lang="en-IN"/>
          </a:p>
        </p:txBody>
      </p:sp>
    </p:spTree>
    <p:extLst>
      <p:ext uri="{BB962C8B-B14F-4D97-AF65-F5344CB8AC3E}">
        <p14:creationId xmlns:p14="http://schemas.microsoft.com/office/powerpoint/2010/main" val="1152302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BB06EAA-ACE3-4BD7-819F-48D5C743B1B1}" type="datetimeFigureOut">
              <a:rPr lang="en-IN" smtClean="0"/>
              <a:t>21-03-2026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D3D38E-EC83-471E-996F-E7A5338EF65E}" type="slidenum">
              <a:rPr lang="en-IN" smtClean="0"/>
              <a:t>‹#›</a:t>
            </a:fld>
            <a:endParaRPr lang="en-IN"/>
          </a:p>
        </p:txBody>
      </p:sp>
    </p:spTree>
    <p:extLst>
      <p:ext uri="{BB962C8B-B14F-4D97-AF65-F5344CB8AC3E}">
        <p14:creationId xmlns:p14="http://schemas.microsoft.com/office/powerpoint/2010/main" val="3181724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2BB06EAA-ACE3-4BD7-819F-48D5C743B1B1}" type="datetimeFigureOut">
              <a:rPr lang="en-IN" smtClean="0"/>
              <a:t>21-03-2026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1D3D38E-EC83-471E-996F-E7A5338EF65E}" type="slidenum">
              <a:rPr lang="en-IN" smtClean="0"/>
              <a:t>‹#›</a:t>
            </a:fld>
            <a:endParaRPr lang="en-IN"/>
          </a:p>
        </p:txBody>
      </p:sp>
    </p:spTree>
    <p:extLst>
      <p:ext uri="{BB962C8B-B14F-4D97-AF65-F5344CB8AC3E}">
        <p14:creationId xmlns:p14="http://schemas.microsoft.com/office/powerpoint/2010/main" val="1193481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2BB06EAA-ACE3-4BD7-819F-48D5C743B1B1}" type="datetimeFigureOut">
              <a:rPr lang="en-IN" smtClean="0"/>
              <a:t>21-03-2026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1D3D38E-EC83-471E-996F-E7A5338EF65E}" type="slidenum">
              <a:rPr lang="en-IN" smtClean="0"/>
              <a:t>‹#›</a:t>
            </a:fld>
            <a:endParaRPr lang="en-IN"/>
          </a:p>
        </p:txBody>
      </p:sp>
    </p:spTree>
    <p:extLst>
      <p:ext uri="{BB962C8B-B14F-4D97-AF65-F5344CB8AC3E}">
        <p14:creationId xmlns:p14="http://schemas.microsoft.com/office/powerpoint/2010/main" val="568855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B06EAA-ACE3-4BD7-819F-48D5C743B1B1}" type="datetimeFigureOut">
              <a:rPr lang="en-IN" smtClean="0"/>
              <a:t>21-03-2026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1D3D38E-EC83-471E-996F-E7A5338EF65E}" type="slidenum">
              <a:rPr lang="en-IN" smtClean="0"/>
              <a:t>‹#›</a:t>
            </a:fld>
            <a:endParaRPr lang="en-IN"/>
          </a:p>
        </p:txBody>
      </p:sp>
    </p:spTree>
    <p:extLst>
      <p:ext uri="{BB962C8B-B14F-4D97-AF65-F5344CB8AC3E}">
        <p14:creationId xmlns:p14="http://schemas.microsoft.com/office/powerpoint/2010/main" val="3221536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B06EAA-ACE3-4BD7-819F-48D5C743B1B1}" type="datetimeFigureOut">
              <a:rPr lang="en-IN" smtClean="0"/>
              <a:t>21-03-2026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D3D38E-EC83-471E-996F-E7A5338EF65E}" type="slidenum">
              <a:rPr lang="en-IN" smtClean="0"/>
              <a:t>‹#›</a:t>
            </a:fld>
            <a:endParaRPr lang="en-IN"/>
          </a:p>
        </p:txBody>
      </p:sp>
    </p:spTree>
    <p:extLst>
      <p:ext uri="{BB962C8B-B14F-4D97-AF65-F5344CB8AC3E}">
        <p14:creationId xmlns:p14="http://schemas.microsoft.com/office/powerpoint/2010/main" val="1241069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B06EAA-ACE3-4BD7-819F-48D5C743B1B1}" type="datetimeFigureOut">
              <a:rPr lang="en-IN" smtClean="0"/>
              <a:t>21-03-2026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D3D38E-EC83-471E-996F-E7A5338EF65E}" type="slidenum">
              <a:rPr lang="en-IN" smtClean="0"/>
              <a:t>‹#›</a:t>
            </a:fld>
            <a:endParaRPr lang="en-IN"/>
          </a:p>
        </p:txBody>
      </p:sp>
    </p:spTree>
    <p:extLst>
      <p:ext uri="{BB962C8B-B14F-4D97-AF65-F5344CB8AC3E}">
        <p14:creationId xmlns:p14="http://schemas.microsoft.com/office/powerpoint/2010/main" val="702395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BB06EAA-ACE3-4BD7-819F-48D5C743B1B1}"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D3D38E-EC83-471E-996F-E7A5338EF65E}" type="slidenum">
              <a:rPr lang="en-IN" smtClean="0"/>
              <a:t>‹#›</a:t>
            </a:fld>
            <a:endParaRPr lang="en-IN"/>
          </a:p>
        </p:txBody>
      </p:sp>
    </p:spTree>
    <p:extLst>
      <p:ext uri="{BB962C8B-B14F-4D97-AF65-F5344CB8AC3E}">
        <p14:creationId xmlns:p14="http://schemas.microsoft.com/office/powerpoint/2010/main" val="753065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BB06EAA-ACE3-4BD7-819F-48D5C743B1B1}"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D3D38E-EC83-471E-996F-E7A5338EF65E}" type="slidenum">
              <a:rPr lang="en-IN" smtClean="0"/>
              <a:t>‹#›</a:t>
            </a:fld>
            <a:endParaRPr lang="en-IN"/>
          </a:p>
        </p:txBody>
      </p:sp>
    </p:spTree>
    <p:extLst>
      <p:ext uri="{BB962C8B-B14F-4D97-AF65-F5344CB8AC3E}">
        <p14:creationId xmlns:p14="http://schemas.microsoft.com/office/powerpoint/2010/main" val="4155878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B06EAA-ACE3-4BD7-819F-48D5C743B1B1}" type="datetimeFigureOut">
              <a:rPr lang="en-IN" smtClean="0"/>
              <a:t>21-03-2026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D3D38E-EC83-471E-996F-E7A5338EF65E}" type="slidenum">
              <a:rPr lang="en-IN" smtClean="0"/>
              <a:t>‹#›</a:t>
            </a:fld>
            <a:endParaRPr lang="en-IN"/>
          </a:p>
        </p:txBody>
      </p:sp>
    </p:spTree>
    <p:extLst>
      <p:ext uri="{BB962C8B-B14F-4D97-AF65-F5344CB8AC3E}">
        <p14:creationId xmlns:p14="http://schemas.microsoft.com/office/powerpoint/2010/main" val="1549356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5DFE3490-CF8C-4FDE-9D71-2170861F2A61}"/>
              </a:ext>
            </a:extLst>
          </p:cNvPr>
          <p:cNvSpPr/>
          <p:nvPr/>
        </p:nvSpPr>
        <p:spPr>
          <a:xfrm>
            <a:off x="4694786" y="3371567"/>
            <a:ext cx="7497214" cy="646331"/>
          </a:xfrm>
          <a:prstGeom prst="rect">
            <a:avLst/>
          </a:prstGeom>
        </p:spPr>
        <p:txBody>
          <a:bodyPr wrap="square">
            <a:spAutoFit/>
          </a:bodyPr>
          <a:lstStyle/>
          <a:p>
            <a:r>
              <a:rPr lang="en-US" sz="3600" b="1" dirty="0" smtClean="0">
                <a:solidFill>
                  <a:schemeClr val="accent2">
                    <a:lumMod val="75000"/>
                  </a:schemeClr>
                </a:solidFill>
              </a:rPr>
              <a:t>Design and Analysis of Algorithms</a:t>
            </a:r>
            <a:endParaRPr lang="en-US" sz="3600" b="1" dirty="0">
              <a:solidFill>
                <a:schemeClr val="accent2">
                  <a:lumMod val="75000"/>
                </a:schemeClr>
              </a:solidFill>
            </a:endParaRPr>
          </a:p>
        </p:txBody>
      </p:sp>
      <p:sp>
        <p:nvSpPr>
          <p:cNvPr id="14" name="Rectangle 13">
            <a:extLst>
              <a:ext uri="{FF2B5EF4-FFF2-40B4-BE49-F238E27FC236}">
                <a16:creationId xmlns="" xmlns:a16="http://schemas.microsoft.com/office/drawing/2014/main" id="{585D8B7B-5B60-4808-A096-FB24198F96E9}"/>
              </a:ext>
            </a:extLst>
          </p:cNvPr>
          <p:cNvSpPr/>
          <p:nvPr/>
        </p:nvSpPr>
        <p:spPr>
          <a:xfrm>
            <a:off x="4822259" y="4439319"/>
            <a:ext cx="7497214" cy="461665"/>
          </a:xfrm>
          <a:prstGeom prst="rect">
            <a:avLst/>
          </a:prstGeom>
        </p:spPr>
        <p:txBody>
          <a:bodyPr wrap="square">
            <a:spAutoFit/>
          </a:bodyPr>
          <a:lstStyle/>
          <a:p>
            <a:r>
              <a:rPr lang="en-IN" sz="2400" b="1" dirty="0" smtClean="0"/>
              <a:t>Dinesh Singh</a:t>
            </a:r>
            <a:endParaRPr lang="en-IN" sz="2400" b="1" dirty="0"/>
          </a:p>
        </p:txBody>
      </p:sp>
      <p:sp>
        <p:nvSpPr>
          <p:cNvPr id="15" name="Rectangle 14">
            <a:extLst>
              <a:ext uri="{FF2B5EF4-FFF2-40B4-BE49-F238E27FC236}">
                <a16:creationId xmlns="" xmlns:a16="http://schemas.microsoft.com/office/drawing/2014/main" id="{743662B4-0C28-4203-AEB1-4CC1644B8226}"/>
              </a:ext>
            </a:extLst>
          </p:cNvPr>
          <p:cNvSpPr/>
          <p:nvPr/>
        </p:nvSpPr>
        <p:spPr>
          <a:xfrm>
            <a:off x="4781916" y="4813108"/>
            <a:ext cx="7497214" cy="461665"/>
          </a:xfrm>
          <a:prstGeom prst="rect">
            <a:avLst/>
          </a:prstGeom>
        </p:spPr>
        <p:txBody>
          <a:bodyPr wrap="square">
            <a:spAutoFit/>
          </a:bodyPr>
          <a:lstStyle/>
          <a:p>
            <a:r>
              <a:rPr lang="en-US" sz="2400" dirty="0"/>
              <a:t>Department of </a:t>
            </a:r>
            <a:r>
              <a:rPr lang="en-US" sz="2400" dirty="0" smtClean="0"/>
              <a:t>Computer Science &amp; </a:t>
            </a:r>
            <a:r>
              <a:rPr lang="en-US" sz="2400" dirty="0"/>
              <a:t>Engineering</a:t>
            </a:r>
            <a:endParaRPr lang="en-IN" sz="2400" dirty="0"/>
          </a:p>
        </p:txBody>
      </p:sp>
      <p:grpSp>
        <p:nvGrpSpPr>
          <p:cNvPr id="20" name="Group 19">
            <a:extLst>
              <a:ext uri="{FF2B5EF4-FFF2-40B4-BE49-F238E27FC236}">
                <a16:creationId xmlns="" xmlns:a16="http://schemas.microsoft.com/office/drawing/2014/main" id="{87008925-27BE-4F37-8F3C-D51A4CE1017D}"/>
              </a:ext>
            </a:extLst>
          </p:cNvPr>
          <p:cNvGrpSpPr/>
          <p:nvPr/>
        </p:nvGrpSpPr>
        <p:grpSpPr>
          <a:xfrm>
            <a:off x="313844" y="5489699"/>
            <a:ext cx="1066895" cy="1078155"/>
            <a:chOff x="313844" y="5489699"/>
            <a:chExt cx="1066895" cy="1078155"/>
          </a:xfrm>
          <a:solidFill>
            <a:schemeClr val="accent2">
              <a:lumMod val="75000"/>
            </a:schemeClr>
          </a:solidFill>
        </p:grpSpPr>
        <p:sp>
          <p:nvSpPr>
            <p:cNvPr id="24" name="Rectangle 23">
              <a:extLst>
                <a:ext uri="{FF2B5EF4-FFF2-40B4-BE49-F238E27FC236}">
                  <a16:creationId xmlns=""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1" name="Straight Connector 10">
            <a:extLst>
              <a:ext uri="{FF2B5EF4-FFF2-40B4-BE49-F238E27FC236}">
                <a16:creationId xmlns="" xmlns:a16="http://schemas.microsoft.com/office/drawing/2014/main" id="{1EEB87D2-BD33-43D4-B135-6F0E91C4917A}"/>
              </a:ext>
            </a:extLst>
          </p:cNvPr>
          <p:cNvCxnSpPr>
            <a:cxnSpLocks/>
          </p:cNvCxnSpPr>
          <p:nvPr/>
        </p:nvCxnSpPr>
        <p:spPr>
          <a:xfrm flipV="1">
            <a:off x="4781916" y="4017898"/>
            <a:ext cx="6449301" cy="9454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 xmlns:a16="http://schemas.microsoft.com/office/drawing/2014/main" id="{87008925-27BE-4F37-8F3C-D51A4CE1017D}"/>
              </a:ext>
            </a:extLst>
          </p:cNvPr>
          <p:cNvGrpSpPr/>
          <p:nvPr/>
        </p:nvGrpSpPr>
        <p:grpSpPr>
          <a:xfrm rot="10800000">
            <a:off x="10855702" y="266068"/>
            <a:ext cx="1066895" cy="1078155"/>
            <a:chOff x="313844" y="5489699"/>
            <a:chExt cx="1066895" cy="1078155"/>
          </a:xfrm>
          <a:solidFill>
            <a:schemeClr val="accent2">
              <a:lumMod val="75000"/>
            </a:schemeClr>
          </a:solidFill>
        </p:grpSpPr>
        <p:sp>
          <p:nvSpPr>
            <p:cNvPr id="17" name="Rectangle 16">
              <a:extLst>
                <a:ext uri="{FF2B5EF4-FFF2-40B4-BE49-F238E27FC236}">
                  <a16:creationId xmlns=""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3" name="Picture 12"/>
          <p:cNvPicPr>
            <a:picLocks noChangeAspect="1"/>
          </p:cNvPicPr>
          <p:nvPr/>
        </p:nvPicPr>
        <p:blipFill>
          <a:blip r:embed="rId2"/>
          <a:stretch>
            <a:fillRect/>
          </a:stretch>
        </p:blipFill>
        <p:spPr>
          <a:xfrm>
            <a:off x="1914692" y="3371567"/>
            <a:ext cx="2454107" cy="1261004"/>
          </a:xfrm>
          <a:prstGeom prst="rect">
            <a:avLst/>
          </a:prstGeom>
        </p:spPr>
      </p:pic>
    </p:spTree>
    <p:extLst>
      <p:ext uri="{BB962C8B-B14F-4D97-AF65-F5344CB8AC3E}">
        <p14:creationId xmlns:p14="http://schemas.microsoft.com/office/powerpoint/2010/main" val="22632610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5DFE3490-CF8C-4FDE-9D71-2170861F2A61}"/>
              </a:ext>
            </a:extLst>
          </p:cNvPr>
          <p:cNvSpPr/>
          <p:nvPr/>
        </p:nvSpPr>
        <p:spPr>
          <a:xfrm>
            <a:off x="313843" y="1715770"/>
            <a:ext cx="8727997" cy="646331"/>
          </a:xfrm>
          <a:prstGeom prst="rect">
            <a:avLst/>
          </a:prstGeom>
        </p:spPr>
        <p:txBody>
          <a:bodyPr wrap="square">
            <a:spAutoFit/>
          </a:bodyPr>
          <a:lstStyle/>
          <a:p>
            <a:r>
              <a:rPr lang="en-IN" sz="3600" b="1" cap="all" dirty="0" smtClean="0"/>
              <a:t>DESIGN AND ANALYSIS OF ALGORITHMS</a:t>
            </a:r>
            <a:endParaRPr lang="en-US" sz="3600" b="1" cap="all" dirty="0"/>
          </a:p>
        </p:txBody>
      </p:sp>
      <p:sp>
        <p:nvSpPr>
          <p:cNvPr id="13" name="Rectangle 12">
            <a:extLst>
              <a:ext uri="{FF2B5EF4-FFF2-40B4-BE49-F238E27FC236}">
                <a16:creationId xmlns="" xmlns:a16="http://schemas.microsoft.com/office/drawing/2014/main" id="{34CEFAD4-E477-4E46-B5A6-ADB26E6A2863}"/>
              </a:ext>
            </a:extLst>
          </p:cNvPr>
          <p:cNvSpPr/>
          <p:nvPr/>
        </p:nvSpPr>
        <p:spPr>
          <a:xfrm>
            <a:off x="309611" y="2900080"/>
            <a:ext cx="9627765" cy="646331"/>
          </a:xfrm>
          <a:prstGeom prst="rect">
            <a:avLst/>
          </a:prstGeom>
        </p:spPr>
        <p:txBody>
          <a:bodyPr wrap="square">
            <a:spAutoFit/>
          </a:bodyPr>
          <a:lstStyle/>
          <a:p>
            <a:r>
              <a:rPr lang="en-US" sz="3600" b="1" dirty="0" smtClean="0">
                <a:solidFill>
                  <a:schemeClr val="accent1">
                    <a:lumMod val="75000"/>
                  </a:schemeClr>
                </a:solidFill>
              </a:rPr>
              <a:t>Boyer Moore Algorithm</a:t>
            </a:r>
            <a:endParaRPr lang="en-IN" sz="3600" b="1" dirty="0">
              <a:solidFill>
                <a:schemeClr val="accent1">
                  <a:lumMod val="75000"/>
                </a:schemeClr>
              </a:solidFill>
            </a:endParaRPr>
          </a:p>
        </p:txBody>
      </p:sp>
      <p:sp>
        <p:nvSpPr>
          <p:cNvPr id="14" name="Rectangle 13">
            <a:extLst>
              <a:ext uri="{FF2B5EF4-FFF2-40B4-BE49-F238E27FC236}">
                <a16:creationId xmlns="" xmlns:a16="http://schemas.microsoft.com/office/drawing/2014/main" id="{585D8B7B-5B60-4808-A096-FB24198F96E9}"/>
              </a:ext>
            </a:extLst>
          </p:cNvPr>
          <p:cNvSpPr/>
          <p:nvPr/>
        </p:nvSpPr>
        <p:spPr>
          <a:xfrm>
            <a:off x="598883" y="5489699"/>
            <a:ext cx="7497214" cy="461665"/>
          </a:xfrm>
          <a:prstGeom prst="rect">
            <a:avLst/>
          </a:prstGeom>
        </p:spPr>
        <p:txBody>
          <a:bodyPr wrap="square">
            <a:spAutoFit/>
          </a:bodyPr>
          <a:lstStyle/>
          <a:p>
            <a:r>
              <a:rPr lang="en-IN" sz="2400" b="1" dirty="0" smtClean="0"/>
              <a:t>Dinesh Singh</a:t>
            </a:r>
            <a:endParaRPr lang="en-IN" sz="2400" b="1" dirty="0"/>
          </a:p>
        </p:txBody>
      </p:sp>
      <p:sp>
        <p:nvSpPr>
          <p:cNvPr id="15" name="Rectangle 14">
            <a:extLst>
              <a:ext uri="{FF2B5EF4-FFF2-40B4-BE49-F238E27FC236}">
                <a16:creationId xmlns="" xmlns:a16="http://schemas.microsoft.com/office/drawing/2014/main" id="{743662B4-0C28-4203-AEB1-4CC1644B8226}"/>
              </a:ext>
            </a:extLst>
          </p:cNvPr>
          <p:cNvSpPr/>
          <p:nvPr/>
        </p:nvSpPr>
        <p:spPr>
          <a:xfrm>
            <a:off x="598883" y="5887304"/>
            <a:ext cx="7497214" cy="400110"/>
          </a:xfrm>
          <a:prstGeom prst="rect">
            <a:avLst/>
          </a:prstGeom>
        </p:spPr>
        <p:txBody>
          <a:bodyPr wrap="square">
            <a:spAutoFit/>
          </a:bodyPr>
          <a:lstStyle/>
          <a:p>
            <a:r>
              <a:rPr lang="en-US" sz="2000" dirty="0"/>
              <a:t>Department of </a:t>
            </a:r>
            <a:r>
              <a:rPr lang="en-US" sz="2000" dirty="0" smtClean="0"/>
              <a:t>Computer Science &amp; </a:t>
            </a:r>
            <a:r>
              <a:rPr lang="en-US" sz="2000" dirty="0"/>
              <a:t>Engineering</a:t>
            </a:r>
            <a:endParaRPr lang="en-IN" sz="2000" dirty="0"/>
          </a:p>
        </p:txBody>
      </p:sp>
      <p:grpSp>
        <p:nvGrpSpPr>
          <p:cNvPr id="20" name="Group 19">
            <a:extLst>
              <a:ext uri="{FF2B5EF4-FFF2-40B4-BE49-F238E27FC236}">
                <a16:creationId xmlns="" xmlns:a16="http://schemas.microsoft.com/office/drawing/2014/main" id="{87008925-27BE-4F37-8F3C-D51A4CE1017D}"/>
              </a:ext>
            </a:extLst>
          </p:cNvPr>
          <p:cNvGrpSpPr/>
          <p:nvPr/>
        </p:nvGrpSpPr>
        <p:grpSpPr>
          <a:xfrm>
            <a:off x="313844" y="5489699"/>
            <a:ext cx="1066895" cy="1078155"/>
            <a:chOff x="313844" y="5489699"/>
            <a:chExt cx="1066895" cy="1078155"/>
          </a:xfrm>
          <a:solidFill>
            <a:schemeClr val="accent2">
              <a:lumMod val="60000"/>
              <a:lumOff val="40000"/>
            </a:schemeClr>
          </a:solidFill>
        </p:grpSpPr>
        <p:sp>
          <p:nvSpPr>
            <p:cNvPr id="24" name="Rectangle 23">
              <a:extLst>
                <a:ext uri="{FF2B5EF4-FFF2-40B4-BE49-F238E27FC236}">
                  <a16:creationId xmlns=""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6" name="Straight Connector 15">
            <a:extLst>
              <a:ext uri="{FF2B5EF4-FFF2-40B4-BE49-F238E27FC236}">
                <a16:creationId xmlns="" xmlns:a16="http://schemas.microsoft.com/office/drawing/2014/main" id="{DD6B6443-C2DA-47C3-A986-5EE935046CC9}"/>
              </a:ext>
            </a:extLst>
          </p:cNvPr>
          <p:cNvCxnSpPr>
            <a:cxnSpLocks/>
          </p:cNvCxnSpPr>
          <p:nvPr/>
        </p:nvCxnSpPr>
        <p:spPr>
          <a:xfrm flipV="1">
            <a:off x="0" y="2596822"/>
            <a:ext cx="7904054" cy="68537"/>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2"/>
          <a:stretch>
            <a:fillRect/>
          </a:stretch>
        </p:blipFill>
        <p:spPr>
          <a:xfrm>
            <a:off x="10406760" y="230188"/>
            <a:ext cx="1542422" cy="792549"/>
          </a:xfrm>
          <a:prstGeom prst="rect">
            <a:avLst/>
          </a:prstGeom>
        </p:spPr>
      </p:pic>
    </p:spTree>
    <p:extLst>
      <p:ext uri="{BB962C8B-B14F-4D97-AF65-F5344CB8AC3E}">
        <p14:creationId xmlns:p14="http://schemas.microsoft.com/office/powerpoint/2010/main" val="22640104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Boyer Moore Algorithm</a:t>
            </a:r>
            <a:endParaRPr lang="en-IN" sz="2400" b="1" dirty="0">
              <a:solidFill>
                <a:schemeClr val="accent2">
                  <a:lumMod val="75000"/>
                </a:schemeClr>
              </a:solidFill>
            </a:endParaRP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4" y="1513221"/>
            <a:ext cx="10321925" cy="4840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sz="2400" dirty="0"/>
              <a:t>Given a pattern </a:t>
            </a:r>
            <a:r>
              <a:rPr lang="en-US" sz="2400" dirty="0" smtClean="0"/>
              <a:t>P </a:t>
            </a:r>
            <a:r>
              <a:rPr lang="en-US" sz="2400" dirty="0"/>
              <a:t>of length </a:t>
            </a:r>
            <a:r>
              <a:rPr lang="en-US" sz="2400" dirty="0" smtClean="0"/>
              <a:t>m </a:t>
            </a:r>
            <a:r>
              <a:rPr lang="en-US" sz="2400" dirty="0"/>
              <a:t>and a text </a:t>
            </a:r>
            <a:r>
              <a:rPr lang="en-US" sz="2400" dirty="0" smtClean="0"/>
              <a:t>T </a:t>
            </a:r>
            <a:r>
              <a:rPr lang="en-US" sz="2400" dirty="0"/>
              <a:t>of length </a:t>
            </a:r>
            <a:r>
              <a:rPr lang="en-US" sz="2400" dirty="0" smtClean="0"/>
              <a:t>n</a:t>
            </a:r>
            <a:r>
              <a:rPr lang="en-US" sz="2400" dirty="0"/>
              <a:t>, the goal is to determine whether </a:t>
            </a:r>
            <a:r>
              <a:rPr lang="en-US" sz="2400" dirty="0" smtClean="0"/>
              <a:t>P </a:t>
            </a:r>
            <a:r>
              <a:rPr lang="en-US" sz="2400" dirty="0"/>
              <a:t>occurs in </a:t>
            </a:r>
            <a:r>
              <a:rPr lang="en-US" sz="2400" dirty="0" smtClean="0"/>
              <a:t>T.</a:t>
            </a:r>
          </a:p>
          <a:p>
            <a:pPr lvl="0"/>
            <a:r>
              <a:rPr lang="en-US" sz="2400" dirty="0" smtClean="0"/>
              <a:t>The </a:t>
            </a:r>
            <a:r>
              <a:rPr lang="en-US" sz="2400" dirty="0"/>
              <a:t>algorithm was developed by Robert Boyer and J. </a:t>
            </a:r>
            <a:r>
              <a:rPr lang="en-US" sz="2400" dirty="0" err="1"/>
              <a:t>Strother</a:t>
            </a:r>
            <a:r>
              <a:rPr lang="en-US" sz="2400" dirty="0"/>
              <a:t> Moore in 1977</a:t>
            </a:r>
            <a:r>
              <a:rPr lang="en-US" sz="2400" dirty="0" smtClean="0"/>
              <a:t>.</a:t>
            </a:r>
          </a:p>
          <a:p>
            <a:pPr lvl="0"/>
            <a:r>
              <a:rPr lang="en-US" sz="2400" dirty="0" smtClean="0"/>
              <a:t>The </a:t>
            </a:r>
            <a:r>
              <a:rPr lang="en-US" sz="2400" dirty="0"/>
              <a:t>pattern is aligned with the text and characters are compared from right to left (starting with the last character of the pattern</a:t>
            </a:r>
            <a:r>
              <a:rPr lang="en-US" sz="2400" dirty="0" smtClean="0"/>
              <a:t>).</a:t>
            </a:r>
          </a:p>
          <a:p>
            <a:pPr lvl="0"/>
            <a:r>
              <a:rPr lang="en-US" sz="2400" dirty="0" smtClean="0"/>
              <a:t>If </a:t>
            </a:r>
            <a:r>
              <a:rPr lang="en-US" sz="2400" dirty="0"/>
              <a:t>all characters match, an occurrence of the pattern is found</a:t>
            </a:r>
            <a:r>
              <a:rPr lang="en-US" sz="2400" dirty="0" smtClean="0"/>
              <a:t>.</a:t>
            </a:r>
          </a:p>
          <a:p>
            <a:pPr lvl="0"/>
            <a:r>
              <a:rPr lang="en-US" sz="2400" dirty="0" smtClean="0"/>
              <a:t>If </a:t>
            </a:r>
            <a:r>
              <a:rPr lang="en-US" sz="2400" dirty="0"/>
              <a:t>a mismatch occurs, the pattern is shifted to the right</a:t>
            </a:r>
            <a:r>
              <a:rPr lang="en-US" sz="2400" dirty="0" smtClean="0"/>
              <a:t>.</a:t>
            </a:r>
          </a:p>
          <a:p>
            <a:pPr lvl="0"/>
            <a:r>
              <a:rPr lang="en-US" sz="2400" dirty="0" smtClean="0"/>
              <a:t>The </a:t>
            </a:r>
            <a:r>
              <a:rPr lang="en-US" sz="2400" dirty="0"/>
              <a:t>amount of shift is determined using heuristics such as</a:t>
            </a:r>
            <a:r>
              <a:rPr lang="en-US" sz="2400" dirty="0" smtClean="0"/>
              <a:t>:</a:t>
            </a:r>
          </a:p>
          <a:p>
            <a:pPr lvl="1"/>
            <a:r>
              <a:rPr lang="en-US" sz="2200" dirty="0" smtClean="0"/>
              <a:t>Bad Symbol shift</a:t>
            </a:r>
          </a:p>
          <a:p>
            <a:pPr lvl="1"/>
            <a:r>
              <a:rPr lang="en-US" sz="2200" dirty="0" smtClean="0"/>
              <a:t>Good </a:t>
            </a:r>
            <a:r>
              <a:rPr lang="en-US" sz="2200" dirty="0"/>
              <a:t>Suffix </a:t>
            </a:r>
            <a:r>
              <a:rPr lang="en-US" sz="2200" dirty="0" smtClean="0"/>
              <a:t>shift</a:t>
            </a:r>
            <a:endParaRPr lang="en-US" sz="2200" dirty="0"/>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spTree>
    <p:extLst>
      <p:ext uri="{BB962C8B-B14F-4D97-AF65-F5344CB8AC3E}">
        <p14:creationId xmlns:p14="http://schemas.microsoft.com/office/powerpoint/2010/main" val="38875647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a:t>
            </a:r>
            <a:r>
              <a:rPr lang="en-IN" sz="2400" b="1" dirty="0">
                <a:solidFill>
                  <a:schemeClr val="accent2">
                    <a:lumMod val="75000"/>
                  </a:schemeClr>
                </a:solidFill>
              </a:rPr>
              <a:t>Boyer Moore Algorithm</a:t>
            </a: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5" y="1513221"/>
            <a:ext cx="10085042" cy="4840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sz="2400" b="1" dirty="0"/>
              <a:t>Bad Symbol Shift (d1)</a:t>
            </a:r>
          </a:p>
          <a:p>
            <a:pPr lvl="0"/>
            <a:endParaRPr lang="en-US" sz="2400" b="1" dirty="0"/>
          </a:p>
          <a:p>
            <a:r>
              <a:rPr lang="en-US" sz="2400" dirty="0"/>
              <a:t>The bad </a:t>
            </a:r>
            <a:r>
              <a:rPr lang="en-US" sz="2400" dirty="0" smtClean="0"/>
              <a:t>symbol  </a:t>
            </a:r>
            <a:r>
              <a:rPr lang="en-US" sz="2400" dirty="0"/>
              <a:t>shift is determined by the </a:t>
            </a:r>
            <a:r>
              <a:rPr lang="en-US" sz="2400" b="1" dirty="0"/>
              <a:t>text character </a:t>
            </a:r>
            <a:r>
              <a:rPr lang="en-US" sz="2400" b="1" dirty="0" smtClean="0"/>
              <a:t>c</a:t>
            </a:r>
            <a:r>
              <a:rPr lang="en-US" sz="2400" dirty="0" smtClean="0"/>
              <a:t> </a:t>
            </a:r>
            <a:r>
              <a:rPr lang="en-US" sz="2400" dirty="0"/>
              <a:t>that causes a mismatch with the pattern.</a:t>
            </a:r>
          </a:p>
          <a:p>
            <a:endParaRPr lang="en-US" sz="2400" dirty="0" smtClean="0"/>
          </a:p>
          <a:p>
            <a:endParaRPr lang="en-US" sz="2400" dirty="0"/>
          </a:p>
          <a:p>
            <a:endParaRPr lang="en-US" sz="2400" dirty="0" smtClean="0"/>
          </a:p>
          <a:p>
            <a:pPr marL="0" indent="0">
              <a:buNone/>
            </a:pPr>
            <a:endParaRPr lang="en-US" sz="2400" dirty="0"/>
          </a:p>
          <a:p>
            <a:r>
              <a:rPr lang="en-US" sz="2400" dirty="0" smtClean="0"/>
              <a:t>The </a:t>
            </a:r>
            <a:r>
              <a:rPr lang="en-US" sz="2400" dirty="0"/>
              <a:t>shift value is computed using a </a:t>
            </a:r>
            <a:r>
              <a:rPr lang="en-US" sz="2400" b="1" dirty="0"/>
              <a:t>preprocessed shift table</a:t>
            </a:r>
            <a:r>
              <a:rPr lang="en-US" sz="2400" dirty="0"/>
              <a:t> (as in the </a:t>
            </a:r>
            <a:r>
              <a:rPr lang="en-US" sz="2400" dirty="0" err="1"/>
              <a:t>Horspool</a:t>
            </a:r>
            <a:r>
              <a:rPr lang="en-US" sz="2400" dirty="0"/>
              <a:t> algorithm)</a:t>
            </a:r>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pic>
        <p:nvPicPr>
          <p:cNvPr id="2" name="Picture 1"/>
          <p:cNvPicPr>
            <a:picLocks noChangeAspect="1"/>
          </p:cNvPicPr>
          <p:nvPr/>
        </p:nvPicPr>
        <p:blipFill>
          <a:blip r:embed="rId3"/>
          <a:stretch>
            <a:fillRect/>
          </a:stretch>
        </p:blipFill>
        <p:spPr>
          <a:xfrm>
            <a:off x="779935" y="3607295"/>
            <a:ext cx="8220374" cy="1494260"/>
          </a:xfrm>
          <a:prstGeom prst="rect">
            <a:avLst/>
          </a:prstGeom>
        </p:spPr>
      </p:pic>
    </p:spTree>
    <p:extLst>
      <p:ext uri="{BB962C8B-B14F-4D97-AF65-F5344CB8AC3E}">
        <p14:creationId xmlns:p14="http://schemas.microsoft.com/office/powerpoint/2010/main" val="15675392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a:t>
            </a:r>
            <a:r>
              <a:rPr lang="en-IN" sz="2400" b="1" dirty="0">
                <a:solidFill>
                  <a:schemeClr val="accent2">
                    <a:lumMod val="75000"/>
                  </a:schemeClr>
                </a:solidFill>
              </a:rPr>
              <a:t>Boyer Moore Algorithm</a:t>
            </a: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5" y="1475121"/>
            <a:ext cx="10351060" cy="52237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sz="2000" b="1" dirty="0"/>
              <a:t>Bad Symbol Shift ( d1) </a:t>
            </a:r>
            <a:endParaRPr lang="en-US" sz="2000" b="1" dirty="0" smtClean="0"/>
          </a:p>
          <a:p>
            <a:r>
              <a:rPr lang="en-US" sz="2000" dirty="0"/>
              <a:t>The reasoning behind this shift is the reasoning </a:t>
            </a:r>
            <a:r>
              <a:rPr lang="en-US" sz="2000" dirty="0" smtClean="0"/>
              <a:t>used </a:t>
            </a:r>
            <a:r>
              <a:rPr lang="en-US" sz="2000" dirty="0"/>
              <a:t>in </a:t>
            </a:r>
            <a:r>
              <a:rPr lang="en-US" sz="2000" dirty="0" err="1" smtClean="0"/>
              <a:t>Horspool’s</a:t>
            </a:r>
            <a:r>
              <a:rPr lang="en-US" sz="2000" dirty="0" smtClean="0"/>
              <a:t> algorithm</a:t>
            </a:r>
            <a:r>
              <a:rPr lang="en-US" sz="2000" dirty="0"/>
              <a:t>. If </a:t>
            </a:r>
            <a:r>
              <a:rPr lang="en-US" sz="2000" i="1" dirty="0"/>
              <a:t>c </a:t>
            </a:r>
            <a:r>
              <a:rPr lang="en-US" sz="2000" dirty="0"/>
              <a:t>is not in the pattern, </a:t>
            </a:r>
            <a:r>
              <a:rPr lang="en-US" sz="2000" dirty="0"/>
              <a:t>s</a:t>
            </a:r>
            <a:r>
              <a:rPr lang="en-US" sz="2000" dirty="0" smtClean="0"/>
              <a:t>hift </a:t>
            </a:r>
            <a:r>
              <a:rPr lang="en-US" sz="2000" dirty="0"/>
              <a:t>the pattern to just pass </a:t>
            </a:r>
            <a:r>
              <a:rPr lang="en-US" sz="2000" dirty="0" smtClean="0"/>
              <a:t>this </a:t>
            </a:r>
            <a:r>
              <a:rPr lang="en-IN" sz="2000" i="1" dirty="0" smtClean="0"/>
              <a:t>c </a:t>
            </a:r>
            <a:r>
              <a:rPr lang="en-IN" sz="2000" dirty="0"/>
              <a:t>in the text.</a:t>
            </a:r>
            <a:endParaRPr lang="en-US" sz="2000" dirty="0"/>
          </a:p>
          <a:p>
            <a:r>
              <a:rPr lang="en-US" sz="2000" dirty="0" smtClean="0"/>
              <a:t>The </a:t>
            </a:r>
            <a:r>
              <a:rPr lang="en-US" sz="2000" dirty="0"/>
              <a:t>size of this shift is computed by the formula </a:t>
            </a:r>
            <a:r>
              <a:rPr lang="en-US" sz="2000" dirty="0" smtClean="0"/>
              <a:t>t(c</a:t>
            </a:r>
            <a:r>
              <a:rPr lang="en-US" sz="2000" dirty="0"/>
              <a:t>) − k , where </a:t>
            </a:r>
            <a:r>
              <a:rPr lang="en-US" sz="2000" dirty="0" smtClean="0"/>
              <a:t>t(c</a:t>
            </a:r>
            <a:r>
              <a:rPr lang="en-US" sz="2000" dirty="0"/>
              <a:t>) is the entry in the pre computed table used by </a:t>
            </a:r>
            <a:r>
              <a:rPr lang="en-US" sz="2000" dirty="0" err="1"/>
              <a:t>Horspool’s</a:t>
            </a:r>
            <a:r>
              <a:rPr lang="en-US" sz="2000" dirty="0"/>
              <a:t> algorithm and </a:t>
            </a:r>
            <a:r>
              <a:rPr lang="en-US" sz="2000" i="1" dirty="0"/>
              <a:t>k </a:t>
            </a:r>
            <a:r>
              <a:rPr lang="en-US" sz="2000" dirty="0"/>
              <a:t>is the number of matched characters</a:t>
            </a:r>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981" y="3145865"/>
            <a:ext cx="8810054" cy="3277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49283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a:t>
            </a:r>
            <a:r>
              <a:rPr lang="en-IN" sz="2400" b="1" dirty="0">
                <a:solidFill>
                  <a:schemeClr val="accent2">
                    <a:lumMod val="75000"/>
                  </a:schemeClr>
                </a:solidFill>
              </a:rPr>
              <a:t>Boyer Moore Algorithm</a:t>
            </a: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5" y="1513221"/>
            <a:ext cx="10085042" cy="4840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smtClean="0"/>
              <a:t>If t(c</a:t>
            </a:r>
            <a:r>
              <a:rPr lang="en-US" sz="2400" dirty="0"/>
              <a:t>)−</a:t>
            </a:r>
            <a:r>
              <a:rPr lang="en-US" sz="2400" dirty="0" smtClean="0"/>
              <a:t>k ≤ 0</a:t>
            </a:r>
            <a:r>
              <a:rPr lang="en-US" sz="2400" dirty="0"/>
              <a:t>, shift the pattern by one position to the right</a:t>
            </a:r>
            <a:r>
              <a:rPr lang="en-US" sz="2400" dirty="0" smtClean="0"/>
              <a:t>.</a:t>
            </a:r>
          </a:p>
          <a:p>
            <a:pPr marL="0" indent="0">
              <a:buNone/>
            </a:pPr>
            <a:endParaRPr lang="en-US" sz="2400" dirty="0"/>
          </a:p>
          <a:p>
            <a:pPr marL="0" indent="0">
              <a:buNone/>
            </a:pPr>
            <a:r>
              <a:rPr lang="en-US" sz="2400" dirty="0"/>
              <a:t>In general, the bad symbol shift is computed as:</a:t>
            </a:r>
          </a:p>
          <a:p>
            <a:pPr marL="0" indent="0">
              <a:buNone/>
            </a:pPr>
            <a:r>
              <a:rPr lang="en-US" sz="2400" dirty="0"/>
              <a:t>d1</a:t>
            </a:r>
            <a:r>
              <a:rPr lang="en-US" sz="2400" dirty="0" smtClean="0"/>
              <a:t>={  t(c</a:t>
            </a:r>
            <a:r>
              <a:rPr lang="en-US" sz="2400" dirty="0"/>
              <a:t>)−k</a:t>
            </a:r>
            <a:r>
              <a:rPr lang="en-US" sz="2400" dirty="0" smtClean="0"/>
              <a:t>, if</a:t>
            </a:r>
            <a:r>
              <a:rPr lang="en-US" sz="2400" dirty="0"/>
              <a:t> t(c)−</a:t>
            </a:r>
            <a:r>
              <a:rPr lang="en-US" sz="2400" dirty="0" smtClean="0"/>
              <a:t>k&gt;0</a:t>
            </a:r>
          </a:p>
          <a:p>
            <a:pPr marL="0" indent="0">
              <a:buNone/>
            </a:pPr>
            <a:r>
              <a:rPr lang="en-US" sz="2400" dirty="0"/>
              <a:t> </a:t>
            </a:r>
            <a:r>
              <a:rPr lang="en-US" sz="2400" dirty="0" smtClean="0"/>
              <a:t>            1 otherwise }</a:t>
            </a:r>
          </a:p>
          <a:p>
            <a:pPr marL="0" indent="0">
              <a:buNone/>
            </a:pPr>
            <a:r>
              <a:rPr lang="en-US" sz="2400" dirty="0" smtClean="0"/>
              <a:t>​ </a:t>
            </a:r>
            <a:r>
              <a:rPr lang="en-US" sz="2400" dirty="0"/>
              <a:t>This can be written compactly as:</a:t>
            </a:r>
          </a:p>
          <a:p>
            <a:pPr marL="0" indent="0">
              <a:buNone/>
            </a:pPr>
            <a:r>
              <a:rPr lang="en-US" sz="2400" dirty="0" smtClean="0"/>
              <a:t>d1</a:t>
            </a:r>
            <a:r>
              <a:rPr lang="en-US" sz="2400" dirty="0"/>
              <a:t>​=max(1,t(c)−k) Where</a:t>
            </a:r>
            <a:r>
              <a:rPr lang="en-US" sz="2400" dirty="0" smtClean="0"/>
              <a:t>:</a:t>
            </a:r>
          </a:p>
          <a:p>
            <a:pPr marL="457200" lvl="1" indent="0">
              <a:buNone/>
            </a:pPr>
            <a:r>
              <a:rPr lang="en-US" dirty="0" smtClean="0"/>
              <a:t>t(c) : </a:t>
            </a:r>
            <a:r>
              <a:rPr lang="en-US" dirty="0"/>
              <a:t>shift value from the </a:t>
            </a:r>
            <a:r>
              <a:rPr lang="en-US" dirty="0" err="1"/>
              <a:t>precomputed</a:t>
            </a:r>
            <a:r>
              <a:rPr lang="en-US" dirty="0"/>
              <a:t> table (</a:t>
            </a:r>
            <a:r>
              <a:rPr lang="en-US" dirty="0" err="1"/>
              <a:t>Horspool</a:t>
            </a:r>
            <a:r>
              <a:rPr lang="en-US" dirty="0"/>
              <a:t>)</a:t>
            </a:r>
          </a:p>
          <a:p>
            <a:pPr marL="457200" lvl="1" indent="0">
              <a:buNone/>
            </a:pPr>
            <a:r>
              <a:rPr lang="en-US" dirty="0" smtClean="0"/>
              <a:t>K : </a:t>
            </a:r>
            <a:r>
              <a:rPr lang="en-US" dirty="0"/>
              <a:t>number of characters matched from the right</a:t>
            </a:r>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spTree>
    <p:extLst>
      <p:ext uri="{BB962C8B-B14F-4D97-AF65-F5344CB8AC3E}">
        <p14:creationId xmlns:p14="http://schemas.microsoft.com/office/powerpoint/2010/main" val="22097312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a:t>
            </a:r>
            <a:r>
              <a:rPr lang="en-IN" sz="2400" b="1" dirty="0">
                <a:solidFill>
                  <a:schemeClr val="accent2">
                    <a:lumMod val="75000"/>
                  </a:schemeClr>
                </a:solidFill>
              </a:rPr>
              <a:t>Boyer Moore Algorithm</a:t>
            </a: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5" y="1513221"/>
            <a:ext cx="10085042" cy="4840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sz="2400" b="1" dirty="0"/>
              <a:t>Good Suffix Shift (d2)</a:t>
            </a:r>
          </a:p>
          <a:p>
            <a:r>
              <a:rPr lang="en-US" sz="2000" dirty="0" smtClean="0"/>
              <a:t>The </a:t>
            </a:r>
            <a:r>
              <a:rPr lang="en-US" sz="2000" dirty="0"/>
              <a:t>good suffix rule is applied when a suffix of length </a:t>
            </a:r>
            <a:r>
              <a:rPr lang="en-US" sz="2000" dirty="0" smtClean="0"/>
              <a:t>k&gt;0 </a:t>
            </a:r>
            <a:r>
              <a:rPr lang="en-US" sz="2000" dirty="0"/>
              <a:t>of the pattern matches the text, followed by a mismatch.</a:t>
            </a:r>
          </a:p>
          <a:p>
            <a:r>
              <a:rPr lang="en-US" sz="2000" dirty="0"/>
              <a:t>Let </a:t>
            </a:r>
            <a:r>
              <a:rPr lang="en-US" sz="2000" b="1" dirty="0" err="1" smtClean="0"/>
              <a:t>suff</a:t>
            </a:r>
            <a:r>
              <a:rPr lang="en-US" sz="2000" b="1" dirty="0" smtClean="0"/>
              <a:t>(k)</a:t>
            </a:r>
            <a:r>
              <a:rPr lang="en-US" sz="2000" dirty="0" smtClean="0"/>
              <a:t> </a:t>
            </a:r>
            <a:r>
              <a:rPr lang="en-US" sz="2000" dirty="0"/>
              <a:t>denote the suffix of length </a:t>
            </a:r>
            <a:r>
              <a:rPr lang="en-US" sz="2000" dirty="0" smtClean="0"/>
              <a:t>k </a:t>
            </a:r>
            <a:r>
              <a:rPr lang="en-US" sz="2000" dirty="0"/>
              <a:t>that has matched.</a:t>
            </a:r>
          </a:p>
          <a:p>
            <a:r>
              <a:rPr lang="en-US" sz="2000" dirty="0"/>
              <a:t>The shift is determined as follows</a:t>
            </a:r>
            <a:r>
              <a:rPr lang="en-US" sz="2000" dirty="0" smtClean="0"/>
              <a:t>:</a:t>
            </a:r>
          </a:p>
          <a:p>
            <a:endParaRPr lang="en-US" sz="2000" dirty="0"/>
          </a:p>
          <a:p>
            <a:pPr marL="0" indent="0">
              <a:buNone/>
            </a:pPr>
            <a:r>
              <a:rPr lang="en-US" sz="2000" b="1" dirty="0" smtClean="0"/>
              <a:t>Another occurrence of </a:t>
            </a:r>
            <a:r>
              <a:rPr lang="en-US" sz="2000" b="1" dirty="0" err="1" smtClean="0"/>
              <a:t>suff</a:t>
            </a:r>
            <a:r>
              <a:rPr lang="en-US" sz="2000" b="1" dirty="0" smtClean="0"/>
              <a:t>(k) exists</a:t>
            </a:r>
          </a:p>
          <a:p>
            <a:pPr marL="342900" indent="-342900"/>
            <a:r>
              <a:rPr lang="en-US" sz="2000" dirty="0"/>
              <a:t>Check if there is another occurrence of </a:t>
            </a:r>
            <a:r>
              <a:rPr lang="en-US" sz="2000" dirty="0" err="1"/>
              <a:t>suff</a:t>
            </a:r>
            <a:r>
              <a:rPr lang="en-US" sz="2000" dirty="0"/>
              <a:t>(k) in the pattern</a:t>
            </a:r>
            <a:r>
              <a:rPr lang="en-US" sz="2000" i="1" dirty="0"/>
              <a:t>  </a:t>
            </a:r>
            <a:r>
              <a:rPr lang="en-US" sz="2000" dirty="0"/>
              <a:t>which is not preceded by the same character as in its rightmost occurrence.</a:t>
            </a:r>
          </a:p>
          <a:p>
            <a:pPr marL="342900" indent="-342900"/>
            <a:r>
              <a:rPr lang="en-US" sz="2000" dirty="0"/>
              <a:t>If there is such a suffix, shift value (d2) is the  distance between such a second rightmost occurrence of </a:t>
            </a:r>
            <a:r>
              <a:rPr lang="en-US" sz="2000" i="1" dirty="0" err="1"/>
              <a:t>suff</a:t>
            </a:r>
            <a:r>
              <a:rPr lang="en-US" sz="2000" i="1" dirty="0"/>
              <a:t> (k) </a:t>
            </a:r>
            <a:r>
              <a:rPr lang="en-US" sz="2000" dirty="0"/>
              <a:t>and its rightmost occurrence.</a:t>
            </a:r>
          </a:p>
          <a:p>
            <a:pPr marL="0" indent="0">
              <a:buNone/>
            </a:pPr>
            <a:endParaRPr lang="en-US" sz="2000" b="1" dirty="0"/>
          </a:p>
          <a:p>
            <a:endParaRPr lang="en-US" sz="2000" dirty="0"/>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spTree>
    <p:extLst>
      <p:ext uri="{BB962C8B-B14F-4D97-AF65-F5344CB8AC3E}">
        <p14:creationId xmlns:p14="http://schemas.microsoft.com/office/powerpoint/2010/main" val="39063895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a:t>
            </a:r>
            <a:r>
              <a:rPr lang="en-IN" sz="2400" b="1" dirty="0">
                <a:solidFill>
                  <a:schemeClr val="accent2">
                    <a:lumMod val="75000"/>
                  </a:schemeClr>
                </a:solidFill>
              </a:rPr>
              <a:t>Boyer Moore Algorithm</a:t>
            </a: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5" y="1513221"/>
            <a:ext cx="10085042" cy="4840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smtClean="0"/>
              <a:t>For </a:t>
            </a:r>
            <a:r>
              <a:rPr lang="en-US" sz="2400" dirty="0"/>
              <a:t>example, for the pattern ABCBAB, the d2  for </a:t>
            </a:r>
            <a:r>
              <a:rPr lang="en-US" sz="2400" i="1" dirty="0"/>
              <a:t>k </a:t>
            </a:r>
            <a:r>
              <a:rPr lang="en-US" sz="2400" dirty="0"/>
              <a:t>= 1 and 2 will be 2 and 4, respectively</a:t>
            </a:r>
          </a:p>
          <a:p>
            <a:pPr marL="0" indent="0">
              <a:buNone/>
            </a:pPr>
            <a:r>
              <a:rPr lang="en-US" sz="2200" b="1" dirty="0" smtClean="0"/>
              <a:t>When </a:t>
            </a:r>
            <a:r>
              <a:rPr lang="en-US" sz="2200" b="1" dirty="0"/>
              <a:t>k=1 </a:t>
            </a:r>
            <a:r>
              <a:rPr lang="en-US" sz="2200" b="1" dirty="0" err="1"/>
              <a:t>suff</a:t>
            </a:r>
            <a:r>
              <a:rPr lang="en-US" sz="2200" b="1" dirty="0"/>
              <a:t>(k) = B</a:t>
            </a:r>
          </a:p>
          <a:p>
            <a:pPr marL="0" indent="0">
              <a:buNone/>
            </a:pPr>
            <a:r>
              <a:rPr lang="en-US" sz="2200" b="1" dirty="0"/>
              <a:t>( ‘B’ of pattern matches with the text)</a:t>
            </a:r>
          </a:p>
          <a:p>
            <a:pPr marL="0" indent="0">
              <a:buNone/>
            </a:pPr>
            <a:r>
              <a:rPr lang="en-US" sz="2200" b="1" dirty="0"/>
              <a:t>When k=2 </a:t>
            </a:r>
            <a:r>
              <a:rPr lang="en-US" sz="2200" b="1" dirty="0" err="1"/>
              <a:t>suff</a:t>
            </a:r>
            <a:r>
              <a:rPr lang="en-US" sz="2200" b="1" dirty="0"/>
              <a:t>(k)= AB </a:t>
            </a:r>
          </a:p>
          <a:p>
            <a:pPr marL="0" indent="0">
              <a:buNone/>
            </a:pPr>
            <a:r>
              <a:rPr lang="en-US" sz="2200" b="1" dirty="0"/>
              <a:t>( ‘AB’ of pattern  matches with the text)</a:t>
            </a:r>
          </a:p>
          <a:p>
            <a:endParaRPr lang="en-US" sz="2400" b="1" dirty="0"/>
          </a:p>
          <a:p>
            <a:endParaRPr lang="en-US" sz="2400" b="1" dirty="0"/>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9118" y="4531659"/>
            <a:ext cx="4195482" cy="2097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77514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a:t>
            </a:r>
            <a:r>
              <a:rPr lang="en-IN" sz="2400" b="1" dirty="0">
                <a:solidFill>
                  <a:schemeClr val="accent2">
                    <a:lumMod val="75000"/>
                  </a:schemeClr>
                </a:solidFill>
              </a:rPr>
              <a:t>Boyer Moore Algorithm</a:t>
            </a: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5" y="1513221"/>
            <a:ext cx="10085042" cy="4840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endParaRPr lang="en-US" sz="2400" dirty="0" smtClean="0"/>
          </a:p>
          <a:p>
            <a:pPr marL="342900" indent="-342900"/>
            <a:r>
              <a:rPr lang="en-US" sz="2400" dirty="0" smtClean="0"/>
              <a:t>If </a:t>
            </a:r>
            <a:r>
              <a:rPr lang="en-US" sz="2400" dirty="0"/>
              <a:t>there is no other occurrence of </a:t>
            </a:r>
            <a:r>
              <a:rPr lang="en-US" sz="2400" dirty="0" err="1"/>
              <a:t>suff</a:t>
            </a:r>
            <a:r>
              <a:rPr lang="en-US" sz="2400" dirty="0"/>
              <a:t> (k) that is not preceded by the same character as in its rightmost occurrence, In most cases, </a:t>
            </a:r>
            <a:r>
              <a:rPr lang="en-US" sz="2400" dirty="0" smtClean="0"/>
              <a:t>shift </a:t>
            </a:r>
            <a:r>
              <a:rPr lang="en-US" sz="2400" dirty="0"/>
              <a:t>the pattern by its entire length </a:t>
            </a:r>
            <a:r>
              <a:rPr lang="en-US" sz="2400" i="1" dirty="0"/>
              <a:t>m</a:t>
            </a:r>
            <a:r>
              <a:rPr lang="en-US" sz="2400" i="1" dirty="0" smtClean="0"/>
              <a:t>.</a:t>
            </a:r>
            <a:endParaRPr lang="en-US" sz="2400" i="1" dirty="0"/>
          </a:p>
          <a:p>
            <a:pPr marL="342900" indent="-342900"/>
            <a:r>
              <a:rPr lang="en-US" sz="2400" i="1" dirty="0"/>
              <a:t> </a:t>
            </a:r>
            <a:r>
              <a:rPr lang="en-US" sz="2400" dirty="0"/>
              <a:t>For example, for the pattern DBCBAB when </a:t>
            </a:r>
            <a:r>
              <a:rPr lang="en-US" sz="2400" i="1" dirty="0"/>
              <a:t>k </a:t>
            </a:r>
            <a:r>
              <a:rPr lang="en-US" sz="2400" dirty="0"/>
              <a:t>= 3</a:t>
            </a:r>
            <a:r>
              <a:rPr lang="en-US" sz="2400" i="1" dirty="0"/>
              <a:t>, </a:t>
            </a:r>
            <a:r>
              <a:rPr lang="en-US" sz="2400" dirty="0"/>
              <a:t>suffix (k) = BAB,</a:t>
            </a:r>
            <a:r>
              <a:rPr lang="en-US" sz="2400" i="1" dirty="0"/>
              <a:t> </a:t>
            </a:r>
            <a:r>
              <a:rPr lang="en-US" sz="2400" dirty="0" smtClean="0"/>
              <a:t> </a:t>
            </a:r>
            <a:r>
              <a:rPr lang="en-US" sz="2400" dirty="0"/>
              <a:t>shift the pattern by its entire length of 6 characters:</a:t>
            </a:r>
          </a:p>
          <a:p>
            <a:endParaRPr lang="en-US" sz="2400" dirty="0"/>
          </a:p>
          <a:p>
            <a:endParaRPr lang="en-US" sz="2400" dirty="0"/>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008" y="4529834"/>
            <a:ext cx="8242149" cy="156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3757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a:t>
            </a:r>
            <a:r>
              <a:rPr lang="en-IN" sz="2400" b="1" dirty="0">
                <a:solidFill>
                  <a:schemeClr val="accent2">
                    <a:lumMod val="75000"/>
                  </a:schemeClr>
                </a:solidFill>
              </a:rPr>
              <a:t>Boyer Moore Algorithm</a:t>
            </a: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5" y="1513221"/>
            <a:ext cx="10085042" cy="4840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400" b="1" dirty="0" smtClean="0"/>
          </a:p>
          <a:p>
            <a:pPr marL="0" indent="0">
              <a:buNone/>
            </a:pPr>
            <a:r>
              <a:rPr lang="en-US" sz="2400" b="1" dirty="0" smtClean="0"/>
              <a:t>But Shifting </a:t>
            </a:r>
            <a:r>
              <a:rPr lang="en-US" sz="2400" b="1" dirty="0"/>
              <a:t>the pattern by its entire length when there is no </a:t>
            </a:r>
            <a:r>
              <a:rPr lang="en-US" sz="2400" b="1" dirty="0" smtClean="0"/>
              <a:t>other occurrence </a:t>
            </a:r>
            <a:r>
              <a:rPr lang="en-US" sz="2400" b="1" dirty="0"/>
              <a:t>of </a:t>
            </a:r>
            <a:r>
              <a:rPr lang="en-US" sz="2400" b="1" dirty="0" err="1"/>
              <a:t>suff</a:t>
            </a:r>
            <a:r>
              <a:rPr lang="en-US" sz="2400" b="1" dirty="0"/>
              <a:t>(k) will not work always </a:t>
            </a:r>
          </a:p>
          <a:p>
            <a:pPr marL="0" indent="0">
              <a:buNone/>
            </a:pPr>
            <a:r>
              <a:rPr lang="en-US" sz="2400" b="1" dirty="0" smtClean="0"/>
              <a:t>For </a:t>
            </a:r>
            <a:r>
              <a:rPr lang="en-US" sz="2400" b="1" dirty="0"/>
              <a:t>example</a:t>
            </a:r>
            <a:r>
              <a:rPr lang="en-US" sz="2400" dirty="0" smtClean="0"/>
              <a:t>,</a:t>
            </a:r>
            <a:endParaRPr lang="en-US" sz="2400" dirty="0"/>
          </a:p>
          <a:p>
            <a:pPr marL="0" indent="0">
              <a:buNone/>
            </a:pPr>
            <a:r>
              <a:rPr lang="en-US" sz="2400" dirty="0"/>
              <a:t>For the pattern ABCBAB and </a:t>
            </a:r>
            <a:r>
              <a:rPr lang="en-US" sz="2400" i="1" dirty="0"/>
              <a:t>k </a:t>
            </a:r>
            <a:r>
              <a:rPr lang="en-US" sz="2400" dirty="0"/>
              <a:t>= 3</a:t>
            </a:r>
            <a:r>
              <a:rPr lang="en-US" sz="2400" i="1" dirty="0"/>
              <a:t>,</a:t>
            </a:r>
          </a:p>
          <a:p>
            <a:pPr marL="0" indent="0">
              <a:buNone/>
            </a:pPr>
            <a:r>
              <a:rPr lang="en-US" sz="2400" dirty="0"/>
              <a:t>shifting by 6 could miss a matching substring that starts with the text’s AB aligned with the last two characters of the pattern::</a:t>
            </a:r>
          </a:p>
          <a:p>
            <a:endParaRPr lang="en-US" sz="2400" b="1" dirty="0"/>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 y="4565164"/>
            <a:ext cx="9816353" cy="1969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9209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a:t>
            </a:r>
            <a:r>
              <a:rPr lang="en-IN" sz="2400" b="1" dirty="0">
                <a:solidFill>
                  <a:schemeClr val="accent2">
                    <a:lumMod val="75000"/>
                  </a:schemeClr>
                </a:solidFill>
              </a:rPr>
              <a:t>Boyer Moore Algorithm</a:t>
            </a: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5" y="1513221"/>
            <a:ext cx="10085042" cy="4840287"/>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endParaRPr lang="en-US" sz="2400" b="1" dirty="0"/>
          </a:p>
          <a:p>
            <a:pPr marL="0" indent="0">
              <a:buNone/>
            </a:pPr>
            <a:r>
              <a:rPr lang="en-US" sz="2600" dirty="0"/>
              <a:t>To avoid such an </a:t>
            </a:r>
            <a:r>
              <a:rPr lang="en-US" sz="2600" dirty="0" smtClean="0"/>
              <a:t>erroneous </a:t>
            </a:r>
            <a:r>
              <a:rPr lang="en-US" sz="2600" dirty="0"/>
              <a:t>shift , </a:t>
            </a:r>
          </a:p>
          <a:p>
            <a:pPr marL="0" indent="0">
              <a:buNone/>
            </a:pPr>
            <a:endParaRPr lang="en-US" sz="2600" dirty="0"/>
          </a:p>
          <a:p>
            <a:r>
              <a:rPr lang="en-US" sz="2600" dirty="0" smtClean="0"/>
              <a:t>Find </a:t>
            </a:r>
            <a:r>
              <a:rPr lang="en-US" sz="2600" dirty="0"/>
              <a:t>the longest prefix of size l &lt; k that matches the suffix of the same size l</a:t>
            </a:r>
            <a:r>
              <a:rPr lang="en-US" sz="2600" dirty="0" smtClean="0"/>
              <a:t>.</a:t>
            </a:r>
          </a:p>
          <a:p>
            <a:r>
              <a:rPr lang="en-US" sz="2600" dirty="0" smtClean="0"/>
              <a:t>If </a:t>
            </a:r>
            <a:r>
              <a:rPr lang="en-US" sz="2600" dirty="0"/>
              <a:t>such a prefix exists, the shift size d2 is computed as the distance between this prefix and the corresponding suffix; </a:t>
            </a:r>
          </a:p>
          <a:p>
            <a:pPr marL="342900" indent="-342900"/>
            <a:endParaRPr lang="en-US" sz="2600" dirty="0"/>
          </a:p>
          <a:p>
            <a:r>
              <a:rPr lang="en-US" sz="2600" dirty="0"/>
              <a:t>For </a:t>
            </a:r>
            <a:r>
              <a:rPr lang="en-US" sz="2600" dirty="0" err="1"/>
              <a:t>eg</a:t>
            </a:r>
            <a:r>
              <a:rPr lang="en-US" sz="2600" dirty="0"/>
              <a:t> , in the Pattern ABCBAB, when k=3, suffix(k) = </a:t>
            </a:r>
            <a:r>
              <a:rPr lang="en-US" sz="2600" dirty="0" smtClean="0"/>
              <a:t>BAB</a:t>
            </a:r>
          </a:p>
          <a:p>
            <a:pPr marL="0" indent="0">
              <a:buNone/>
            </a:pPr>
            <a:r>
              <a:rPr lang="en-US" sz="2600" dirty="0" smtClean="0"/>
              <a:t>    There </a:t>
            </a:r>
            <a:r>
              <a:rPr lang="en-US" sz="2600" dirty="0"/>
              <a:t>is no occurrence of another BAB in the pattern, </a:t>
            </a:r>
          </a:p>
          <a:p>
            <a:endParaRPr lang="en-US" sz="2600" dirty="0"/>
          </a:p>
          <a:p>
            <a:r>
              <a:rPr lang="en-US" sz="2600" dirty="0"/>
              <a:t>There is a prefix of size l= 2  </a:t>
            </a:r>
            <a:r>
              <a:rPr lang="en-US" sz="2600" dirty="0" err="1"/>
              <a:t>i.e</a:t>
            </a:r>
            <a:r>
              <a:rPr lang="en-US" sz="2600" dirty="0"/>
              <a:t> AB for which there is a matching suffix AB and l &lt; </a:t>
            </a:r>
            <a:r>
              <a:rPr lang="en-US" sz="2600" dirty="0" smtClean="0"/>
              <a:t>k</a:t>
            </a:r>
          </a:p>
          <a:p>
            <a:r>
              <a:rPr lang="en-US" sz="2600" dirty="0" smtClean="0"/>
              <a:t>Therefore </a:t>
            </a:r>
            <a:r>
              <a:rPr lang="en-US" sz="2600" dirty="0"/>
              <a:t>d2 = distance between such  prefix and corresponding suffix </a:t>
            </a:r>
          </a:p>
          <a:p>
            <a:pPr marL="0" indent="0">
              <a:buNone/>
            </a:pPr>
            <a:r>
              <a:rPr lang="en-US" sz="2600" dirty="0"/>
              <a:t>                          = 4</a:t>
            </a:r>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spTree>
    <p:extLst>
      <p:ext uri="{BB962C8B-B14F-4D97-AF65-F5344CB8AC3E}">
        <p14:creationId xmlns:p14="http://schemas.microsoft.com/office/powerpoint/2010/main" val="14050941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a:t>
            </a:r>
            <a:r>
              <a:rPr lang="en-IN" sz="2400" b="1" dirty="0">
                <a:solidFill>
                  <a:schemeClr val="accent2">
                    <a:lumMod val="75000"/>
                  </a:schemeClr>
                </a:solidFill>
              </a:rPr>
              <a:t>Boyer Moore Algorithm</a:t>
            </a: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4" y="1513221"/>
            <a:ext cx="11198226" cy="51288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Summary of Computing Good Suffix Shift </a:t>
            </a:r>
            <a:r>
              <a:rPr lang="en-US" sz="2400" b="1" dirty="0" smtClean="0"/>
              <a:t>d2</a:t>
            </a:r>
            <a:r>
              <a:rPr lang="en-US" sz="2400" b="1" dirty="0"/>
              <a:t>​</a:t>
            </a:r>
            <a:endParaRPr lang="en-US" sz="2400" dirty="0"/>
          </a:p>
          <a:p>
            <a:pPr marL="0" indent="0">
              <a:buNone/>
            </a:pPr>
            <a:r>
              <a:rPr lang="en-US" sz="2200" dirty="0"/>
              <a:t>Let </a:t>
            </a:r>
            <a:r>
              <a:rPr lang="en-US" sz="2200" dirty="0" err="1" smtClean="0"/>
              <a:t>suff</a:t>
            </a:r>
            <a:r>
              <a:rPr lang="en-US" sz="2200" dirty="0" smtClean="0"/>
              <a:t>(k) </a:t>
            </a:r>
            <a:r>
              <a:rPr lang="en-US" sz="2200" dirty="0"/>
              <a:t>be the suffix of length </a:t>
            </a:r>
            <a:r>
              <a:rPr lang="en-US" sz="2200" dirty="0" smtClean="0"/>
              <a:t>k that </a:t>
            </a:r>
            <a:r>
              <a:rPr lang="en-US" sz="2200" dirty="0"/>
              <a:t>matches the text</a:t>
            </a:r>
          </a:p>
          <a:p>
            <a:pPr marL="0" indent="0">
              <a:buNone/>
            </a:pPr>
            <a:r>
              <a:rPr lang="en-US" sz="2200" dirty="0"/>
              <a:t>Case 1: Another occurrence of </a:t>
            </a:r>
            <a:r>
              <a:rPr lang="en-US" sz="2200" dirty="0" err="1" smtClean="0"/>
              <a:t>suff</a:t>
            </a:r>
            <a:r>
              <a:rPr lang="en-US" sz="2200" dirty="0" smtClean="0"/>
              <a:t>(k) </a:t>
            </a:r>
            <a:r>
              <a:rPr lang="en-US" sz="2200" dirty="0"/>
              <a:t>exists</a:t>
            </a:r>
          </a:p>
          <a:p>
            <a:pPr marL="457200" lvl="1" indent="0">
              <a:buNone/>
            </a:pPr>
            <a:r>
              <a:rPr lang="en-US" sz="2000" dirty="0"/>
              <a:t>Check if </a:t>
            </a:r>
            <a:r>
              <a:rPr lang="en-US" sz="2000" dirty="0" err="1" smtClean="0"/>
              <a:t>suff</a:t>
            </a:r>
            <a:r>
              <a:rPr lang="en-US" sz="2000" dirty="0" smtClean="0"/>
              <a:t>(k) </a:t>
            </a:r>
            <a:r>
              <a:rPr lang="en-US" sz="2000" dirty="0"/>
              <a:t>appears elsewhere in the pattern and is not preceded by the mismatching character.</a:t>
            </a:r>
          </a:p>
          <a:p>
            <a:pPr marL="457200" lvl="1" indent="0">
              <a:buNone/>
            </a:pPr>
            <a:r>
              <a:rPr lang="en-US" sz="2000" dirty="0"/>
              <a:t>If such an occurrence exists,</a:t>
            </a:r>
          </a:p>
          <a:p>
            <a:pPr marL="457200" lvl="1" indent="0">
              <a:buNone/>
            </a:pPr>
            <a:r>
              <a:rPr lang="en-US" sz="2000" dirty="0"/>
              <a:t>d2=distance between this occurrence and the rightmost occurrence of </a:t>
            </a:r>
            <a:r>
              <a:rPr lang="en-US" sz="2000" dirty="0" err="1" smtClean="0"/>
              <a:t>suff</a:t>
            </a:r>
            <a:r>
              <a:rPr lang="en-US" sz="2000" dirty="0" smtClean="0"/>
              <a:t>(k)</a:t>
            </a:r>
            <a:endParaRPr lang="en-US" sz="2000" dirty="0"/>
          </a:p>
          <a:p>
            <a:pPr marL="0" indent="0">
              <a:buNone/>
            </a:pPr>
            <a:r>
              <a:rPr lang="en-US" sz="2200" dirty="0" smtClean="0"/>
              <a:t>Case </a:t>
            </a:r>
            <a:r>
              <a:rPr lang="en-US" sz="2200" dirty="0"/>
              <a:t>2: Prefix match exists</a:t>
            </a:r>
          </a:p>
          <a:p>
            <a:pPr marL="457200" lvl="1" indent="0">
              <a:buNone/>
            </a:pPr>
            <a:r>
              <a:rPr lang="en-US" sz="2000" dirty="0"/>
              <a:t>If no such occurrence exists, find the longest prefix of length </a:t>
            </a:r>
            <a:r>
              <a:rPr lang="en-US" sz="2000" dirty="0" smtClean="0"/>
              <a:t>l&lt;k </a:t>
            </a:r>
            <a:r>
              <a:rPr lang="en-US" sz="2000" dirty="0"/>
              <a:t>that matches a suffix of </a:t>
            </a:r>
            <a:r>
              <a:rPr lang="en-US" sz="2000" dirty="0" err="1" smtClean="0"/>
              <a:t>suff</a:t>
            </a:r>
            <a:r>
              <a:rPr lang="en-US" sz="2000" dirty="0" smtClean="0"/>
              <a:t>(k). If </a:t>
            </a:r>
            <a:r>
              <a:rPr lang="en-US" sz="2000" dirty="0"/>
              <a:t>found,</a:t>
            </a:r>
          </a:p>
          <a:p>
            <a:pPr marL="457200" lvl="1" indent="0">
              <a:buNone/>
            </a:pPr>
            <a:r>
              <a:rPr lang="en-US" sz="2000" dirty="0"/>
              <a:t>d2=distance required to align this prefix with the </a:t>
            </a:r>
            <a:r>
              <a:rPr lang="en-US" sz="2000" dirty="0" smtClean="0"/>
              <a:t>suffix</a:t>
            </a:r>
          </a:p>
          <a:p>
            <a:pPr marL="0" indent="0">
              <a:buNone/>
            </a:pPr>
            <a:r>
              <a:rPr lang="en-US" sz="2200" dirty="0"/>
              <a:t>Case 3: No match</a:t>
            </a:r>
          </a:p>
          <a:p>
            <a:pPr marL="457200" lvl="1" indent="0">
              <a:buNone/>
            </a:pPr>
            <a:r>
              <a:rPr lang="en-US" sz="2000" dirty="0"/>
              <a:t>If neither case applies,</a:t>
            </a:r>
          </a:p>
          <a:p>
            <a:pPr marL="457200" lvl="1" indent="0">
              <a:buNone/>
            </a:pPr>
            <a:r>
              <a:rPr lang="en-US" sz="2000" dirty="0"/>
              <a:t>d2=m(pattern </a:t>
            </a:r>
            <a:r>
              <a:rPr lang="en-US" sz="2000" dirty="0" smtClean="0"/>
              <a:t>length)</a:t>
            </a:r>
            <a:endParaRPr lang="en-US" sz="2000" dirty="0"/>
          </a:p>
          <a:p>
            <a:pPr marL="0" indent="0">
              <a:buNone/>
            </a:pPr>
            <a:endParaRPr lang="en-US" sz="2400" b="1" dirty="0"/>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spTree>
    <p:extLst>
      <p:ext uri="{BB962C8B-B14F-4D97-AF65-F5344CB8AC3E}">
        <p14:creationId xmlns:p14="http://schemas.microsoft.com/office/powerpoint/2010/main" val="23184507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a:t>
            </a:r>
            <a:r>
              <a:rPr lang="en-IN" sz="2400" b="1" dirty="0">
                <a:solidFill>
                  <a:schemeClr val="accent2">
                    <a:lumMod val="75000"/>
                  </a:schemeClr>
                </a:solidFill>
              </a:rPr>
              <a:t>Boyer Moore Algorithm</a:t>
            </a: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5" y="1513221"/>
            <a:ext cx="10085042" cy="4840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sz="2400" b="1" dirty="0"/>
              <a:t>Good Suffix Shift</a:t>
            </a:r>
            <a:r>
              <a:rPr lang="en-US" sz="2400" b="1" dirty="0" smtClean="0"/>
              <a:t>.</a:t>
            </a:r>
            <a:endParaRPr lang="en-US" sz="2400" b="1" dirty="0"/>
          </a:p>
          <a:p>
            <a:pPr marL="0" indent="0">
              <a:buNone/>
            </a:pPr>
            <a:r>
              <a:rPr lang="en-US" sz="2400" dirty="0"/>
              <a:t>As an example, here is the complete list of the d2 values for different values of k—the good-suffix table of the Boyer-Moore algorithm—for the pattern ABCBAB:</a:t>
            </a:r>
          </a:p>
          <a:p>
            <a:pPr marL="0" indent="0">
              <a:buNone/>
            </a:pPr>
            <a:r>
              <a:rPr lang="en-US" sz="2400" b="1" dirty="0"/>
              <a:t>The values for k=1 and 2 are got by applying the suffix rule and the rest by applying the prefix </a:t>
            </a:r>
            <a:r>
              <a:rPr lang="en-US" sz="2400" b="1" dirty="0" smtClean="0"/>
              <a:t>rule</a:t>
            </a:r>
          </a:p>
          <a:p>
            <a:endParaRPr lang="en-US" sz="2400" b="1" dirty="0"/>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4529" y="4057518"/>
            <a:ext cx="3307977" cy="2577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52166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a:t>
            </a:r>
            <a:r>
              <a:rPr lang="en-IN" sz="2400" b="1" dirty="0">
                <a:solidFill>
                  <a:schemeClr val="accent2">
                    <a:lumMod val="75000"/>
                  </a:schemeClr>
                </a:solidFill>
              </a:rPr>
              <a:t>Boyer Moore Algorithm</a:t>
            </a: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5" y="1513221"/>
            <a:ext cx="10085042" cy="4840287"/>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Step 1 </a:t>
            </a:r>
            <a:r>
              <a:rPr lang="en-US" sz="2400" dirty="0"/>
              <a:t>For a given pattern and the alphabet used in both the pattern and the text, construct the bad-symbol shift table.</a:t>
            </a:r>
          </a:p>
          <a:p>
            <a:endParaRPr lang="en-US" sz="2400" dirty="0"/>
          </a:p>
          <a:p>
            <a:pPr marL="0" indent="0">
              <a:buNone/>
            </a:pPr>
            <a:r>
              <a:rPr lang="en-US" sz="2400" b="1" dirty="0"/>
              <a:t>Step 2 </a:t>
            </a:r>
            <a:r>
              <a:rPr lang="en-US" sz="2400" dirty="0"/>
              <a:t>Using the pattern, construct the good-suffix shift table</a:t>
            </a:r>
          </a:p>
          <a:p>
            <a:pPr marL="0" indent="0">
              <a:buNone/>
            </a:pPr>
            <a:r>
              <a:rPr lang="en-US" sz="2400" b="1" dirty="0"/>
              <a:t>Step 3 </a:t>
            </a:r>
            <a:r>
              <a:rPr lang="en-US" sz="2400" dirty="0"/>
              <a:t>Align the pattern against the beginning of the text.</a:t>
            </a:r>
          </a:p>
          <a:p>
            <a:endParaRPr lang="en-US" sz="2400" dirty="0"/>
          </a:p>
          <a:p>
            <a:pPr marL="0" indent="0">
              <a:buNone/>
            </a:pPr>
            <a:r>
              <a:rPr lang="en-US" sz="2400" b="1" dirty="0"/>
              <a:t>Step 4  </a:t>
            </a:r>
            <a:r>
              <a:rPr lang="en-US" sz="2400" dirty="0"/>
              <a:t>Repeat the following step until either a matching substring is found or the pattern reaches beyond the last character of the text. Starting with the last character in the pattern, compare the corresponding characters in the pattern and the text until either all </a:t>
            </a:r>
            <a:r>
              <a:rPr lang="en-US" sz="2400" i="1" dirty="0"/>
              <a:t>m </a:t>
            </a:r>
            <a:r>
              <a:rPr lang="en-US" sz="2400" dirty="0"/>
              <a:t>character pairs are matched (then stop) or a mismatching pair is encountered after </a:t>
            </a:r>
            <a:r>
              <a:rPr lang="en-US" sz="2400" i="1" dirty="0"/>
              <a:t>k </a:t>
            </a:r>
            <a:r>
              <a:rPr lang="en-US" sz="2400" dirty="0"/>
              <a:t>≥ 0 character pairs are matched successfully. In the latter case, retrieve the entry </a:t>
            </a:r>
            <a:r>
              <a:rPr lang="en-US" sz="2400" i="1" dirty="0"/>
              <a:t>t</a:t>
            </a:r>
            <a:r>
              <a:rPr lang="en-US" sz="2400" dirty="0"/>
              <a:t>1</a:t>
            </a:r>
            <a:r>
              <a:rPr lang="en-US" sz="2400" i="1" dirty="0"/>
              <a:t>(c) </a:t>
            </a:r>
            <a:r>
              <a:rPr lang="en-US" sz="2400" dirty="0"/>
              <a:t>from the </a:t>
            </a:r>
            <a:r>
              <a:rPr lang="en-US" sz="2400" i="1" dirty="0"/>
              <a:t>c</a:t>
            </a:r>
            <a:r>
              <a:rPr lang="en-US" sz="2400" dirty="0"/>
              <a:t>’s column of the bad-symbol table where </a:t>
            </a:r>
            <a:r>
              <a:rPr lang="en-US" sz="2400" i="1" dirty="0"/>
              <a:t>c </a:t>
            </a:r>
            <a:r>
              <a:rPr lang="en-US" sz="2400" dirty="0"/>
              <a:t>is the text’s mismatched character. If </a:t>
            </a:r>
            <a:r>
              <a:rPr lang="en-US" sz="2400" i="1" dirty="0"/>
              <a:t>k &gt; </a:t>
            </a:r>
            <a:r>
              <a:rPr lang="en-US" sz="2400" dirty="0"/>
              <a:t>0</a:t>
            </a:r>
            <a:r>
              <a:rPr lang="en-US" sz="2400" i="1" dirty="0"/>
              <a:t>, </a:t>
            </a:r>
            <a:r>
              <a:rPr lang="en-US" sz="2400" dirty="0"/>
              <a:t>also retrieve the corresponding </a:t>
            </a:r>
            <a:r>
              <a:rPr lang="en-US" sz="2400" i="1" dirty="0"/>
              <a:t>d</a:t>
            </a:r>
            <a:r>
              <a:rPr lang="en-US" sz="2400" dirty="0"/>
              <a:t>2 entry from the good-suffix table. Shift the pattern to the right by the number of positions computed by the formula</a:t>
            </a:r>
          </a:p>
          <a:p>
            <a:endParaRPr lang="en-US" sz="2400" i="1" dirty="0"/>
          </a:p>
          <a:p>
            <a:pPr marL="0" indent="0">
              <a:buNone/>
            </a:pPr>
            <a:r>
              <a:rPr lang="en-US" sz="2400" b="1" i="1" dirty="0"/>
              <a:t>d </a:t>
            </a:r>
            <a:r>
              <a:rPr lang="en-US" sz="2400" b="1" dirty="0"/>
              <a:t>= </a:t>
            </a:r>
            <a:r>
              <a:rPr lang="en-US" sz="2400" b="1" i="1" dirty="0"/>
              <a:t>d</a:t>
            </a:r>
            <a:r>
              <a:rPr lang="en-US" sz="2400" b="1" dirty="0"/>
              <a:t>1 if </a:t>
            </a:r>
            <a:r>
              <a:rPr lang="en-US" sz="2400" b="1" i="1" dirty="0"/>
              <a:t>k </a:t>
            </a:r>
            <a:r>
              <a:rPr lang="en-US" sz="2400" b="1" dirty="0"/>
              <a:t>= 0,</a:t>
            </a:r>
          </a:p>
          <a:p>
            <a:pPr marL="0" indent="0">
              <a:buNone/>
            </a:pPr>
            <a:r>
              <a:rPr lang="en-US" sz="2400" b="1" dirty="0"/>
              <a:t>     =max{</a:t>
            </a:r>
            <a:r>
              <a:rPr lang="en-US" sz="2400" b="1" i="1" dirty="0"/>
              <a:t>d</a:t>
            </a:r>
            <a:r>
              <a:rPr lang="en-US" sz="2400" b="1" dirty="0"/>
              <a:t>1</a:t>
            </a:r>
            <a:r>
              <a:rPr lang="en-US" sz="2400" b="1" i="1" dirty="0"/>
              <a:t>, d</a:t>
            </a:r>
            <a:r>
              <a:rPr lang="en-US" sz="2400" b="1" dirty="0"/>
              <a:t>2} if </a:t>
            </a:r>
            <a:r>
              <a:rPr lang="en-US" sz="2400" b="1" i="1" dirty="0"/>
              <a:t>k &gt; </a:t>
            </a:r>
            <a:r>
              <a:rPr lang="en-US" sz="2400" b="1" dirty="0"/>
              <a:t>0,  where </a:t>
            </a:r>
            <a:r>
              <a:rPr lang="en-US" sz="2400" b="1" i="1" dirty="0"/>
              <a:t>d</a:t>
            </a:r>
            <a:r>
              <a:rPr lang="en-US" sz="2400" b="1" dirty="0"/>
              <a:t>1 = max{</a:t>
            </a:r>
            <a:r>
              <a:rPr lang="en-US" sz="2400" b="1" i="1" dirty="0"/>
              <a:t>t</a:t>
            </a:r>
            <a:r>
              <a:rPr lang="en-US" sz="2400" b="1" dirty="0"/>
              <a:t>1</a:t>
            </a:r>
            <a:r>
              <a:rPr lang="en-US" sz="2400" b="1" i="1" dirty="0"/>
              <a:t>(c) </a:t>
            </a:r>
            <a:r>
              <a:rPr lang="en-US" sz="2400" b="1" dirty="0"/>
              <a:t>− </a:t>
            </a:r>
            <a:r>
              <a:rPr lang="en-US" sz="2400" b="1" i="1" dirty="0"/>
              <a:t>k, </a:t>
            </a:r>
            <a:r>
              <a:rPr lang="en-US" sz="2400" b="1" dirty="0"/>
              <a:t>1}.</a:t>
            </a:r>
          </a:p>
          <a:p>
            <a:endParaRPr lang="en-US" sz="2400" b="1" dirty="0"/>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spTree>
    <p:extLst>
      <p:ext uri="{BB962C8B-B14F-4D97-AF65-F5344CB8AC3E}">
        <p14:creationId xmlns:p14="http://schemas.microsoft.com/office/powerpoint/2010/main" val="424151690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a:t>
            </a:r>
            <a:r>
              <a:rPr lang="en-IN" sz="2400" b="1" dirty="0">
                <a:solidFill>
                  <a:schemeClr val="accent2">
                    <a:lumMod val="75000"/>
                  </a:schemeClr>
                </a:solidFill>
              </a:rPr>
              <a:t>Boyer Moore Algorithm</a:t>
            </a: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5" y="1513221"/>
            <a:ext cx="10085042" cy="4840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Consider searching for the pattern BAOBAB in a text made of English letters and spaces. </a:t>
            </a:r>
          </a:p>
          <a:p>
            <a:endParaRPr lang="en-US" sz="2400" dirty="0"/>
          </a:p>
          <a:p>
            <a:pPr marL="0" indent="0">
              <a:buNone/>
            </a:pPr>
            <a:r>
              <a:rPr lang="en-US" sz="2400" dirty="0"/>
              <a:t>The bad-symbol table looks as follows:</a:t>
            </a:r>
          </a:p>
          <a:p>
            <a:endParaRPr lang="en-US" sz="2400" b="1" dirty="0"/>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4094255"/>
            <a:ext cx="7315200" cy="1728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57349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a:t>
            </a:r>
            <a:r>
              <a:rPr lang="en-IN" sz="2400" b="1" dirty="0">
                <a:solidFill>
                  <a:schemeClr val="accent2">
                    <a:lumMod val="75000"/>
                  </a:schemeClr>
                </a:solidFill>
              </a:rPr>
              <a:t>Boyer Moore Algorithm</a:t>
            </a: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5" y="1513221"/>
            <a:ext cx="10085042" cy="484028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The good-suffix table is filled as follows</a:t>
            </a:r>
            <a:r>
              <a:rPr lang="en-US" sz="2400" dirty="0" smtClean="0"/>
              <a:t>:</a:t>
            </a:r>
          </a:p>
          <a:p>
            <a:endParaRPr lang="en-US" sz="2400" dirty="0"/>
          </a:p>
          <a:p>
            <a:endParaRPr lang="en-US" sz="2400" dirty="0" smtClean="0"/>
          </a:p>
          <a:p>
            <a:endParaRPr lang="en-US" sz="2400" dirty="0"/>
          </a:p>
          <a:p>
            <a:endParaRPr lang="en-US" sz="2400" dirty="0" smtClean="0"/>
          </a:p>
          <a:p>
            <a:endParaRPr lang="en-US" sz="2400" dirty="0"/>
          </a:p>
          <a:p>
            <a:endParaRPr lang="en-US" sz="2400" dirty="0" smtClean="0"/>
          </a:p>
          <a:p>
            <a:endParaRPr lang="en-US" sz="2400" dirty="0"/>
          </a:p>
          <a:p>
            <a:endParaRPr lang="en-US" sz="2400" dirty="0" smtClean="0"/>
          </a:p>
          <a:p>
            <a:r>
              <a:rPr lang="en-US" sz="2400" dirty="0" smtClean="0"/>
              <a:t>The </a:t>
            </a:r>
            <a:r>
              <a:rPr lang="en-US" sz="2400" dirty="0"/>
              <a:t>first entry is got by applying the suffix rule, the rest by applying the prefix rule</a:t>
            </a:r>
          </a:p>
          <a:p>
            <a:endParaRPr lang="en-US" sz="2400" dirty="0"/>
          </a:p>
          <a:p>
            <a:pPr marL="0" indent="0">
              <a:buNone/>
            </a:pPr>
            <a:endParaRPr lang="en-US" sz="2400" dirty="0"/>
          </a:p>
          <a:p>
            <a:endParaRPr lang="en-US" sz="2400" b="1" dirty="0"/>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133597"/>
            <a:ext cx="3352800" cy="2965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47982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a:t>
            </a:r>
            <a:r>
              <a:rPr lang="en-IN" sz="2400" b="1" dirty="0">
                <a:solidFill>
                  <a:schemeClr val="accent2">
                    <a:lumMod val="75000"/>
                  </a:schemeClr>
                </a:solidFill>
              </a:rPr>
              <a:t>Boyer Moore Algorithm</a:t>
            </a: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5" y="1513221"/>
            <a:ext cx="10085042" cy="4840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Searching for the pattern BOABAB in the text </a:t>
            </a:r>
            <a:r>
              <a:rPr lang="en-US" sz="2400" dirty="0" smtClean="0"/>
              <a:t> BESS_KNEW_ABOUT </a:t>
            </a:r>
            <a:r>
              <a:rPr lang="en-US" sz="2400" dirty="0"/>
              <a:t>BAOBABS</a:t>
            </a:r>
          </a:p>
          <a:p>
            <a:pPr marL="0" indent="0">
              <a:buNone/>
            </a:pPr>
            <a:endParaRPr lang="en-US" sz="2400" dirty="0"/>
          </a:p>
          <a:p>
            <a:endParaRPr lang="en-US" sz="2400" dirty="0" smtClean="0"/>
          </a:p>
          <a:p>
            <a:endParaRPr lang="en-US" sz="2400" dirty="0"/>
          </a:p>
          <a:p>
            <a:endParaRPr lang="en-US" sz="2400" dirty="0" smtClean="0"/>
          </a:p>
          <a:p>
            <a:endParaRPr lang="en-US" sz="2400" dirty="0"/>
          </a:p>
          <a:p>
            <a:endParaRPr lang="en-US" sz="2400" dirty="0" smtClean="0"/>
          </a:p>
          <a:p>
            <a:endParaRPr lang="en-US" sz="2400" dirty="0"/>
          </a:p>
          <a:p>
            <a:endParaRPr lang="en-US" sz="2400" dirty="0" smtClean="0"/>
          </a:p>
          <a:p>
            <a:endParaRPr lang="en-US" sz="2400" dirty="0"/>
          </a:p>
          <a:p>
            <a:endParaRPr lang="en-US" sz="2400" b="1" dirty="0"/>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pic>
        <p:nvPicPr>
          <p:cNvPr id="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899" y="2164976"/>
            <a:ext cx="10890639" cy="3484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06820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a:t>
            </a:r>
            <a:r>
              <a:rPr lang="en-IN" sz="2400" b="1" dirty="0">
                <a:solidFill>
                  <a:schemeClr val="accent2">
                    <a:lumMod val="75000"/>
                  </a:schemeClr>
                </a:solidFill>
              </a:rPr>
              <a:t>Boyer Moore Algorithm</a:t>
            </a: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4" y="1513221"/>
            <a:ext cx="11184779" cy="4840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400" dirty="0" smtClean="0"/>
          </a:p>
          <a:p>
            <a:endParaRPr lang="en-US" sz="2400" dirty="0"/>
          </a:p>
          <a:p>
            <a:pPr marL="0" indent="0">
              <a:buNone/>
            </a:pPr>
            <a:endParaRPr lang="en-US" sz="2400" dirty="0" smtClean="0"/>
          </a:p>
          <a:p>
            <a:endParaRPr lang="en-US" sz="2400" dirty="0"/>
          </a:p>
          <a:p>
            <a:endParaRPr lang="en-US" sz="2400" dirty="0" smtClean="0"/>
          </a:p>
          <a:p>
            <a:endParaRPr lang="en-US" sz="2400" dirty="0"/>
          </a:p>
          <a:p>
            <a:endParaRPr lang="en-US" sz="2400" dirty="0" smtClean="0"/>
          </a:p>
          <a:p>
            <a:endParaRPr lang="en-US" sz="2400" dirty="0"/>
          </a:p>
          <a:p>
            <a:endParaRPr lang="en-US" sz="2400" b="1" dirty="0"/>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sp>
        <p:nvSpPr>
          <p:cNvPr id="4" name="Rectangle 3"/>
          <p:cNvSpPr/>
          <p:nvPr/>
        </p:nvSpPr>
        <p:spPr>
          <a:xfrm>
            <a:off x="735110" y="1511030"/>
            <a:ext cx="9780490" cy="2492990"/>
          </a:xfrm>
          <a:prstGeom prst="rect">
            <a:avLst/>
          </a:prstGeom>
        </p:spPr>
        <p:txBody>
          <a:bodyPr wrap="square">
            <a:spAutoFit/>
          </a:bodyPr>
          <a:lstStyle/>
          <a:p>
            <a:r>
              <a:rPr lang="en-US" sz="2400" b="1" dirty="0" smtClean="0"/>
              <a:t>Construct Good Suffix Table for the following Patterns</a:t>
            </a:r>
          </a:p>
          <a:p>
            <a:pPr marL="342900" indent="-342900">
              <a:buAutoNum type="arabicParenR"/>
            </a:pPr>
            <a:r>
              <a:rPr lang="en-US" sz="2000" b="1" dirty="0" smtClean="0"/>
              <a:t>WOWWOW</a:t>
            </a:r>
          </a:p>
          <a:p>
            <a:pPr marL="342900" indent="-342900">
              <a:buFontTx/>
              <a:buAutoNum type="arabicParenR"/>
            </a:pPr>
            <a:r>
              <a:rPr lang="en-US" sz="2000" b="1" dirty="0" smtClean="0"/>
              <a:t>01010</a:t>
            </a:r>
          </a:p>
          <a:p>
            <a:pPr marL="342900" indent="-342900">
              <a:buFontTx/>
              <a:buAutoNum type="arabicParenR"/>
            </a:pPr>
            <a:r>
              <a:rPr lang="en-US" sz="2000" b="1" dirty="0" smtClean="0"/>
              <a:t>ANPANMAN</a:t>
            </a:r>
          </a:p>
          <a:p>
            <a:pPr marL="342900" indent="-342900">
              <a:buFontTx/>
              <a:buAutoNum type="arabicParenR"/>
            </a:pPr>
            <a:endParaRPr lang="en-US" b="1" dirty="0"/>
          </a:p>
          <a:p>
            <a:endParaRPr lang="en-IN" dirty="0"/>
          </a:p>
          <a:p>
            <a:endParaRPr lang="en-US" dirty="0" smtClean="0"/>
          </a:p>
          <a:p>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157095020"/>
              </p:ext>
            </p:extLst>
          </p:nvPr>
        </p:nvGraphicFramePr>
        <p:xfrm>
          <a:off x="867579" y="3140750"/>
          <a:ext cx="3867785" cy="1597980"/>
        </p:xfrm>
        <a:graphic>
          <a:graphicData uri="http://schemas.openxmlformats.org/drawingml/2006/table">
            <a:tbl>
              <a:tblPr firstRow="1" firstCol="1" bandRow="1">
                <a:tableStyleId>{5C22544A-7EE6-4342-B048-85BDC9FD1C3A}</a:tableStyleId>
              </a:tblPr>
              <a:tblGrid>
                <a:gridCol w="627380"/>
                <a:gridCol w="1350010"/>
                <a:gridCol w="539750"/>
                <a:gridCol w="1350645"/>
              </a:tblGrid>
              <a:tr h="0">
                <a:tc>
                  <a:txBody>
                    <a:bodyPr/>
                    <a:lstStyle/>
                    <a:p>
                      <a:pPr algn="ctr">
                        <a:lnSpc>
                          <a:spcPct val="107000"/>
                        </a:lnSpc>
                        <a:spcAft>
                          <a:spcPts val="0"/>
                        </a:spcAft>
                      </a:pPr>
                      <a:r>
                        <a:rPr lang="en-US" sz="1400" b="1">
                          <a:effectLst/>
                          <a:latin typeface="Calibri" panose="020F0502020204030204" pitchFamily="34" charset="0"/>
                          <a:ea typeface="Calibri" panose="020F0502020204030204" pitchFamily="34" charset="0"/>
                          <a:cs typeface="Times New Roman" panose="02020603050405020304" pitchFamily="18" charset="0"/>
                        </a:rPr>
                        <a:t>K</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r>
                        <a:rPr lang="en-US" sz="1400" b="1">
                          <a:effectLst/>
                          <a:latin typeface="Calibri" panose="020F0502020204030204" pitchFamily="34" charset="0"/>
                          <a:ea typeface="Calibri" panose="020F0502020204030204" pitchFamily="34" charset="0"/>
                          <a:cs typeface="Times New Roman" panose="02020603050405020304" pitchFamily="18" charset="0"/>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b="1">
                          <a:effectLst/>
                          <a:latin typeface="Calibri" panose="020F0502020204030204" pitchFamily="34" charset="0"/>
                          <a:ea typeface="Calibri" panose="020F0502020204030204" pitchFamily="34" charset="0"/>
                          <a:cs typeface="Times New Roman" panose="02020603050405020304" pitchFamily="18" charset="0"/>
                        </a:rPr>
                        <a:t>Pattern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b="1">
                          <a:effectLst/>
                          <a:latin typeface="Calibri" panose="020F0502020204030204" pitchFamily="34" charset="0"/>
                          <a:ea typeface="Calibri" panose="020F0502020204030204" pitchFamily="34" charset="0"/>
                          <a:cs typeface="Times New Roman" panose="02020603050405020304" pitchFamily="18" charset="0"/>
                        </a:rPr>
                        <a:t>d2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r>
                        <a:rPr lang="en-US" sz="1400" b="1">
                          <a:effectLst/>
                          <a:latin typeface="Calibri" panose="020F0502020204030204" pitchFamily="34" charset="0"/>
                          <a:ea typeface="Calibri" panose="020F0502020204030204" pitchFamily="34" charset="0"/>
                          <a:cs typeface="Times New Roman" panose="02020603050405020304" pitchFamily="18" charset="0"/>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b="1" dirty="0">
                          <a:effectLst/>
                          <a:latin typeface="Calibri" panose="020F0502020204030204" pitchFamily="34" charset="0"/>
                          <a:ea typeface="Calibri" panose="020F0502020204030204" pitchFamily="34"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07000"/>
                        </a:lnSpc>
                        <a:spcAft>
                          <a:spcPts val="0"/>
                        </a:spcAft>
                      </a:pPr>
                      <a:r>
                        <a:rPr lang="en-US" sz="1400">
                          <a:effectLst/>
                        </a:rPr>
                        <a:t>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WOWWOW</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Suffix Rule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07000"/>
                        </a:lnSpc>
                        <a:spcAft>
                          <a:spcPts val="0"/>
                        </a:spcAft>
                      </a:pPr>
                      <a:r>
                        <a:rPr lang="en-US" sz="1400">
                          <a:effectLst/>
                        </a:rPr>
                        <a:t>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WOWWOW</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Prefix Rule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07000"/>
                        </a:lnSpc>
                        <a:spcAft>
                          <a:spcPts val="0"/>
                        </a:spcAft>
                      </a:pPr>
                      <a:r>
                        <a:rPr lang="en-US" sz="1400">
                          <a:effectLst/>
                        </a:rPr>
                        <a:t>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WOWWOW</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Suffix Rule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07000"/>
                        </a:lnSpc>
                        <a:spcAft>
                          <a:spcPts val="0"/>
                        </a:spcAft>
                      </a:pPr>
                      <a:r>
                        <a:rPr lang="en-US" sz="1400">
                          <a:effectLst/>
                        </a:rPr>
                        <a:t>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WOWWOW</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Prefix Rule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07000"/>
                        </a:lnSpc>
                        <a:spcAft>
                          <a:spcPts val="0"/>
                        </a:spcAft>
                      </a:pPr>
                      <a:r>
                        <a:rPr lang="en-US" sz="1400">
                          <a:effectLst/>
                        </a:rPr>
                        <a:t>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WOWWOW</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dirty="0">
                          <a:effectLst/>
                        </a:rPr>
                        <a:t>Prefix Rule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978425034"/>
              </p:ext>
            </p:extLst>
          </p:nvPr>
        </p:nvGraphicFramePr>
        <p:xfrm>
          <a:off x="5923667" y="2274461"/>
          <a:ext cx="3867785" cy="1569764"/>
        </p:xfrm>
        <a:graphic>
          <a:graphicData uri="http://schemas.openxmlformats.org/drawingml/2006/table">
            <a:tbl>
              <a:tblPr firstRow="1" firstCol="1" bandRow="1">
                <a:tableStyleId>{5C22544A-7EE6-4342-B048-85BDC9FD1C3A}</a:tableStyleId>
              </a:tblPr>
              <a:tblGrid>
                <a:gridCol w="627380"/>
                <a:gridCol w="1350010"/>
                <a:gridCol w="539750"/>
                <a:gridCol w="1350645"/>
              </a:tblGrid>
              <a:tr h="468737">
                <a:tc>
                  <a:txBody>
                    <a:bodyPr/>
                    <a:lstStyle/>
                    <a:p>
                      <a:pPr algn="ctr">
                        <a:lnSpc>
                          <a:spcPct val="107000"/>
                        </a:lnSpc>
                        <a:spcAft>
                          <a:spcPts val="0"/>
                        </a:spcAft>
                      </a:pPr>
                      <a:r>
                        <a:rPr lang="en-US" sz="1400" dirty="0">
                          <a:effectLst/>
                        </a:rPr>
                        <a:t>K</a:t>
                      </a:r>
                      <a:endParaRPr lang="en-IN" sz="1100" dirty="0">
                        <a:effectLst/>
                      </a:endParaRPr>
                    </a:p>
                    <a:p>
                      <a:pPr algn="ctr">
                        <a:lnSpc>
                          <a:spcPct val="107000"/>
                        </a:lnSpc>
                        <a:spcAft>
                          <a:spcPts val="0"/>
                        </a:spcAft>
                      </a:pPr>
                      <a:r>
                        <a:rPr lang="en-US" sz="14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dirty="0">
                          <a:effectLst/>
                        </a:rPr>
                        <a:t>Pattern</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dirty="0">
                          <a:effectLst/>
                        </a:rPr>
                        <a:t>d2</a:t>
                      </a:r>
                      <a:endParaRPr lang="en-IN" sz="1100" dirty="0">
                        <a:effectLst/>
                      </a:endParaRPr>
                    </a:p>
                    <a:p>
                      <a:pPr algn="ctr">
                        <a:lnSpc>
                          <a:spcPct val="107000"/>
                        </a:lnSpc>
                        <a:spcAft>
                          <a:spcPts val="0"/>
                        </a:spcAft>
                      </a:pPr>
                      <a:r>
                        <a:rPr lang="en-US" sz="14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2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07000"/>
                        </a:lnSpc>
                        <a:spcAft>
                          <a:spcPts val="0"/>
                        </a:spcAft>
                      </a:pPr>
                      <a:r>
                        <a:rPr lang="en-US" sz="1400">
                          <a:effectLst/>
                        </a:rPr>
                        <a:t>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dirty="0">
                          <a:effectLst/>
                        </a:rPr>
                        <a:t>         01010</a:t>
                      </a:r>
                      <a:endParaRPr lang="en-IN" sz="1100" dirty="0">
                        <a:effectLst/>
                      </a:endParaRPr>
                    </a:p>
                    <a:p>
                      <a:pPr algn="ctr">
                        <a:lnSpc>
                          <a:spcPct val="107000"/>
                        </a:lnSpc>
                        <a:spcAft>
                          <a:spcPts val="0"/>
                        </a:spcAft>
                      </a:pPr>
                      <a:r>
                        <a:rPr lang="en-US" sz="14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dirty="0">
                          <a:effectLst/>
                        </a:rPr>
                        <a:t>4</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dirty="0">
                          <a:effectLst/>
                        </a:rPr>
                        <a:t>Suffix Rule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07000"/>
                        </a:lnSpc>
                        <a:spcAft>
                          <a:spcPts val="0"/>
                        </a:spcAft>
                      </a:pPr>
                      <a:r>
                        <a:rPr lang="en-US" sz="1400">
                          <a:effectLst/>
                        </a:rPr>
                        <a:t>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01010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dirty="0">
                          <a:effectLst/>
                        </a:rPr>
                        <a:t>4</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dirty="0">
                          <a:effectLst/>
                        </a:rPr>
                        <a:t>Prefix Rule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07000"/>
                        </a:lnSpc>
                        <a:spcAft>
                          <a:spcPts val="0"/>
                        </a:spcAft>
                      </a:pPr>
                      <a:r>
                        <a:rPr lang="en-US" sz="1400">
                          <a:effectLst/>
                        </a:rPr>
                        <a:t>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01010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dirty="0">
                          <a:effectLst/>
                        </a:rPr>
                        <a:t>2</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dirty="0">
                          <a:effectLst/>
                        </a:rPr>
                        <a:t>Suffix Rule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07000"/>
                        </a:lnSpc>
                        <a:spcAft>
                          <a:spcPts val="0"/>
                        </a:spcAft>
                      </a:pPr>
                      <a:r>
                        <a:rPr lang="en-US" sz="1400">
                          <a:effectLst/>
                        </a:rPr>
                        <a:t>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01010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dirty="0">
                          <a:effectLst/>
                        </a:rPr>
                        <a:t>2</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dirty="0">
                          <a:effectLst/>
                        </a:rPr>
                        <a:t>Prefix Rule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4019859563"/>
              </p:ext>
            </p:extLst>
          </p:nvPr>
        </p:nvGraphicFramePr>
        <p:xfrm>
          <a:off x="5901050" y="4038663"/>
          <a:ext cx="4047490" cy="2347375"/>
        </p:xfrm>
        <a:graphic>
          <a:graphicData uri="http://schemas.openxmlformats.org/drawingml/2006/table">
            <a:tbl>
              <a:tblPr firstRow="1" firstCol="1" bandRow="1">
                <a:tableStyleId>{5C22544A-7EE6-4342-B048-85BDC9FD1C3A}</a:tableStyleId>
              </a:tblPr>
              <a:tblGrid>
                <a:gridCol w="627380"/>
                <a:gridCol w="1350010"/>
                <a:gridCol w="539750"/>
                <a:gridCol w="1530350"/>
              </a:tblGrid>
              <a:tr h="0">
                <a:tc>
                  <a:txBody>
                    <a:bodyPr/>
                    <a:lstStyle/>
                    <a:p>
                      <a:pPr algn="ctr">
                        <a:lnSpc>
                          <a:spcPct val="107000"/>
                        </a:lnSpc>
                        <a:spcAft>
                          <a:spcPts val="0"/>
                        </a:spcAft>
                      </a:pPr>
                      <a:r>
                        <a:rPr lang="en-US" sz="1400" dirty="0">
                          <a:effectLst/>
                        </a:rPr>
                        <a:t>K</a:t>
                      </a:r>
                      <a:endParaRPr lang="en-IN" sz="1100" dirty="0">
                        <a:effectLst/>
                      </a:endParaRPr>
                    </a:p>
                    <a:p>
                      <a:pPr algn="ctr">
                        <a:lnSpc>
                          <a:spcPct val="107000"/>
                        </a:lnSpc>
                        <a:spcAft>
                          <a:spcPts val="0"/>
                        </a:spcAft>
                      </a:pPr>
                      <a:r>
                        <a:rPr lang="en-US" sz="14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Pattern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d2</a:t>
                      </a:r>
                      <a:endParaRPr lang="en-IN" sz="1100">
                        <a:effectLst/>
                      </a:endParaRPr>
                    </a:p>
                    <a:p>
                      <a:pPr algn="ctr">
                        <a:lnSpc>
                          <a:spcPct val="107000"/>
                        </a:lnSpc>
                        <a:spcAft>
                          <a:spcPts val="0"/>
                        </a:spcAft>
                      </a:pPr>
                      <a:r>
                        <a:rPr lang="en-US" sz="1400">
                          <a:effectLst/>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38785">
                <a:tc>
                  <a:txBody>
                    <a:bodyPr/>
                    <a:lstStyle/>
                    <a:p>
                      <a:pPr algn="ctr">
                        <a:lnSpc>
                          <a:spcPct val="107000"/>
                        </a:lnSpc>
                        <a:spcAft>
                          <a:spcPts val="0"/>
                        </a:spcAft>
                      </a:pPr>
                      <a:r>
                        <a:rPr lang="en-US" sz="1400">
                          <a:effectLst/>
                        </a:rPr>
                        <a:t>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ANPANMAN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Length of Pattern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07000"/>
                        </a:lnSpc>
                        <a:spcAft>
                          <a:spcPts val="0"/>
                        </a:spcAft>
                      </a:pPr>
                      <a:r>
                        <a:rPr lang="en-US" sz="1400">
                          <a:effectLst/>
                        </a:rPr>
                        <a:t>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ANPANMAN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Suffix Rule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71191">
                <a:tc>
                  <a:txBody>
                    <a:bodyPr/>
                    <a:lstStyle/>
                    <a:p>
                      <a:pPr algn="ctr">
                        <a:lnSpc>
                          <a:spcPct val="107000"/>
                        </a:lnSpc>
                        <a:spcAft>
                          <a:spcPts val="0"/>
                        </a:spcAft>
                      </a:pPr>
                      <a:r>
                        <a:rPr lang="en-US" sz="1400">
                          <a:effectLst/>
                        </a:rPr>
                        <a:t>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dirty="0">
                          <a:effectLst/>
                        </a:rPr>
                        <a:t>ANPANMAN</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Prefix Rule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07000"/>
                        </a:lnSpc>
                        <a:spcAft>
                          <a:spcPts val="0"/>
                        </a:spcAft>
                      </a:pPr>
                      <a:r>
                        <a:rPr lang="en-US" sz="1400">
                          <a:effectLst/>
                        </a:rPr>
                        <a:t>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ANPANMAN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Prefix Rule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07000"/>
                        </a:lnSpc>
                        <a:spcAft>
                          <a:spcPts val="0"/>
                        </a:spcAft>
                      </a:pPr>
                      <a:r>
                        <a:rPr lang="en-US" sz="1400">
                          <a:effectLst/>
                        </a:rPr>
                        <a:t>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ANPANMAN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Prefix Rule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07000"/>
                        </a:lnSpc>
                        <a:spcAft>
                          <a:spcPts val="0"/>
                        </a:spcAft>
                      </a:pPr>
                      <a:r>
                        <a:rPr lang="en-US" sz="1400">
                          <a:effectLst/>
                        </a:rPr>
                        <a:t>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ANPANMAN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Prefix Rule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gn="ctr">
                        <a:lnSpc>
                          <a:spcPct val="107000"/>
                        </a:lnSpc>
                        <a:spcAft>
                          <a:spcPts val="0"/>
                        </a:spcAft>
                      </a:pPr>
                      <a:r>
                        <a:rPr lang="en-US" sz="1400">
                          <a:effectLst/>
                        </a:rPr>
                        <a:t>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ANPANMAN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a:effectLst/>
                        </a:rPr>
                        <a:t>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dirty="0">
                          <a:effectLst/>
                        </a:rPr>
                        <a:t>Prefix Rule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25032143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Multiple Choice Questions</a:t>
            </a:r>
            <a:endParaRPr lang="en-IN" sz="2400" b="1" dirty="0">
              <a:solidFill>
                <a:schemeClr val="accent2">
                  <a:lumMod val="75000"/>
                </a:schemeClr>
              </a:solidFill>
            </a:endParaRP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5" y="1513221"/>
            <a:ext cx="10085042" cy="4840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Given a pattern of length </a:t>
            </a:r>
            <a:r>
              <a:rPr lang="en-US" sz="2400" dirty="0" smtClean="0"/>
              <a:t>m=8, </a:t>
            </a:r>
            <a:r>
              <a:rPr lang="en-US" sz="2400" dirty="0"/>
              <a:t>suppose during matching:</a:t>
            </a:r>
          </a:p>
          <a:p>
            <a:pPr marL="0" indent="0">
              <a:buNone/>
            </a:pPr>
            <a:r>
              <a:rPr lang="en-US" sz="2400" dirty="0"/>
              <a:t>A mismatch occurs after matching </a:t>
            </a:r>
            <a:r>
              <a:rPr lang="en-US" sz="2400" dirty="0" smtClean="0"/>
              <a:t>k=3 </a:t>
            </a:r>
            <a:r>
              <a:rPr lang="en-US" sz="2400" dirty="0"/>
              <a:t>characters from the right</a:t>
            </a:r>
          </a:p>
          <a:p>
            <a:pPr marL="0" indent="0">
              <a:buNone/>
            </a:pPr>
            <a:r>
              <a:rPr lang="en-US" sz="2400" dirty="0"/>
              <a:t>The shift table gives t(c)=</a:t>
            </a:r>
            <a:r>
              <a:rPr lang="en-US" sz="2400" dirty="0" smtClean="0"/>
              <a:t>5</a:t>
            </a:r>
            <a:endParaRPr lang="en-US" sz="2400" dirty="0"/>
          </a:p>
          <a:p>
            <a:pPr marL="0" indent="0">
              <a:buNone/>
            </a:pPr>
            <a:r>
              <a:rPr lang="en-US" sz="2400" dirty="0"/>
              <a:t>What is the bad symbol shift </a:t>
            </a:r>
            <a:r>
              <a:rPr lang="en-US" sz="2400" dirty="0" smtClean="0"/>
              <a:t>d1?</a:t>
            </a:r>
            <a:endParaRPr lang="en-US" sz="2400" dirty="0"/>
          </a:p>
          <a:p>
            <a:pPr marL="0" indent="0">
              <a:buNone/>
            </a:pPr>
            <a:r>
              <a:rPr lang="en-US" sz="2400" dirty="0"/>
              <a:t>A. 2</a:t>
            </a:r>
            <a:br>
              <a:rPr lang="en-US" sz="2400" dirty="0"/>
            </a:br>
            <a:r>
              <a:rPr lang="en-US" sz="2400" dirty="0"/>
              <a:t>B. 3</a:t>
            </a:r>
            <a:br>
              <a:rPr lang="en-US" sz="2400" dirty="0"/>
            </a:br>
            <a:r>
              <a:rPr lang="en-US" sz="2400" dirty="0"/>
              <a:t>C. 5</a:t>
            </a:r>
            <a:br>
              <a:rPr lang="en-US" sz="2400" dirty="0"/>
            </a:br>
            <a:r>
              <a:rPr lang="en-US" sz="2400" dirty="0"/>
              <a:t>D. 8</a:t>
            </a:r>
          </a:p>
          <a:p>
            <a:pPr marL="0" indent="0">
              <a:buNone/>
            </a:pPr>
            <a:endParaRPr lang="en-US" sz="2400" b="1" dirty="0"/>
          </a:p>
          <a:p>
            <a:pPr marL="0" indent="0">
              <a:buNone/>
            </a:pPr>
            <a:r>
              <a:rPr lang="en-US" sz="2400" dirty="0" smtClean="0"/>
              <a:t>Answer : A.2</a:t>
            </a:r>
            <a:endParaRPr lang="en-US" sz="2400" dirty="0"/>
          </a:p>
          <a:p>
            <a:endParaRPr lang="en-US" sz="2400" dirty="0" smtClean="0"/>
          </a:p>
          <a:p>
            <a:endParaRPr lang="en-US" sz="2400" dirty="0"/>
          </a:p>
          <a:p>
            <a:endParaRPr lang="en-US" sz="2400" dirty="0" smtClean="0"/>
          </a:p>
          <a:p>
            <a:endParaRPr lang="en-US" sz="2400" dirty="0"/>
          </a:p>
          <a:p>
            <a:endParaRPr lang="en-US" sz="2400" dirty="0" smtClean="0"/>
          </a:p>
          <a:p>
            <a:endParaRPr lang="en-US" sz="2400" dirty="0"/>
          </a:p>
          <a:p>
            <a:endParaRPr lang="en-US" sz="2400" dirty="0" smtClean="0"/>
          </a:p>
          <a:p>
            <a:endParaRPr lang="en-US" sz="2400" dirty="0"/>
          </a:p>
          <a:p>
            <a:endParaRPr lang="en-US" sz="2400" b="1" dirty="0"/>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spTree>
    <p:extLst>
      <p:ext uri="{BB962C8B-B14F-4D97-AF65-F5344CB8AC3E}">
        <p14:creationId xmlns:p14="http://schemas.microsoft.com/office/powerpoint/2010/main" val="1826863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Multiple Choice Questions</a:t>
            </a:r>
            <a:endParaRPr lang="en-IN" sz="2400" b="1" dirty="0">
              <a:solidFill>
                <a:schemeClr val="accent2">
                  <a:lumMod val="75000"/>
                </a:schemeClr>
              </a:solidFill>
            </a:endParaRP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5" y="1513221"/>
            <a:ext cx="10085042" cy="484028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Suppose a suffix </a:t>
            </a:r>
            <a:r>
              <a:rPr lang="en-US" sz="2400" dirty="0" err="1" smtClean="0"/>
              <a:t>suff</a:t>
            </a:r>
            <a:r>
              <a:rPr lang="en-US" sz="2400" dirty="0" smtClean="0"/>
              <a:t>(k) </a:t>
            </a:r>
            <a:r>
              <a:rPr lang="en-US" sz="2400" dirty="0"/>
              <a:t>matches during Boyer–Moore execution, but:</a:t>
            </a:r>
          </a:p>
          <a:p>
            <a:pPr marL="0" indent="0">
              <a:buNone/>
            </a:pPr>
            <a:r>
              <a:rPr lang="en-US" sz="2400" dirty="0"/>
              <a:t>No other occurrence of </a:t>
            </a:r>
            <a:r>
              <a:rPr lang="en-US" sz="2400" dirty="0" err="1" smtClean="0"/>
              <a:t>suff</a:t>
            </a:r>
            <a:r>
              <a:rPr lang="en-US" sz="2400" dirty="0" smtClean="0"/>
              <a:t>(k) </a:t>
            </a:r>
            <a:r>
              <a:rPr lang="en-US" sz="2400" dirty="0"/>
              <a:t>exists in the </a:t>
            </a:r>
            <a:r>
              <a:rPr lang="en-US" sz="2400" dirty="0" smtClean="0"/>
              <a:t>pattern. However</a:t>
            </a:r>
            <a:r>
              <a:rPr lang="en-US" sz="2400" dirty="0"/>
              <a:t>, a proper prefix of the pattern matches a suffix of </a:t>
            </a:r>
            <a:r>
              <a:rPr lang="en-US" sz="2400" dirty="0" err="1" smtClean="0"/>
              <a:t>suff</a:t>
            </a:r>
            <a:r>
              <a:rPr lang="en-US" sz="2400" dirty="0" smtClean="0"/>
              <a:t>(k)</a:t>
            </a:r>
            <a:endParaRPr lang="en-US" sz="2400" dirty="0"/>
          </a:p>
          <a:p>
            <a:pPr marL="0" indent="0">
              <a:buNone/>
            </a:pPr>
            <a:r>
              <a:rPr lang="en-US" sz="2400" dirty="0"/>
              <a:t>Which case applies and how is the shift determined</a:t>
            </a:r>
            <a:r>
              <a:rPr lang="en-US" sz="2400" dirty="0" smtClean="0"/>
              <a:t>?</a:t>
            </a:r>
          </a:p>
          <a:p>
            <a:pPr marL="0" indent="0">
              <a:buNone/>
            </a:pPr>
            <a:endParaRPr lang="en-US" sz="2400" dirty="0"/>
          </a:p>
          <a:p>
            <a:pPr marL="0" indent="0">
              <a:buNone/>
            </a:pPr>
            <a:r>
              <a:rPr lang="en-US" sz="2400" dirty="0" smtClean="0"/>
              <a:t>A. Case </a:t>
            </a:r>
            <a:r>
              <a:rPr lang="en-US" sz="2400" dirty="0"/>
              <a:t>1: Align second occurrence of </a:t>
            </a:r>
            <a:r>
              <a:rPr lang="en-US" sz="2400" dirty="0" smtClean="0"/>
              <a:t>suffix</a:t>
            </a:r>
          </a:p>
          <a:p>
            <a:pPr marL="0" indent="0">
              <a:buNone/>
            </a:pPr>
            <a:r>
              <a:rPr lang="en-US" sz="2400" dirty="0" smtClean="0"/>
              <a:t>B</a:t>
            </a:r>
            <a:r>
              <a:rPr lang="en-US" sz="2400" dirty="0"/>
              <a:t>. Case 2: Align longest matching prefix with </a:t>
            </a:r>
            <a:r>
              <a:rPr lang="en-US" sz="2400" dirty="0" smtClean="0"/>
              <a:t>suffix</a:t>
            </a:r>
          </a:p>
          <a:p>
            <a:pPr marL="0" indent="0">
              <a:buNone/>
            </a:pPr>
            <a:r>
              <a:rPr lang="en-US" sz="2400" dirty="0" smtClean="0"/>
              <a:t>C</a:t>
            </a:r>
            <a:r>
              <a:rPr lang="en-US" sz="2400" dirty="0"/>
              <a:t>. Case 3: Shift by full pattern </a:t>
            </a:r>
            <a:r>
              <a:rPr lang="en-US" sz="2400" dirty="0" smtClean="0"/>
              <a:t>length</a:t>
            </a:r>
          </a:p>
          <a:p>
            <a:pPr marL="0" indent="0">
              <a:buNone/>
            </a:pPr>
            <a:r>
              <a:rPr lang="en-US" sz="2400" dirty="0" smtClean="0"/>
              <a:t>D</a:t>
            </a:r>
            <a:r>
              <a:rPr lang="en-US" sz="2400" dirty="0"/>
              <a:t>. No shift is performed</a:t>
            </a:r>
          </a:p>
          <a:p>
            <a:pPr marL="0" indent="0">
              <a:buNone/>
            </a:pPr>
            <a:endParaRPr lang="en-US" sz="2400" dirty="0" smtClean="0"/>
          </a:p>
          <a:p>
            <a:pPr marL="0" indent="0">
              <a:buNone/>
            </a:pPr>
            <a:r>
              <a:rPr lang="en-US" sz="2400" dirty="0" smtClean="0"/>
              <a:t>Answer  B</a:t>
            </a:r>
            <a:r>
              <a:rPr lang="en-US" sz="2400" dirty="0"/>
              <a:t>. Case 2: Align longest matching prefix with suffix</a:t>
            </a:r>
          </a:p>
          <a:p>
            <a:pPr marL="0" indent="0">
              <a:buNone/>
            </a:pPr>
            <a:endParaRPr lang="en-US" sz="2400" dirty="0"/>
          </a:p>
          <a:p>
            <a:endParaRPr lang="en-US" sz="2400" dirty="0" smtClean="0"/>
          </a:p>
          <a:p>
            <a:endParaRPr lang="en-US" sz="2400" dirty="0"/>
          </a:p>
          <a:p>
            <a:endParaRPr lang="en-US" sz="2400" dirty="0" smtClean="0"/>
          </a:p>
          <a:p>
            <a:endParaRPr lang="en-US" sz="2400" dirty="0"/>
          </a:p>
          <a:p>
            <a:endParaRPr lang="en-US" sz="2400" dirty="0" smtClean="0"/>
          </a:p>
          <a:p>
            <a:endParaRPr lang="en-US" sz="2400" dirty="0"/>
          </a:p>
          <a:p>
            <a:endParaRPr lang="en-US" sz="2400" b="1" dirty="0"/>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spTree>
    <p:extLst>
      <p:ext uri="{BB962C8B-B14F-4D97-AF65-F5344CB8AC3E}">
        <p14:creationId xmlns:p14="http://schemas.microsoft.com/office/powerpoint/2010/main" val="33365311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Multiple Choice Questions</a:t>
            </a:r>
            <a:endParaRPr lang="en-IN" sz="2400" b="1" dirty="0">
              <a:solidFill>
                <a:schemeClr val="accent2">
                  <a:lumMod val="75000"/>
                </a:schemeClr>
              </a:solidFill>
            </a:endParaRP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5" y="1513221"/>
            <a:ext cx="10085042" cy="4840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During execution, suppose:</a:t>
            </a:r>
          </a:p>
          <a:p>
            <a:pPr marL="0" indent="0">
              <a:buNone/>
            </a:pPr>
            <a:r>
              <a:rPr lang="en-US" sz="2400" dirty="0"/>
              <a:t>Bad symbol shift </a:t>
            </a:r>
            <a:r>
              <a:rPr lang="en-US" sz="2400" dirty="0" smtClean="0"/>
              <a:t>d1=2</a:t>
            </a:r>
            <a:endParaRPr lang="en-US" sz="2400" dirty="0"/>
          </a:p>
          <a:p>
            <a:pPr marL="0" indent="0">
              <a:buNone/>
            </a:pPr>
            <a:r>
              <a:rPr lang="en-US" sz="2400" dirty="0"/>
              <a:t>Good suffix shift </a:t>
            </a:r>
            <a:r>
              <a:rPr lang="en-US" sz="2400" dirty="0" smtClean="0"/>
              <a:t>d2=5</a:t>
            </a:r>
            <a:endParaRPr lang="en-US" sz="2400" dirty="0"/>
          </a:p>
          <a:p>
            <a:pPr marL="0" indent="0">
              <a:buNone/>
            </a:pPr>
            <a:r>
              <a:rPr lang="en-US" sz="2400" dirty="0"/>
              <a:t>What shift will Boyer–Moore apply?</a:t>
            </a:r>
          </a:p>
          <a:p>
            <a:pPr marL="457200" indent="-457200">
              <a:buAutoNum type="alphaUcPeriod"/>
            </a:pPr>
            <a:r>
              <a:rPr lang="en-US" sz="2400" dirty="0" smtClean="0"/>
              <a:t>2</a:t>
            </a:r>
          </a:p>
          <a:p>
            <a:pPr marL="457200" indent="-457200">
              <a:buAutoNum type="alphaUcPeriod"/>
            </a:pPr>
            <a:r>
              <a:rPr lang="en-US" sz="2400" dirty="0" smtClean="0"/>
              <a:t>5</a:t>
            </a:r>
          </a:p>
          <a:p>
            <a:pPr marL="457200" indent="-457200">
              <a:buAutoNum type="alphaUcPeriod"/>
            </a:pPr>
            <a:r>
              <a:rPr lang="en-US" sz="2400" dirty="0" smtClean="0"/>
              <a:t>7</a:t>
            </a:r>
          </a:p>
          <a:p>
            <a:pPr marL="457200" indent="-457200">
              <a:buAutoNum type="alphaUcPeriod"/>
            </a:pPr>
            <a:r>
              <a:rPr lang="en-US" sz="2400" dirty="0" smtClean="0"/>
              <a:t>3</a:t>
            </a:r>
          </a:p>
          <a:p>
            <a:pPr marL="457200" indent="-457200">
              <a:buAutoNum type="alphaUcPeriod"/>
            </a:pPr>
            <a:endParaRPr lang="en-US" sz="2400" dirty="0"/>
          </a:p>
          <a:p>
            <a:pPr marL="0" indent="0">
              <a:buNone/>
            </a:pPr>
            <a:r>
              <a:rPr lang="en-US" sz="2400" dirty="0" smtClean="0"/>
              <a:t>Answer: B. 5</a:t>
            </a:r>
          </a:p>
          <a:p>
            <a:pPr marL="457200" indent="-457200">
              <a:buAutoNum type="alphaUcPeriod"/>
            </a:pPr>
            <a:endParaRPr lang="en-US" sz="2400" dirty="0"/>
          </a:p>
          <a:p>
            <a:pPr marL="457200" indent="-457200">
              <a:buAutoNum type="alphaUcPeriod"/>
            </a:pPr>
            <a:endParaRPr lang="en-US" sz="2400" dirty="0" smtClean="0"/>
          </a:p>
          <a:p>
            <a:endParaRPr lang="en-US" sz="2400" dirty="0"/>
          </a:p>
          <a:p>
            <a:pPr marL="0" indent="0">
              <a:buNone/>
            </a:pPr>
            <a:endParaRPr lang="en-US" sz="2400" dirty="0"/>
          </a:p>
          <a:p>
            <a:endParaRPr lang="en-US" sz="2400" dirty="0" smtClean="0"/>
          </a:p>
          <a:p>
            <a:endParaRPr lang="en-US" sz="2400" dirty="0"/>
          </a:p>
          <a:p>
            <a:endParaRPr lang="en-US" sz="2400" dirty="0" smtClean="0"/>
          </a:p>
          <a:p>
            <a:endParaRPr lang="en-US" sz="2400" dirty="0"/>
          </a:p>
          <a:p>
            <a:endParaRPr lang="en-US" sz="2400" dirty="0" smtClean="0"/>
          </a:p>
          <a:p>
            <a:endParaRPr lang="en-US" sz="2400" dirty="0"/>
          </a:p>
          <a:p>
            <a:endParaRPr lang="en-US" sz="2400" b="1" dirty="0"/>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spTree>
    <p:extLst>
      <p:ext uri="{BB962C8B-B14F-4D97-AF65-F5344CB8AC3E}">
        <p14:creationId xmlns:p14="http://schemas.microsoft.com/office/powerpoint/2010/main" val="22387862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smtClean="0">
                <a:solidFill>
                  <a:schemeClr val="accent2">
                    <a:lumMod val="75000"/>
                  </a:schemeClr>
                </a:solidFill>
              </a:rPr>
              <a:t> Multiple Choice Questions</a:t>
            </a:r>
            <a:endParaRPr lang="en-IN" sz="2400" b="1" dirty="0">
              <a:solidFill>
                <a:schemeClr val="accent2">
                  <a:lumMod val="75000"/>
                </a:schemeClr>
              </a:solidFill>
            </a:endParaRPr>
          </a:p>
        </p:txBody>
      </p:sp>
      <p:cxnSp>
        <p:nvCxnSpPr>
          <p:cNvPr id="8" name="Straight Connector 7">
            <a:extLst>
              <a:ext uri="{FF2B5EF4-FFF2-40B4-BE49-F238E27FC236}">
                <a16:creationId xmlns="" xmlns:a16="http://schemas.microsoft.com/office/drawing/2014/main" id="{A4293697-6E2C-4331-B4E1-C58B355192F4}"/>
              </a:ext>
            </a:extLst>
          </p:cNvPr>
          <p:cNvCxnSpPr>
            <a:cxnSpLocks/>
          </p:cNvCxnSpPr>
          <p:nvPr/>
        </p:nvCxnSpPr>
        <p:spPr>
          <a:xfrm>
            <a:off x="-8308" y="1316458"/>
            <a:ext cx="9008617" cy="1595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050" name="AutoShape 2"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Difference between Linked List and Array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0" name="AutoShape 2" descr="https://media.geeksforgeeks.org/wp-content/cdn-uploads/gq/2013/03/Linkedlist.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 name="Rectangle 3"/>
          <p:cNvSpPr txBox="1">
            <a:spLocks noChangeArrowheads="1"/>
          </p:cNvSpPr>
          <p:nvPr/>
        </p:nvSpPr>
        <p:spPr>
          <a:xfrm>
            <a:off x="460375" y="1513221"/>
            <a:ext cx="10085042" cy="4840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Why does the good suffix rule require that the second occurrence of </a:t>
            </a:r>
            <a:r>
              <a:rPr lang="en-US" sz="2400" dirty="0" err="1" smtClean="0"/>
              <a:t>suff</a:t>
            </a:r>
            <a:r>
              <a:rPr lang="en-US" sz="2400" dirty="0" smtClean="0"/>
              <a:t>(k) must </a:t>
            </a:r>
            <a:r>
              <a:rPr lang="en-US" sz="2400" dirty="0"/>
              <a:t>not be preceded by the same mismatching character?</a:t>
            </a:r>
          </a:p>
          <a:p>
            <a:pPr marL="457200" indent="-457200">
              <a:buAutoNum type="alphaUcPeriod"/>
            </a:pPr>
            <a:r>
              <a:rPr lang="en-US" sz="2400" dirty="0" smtClean="0"/>
              <a:t>To </a:t>
            </a:r>
            <a:r>
              <a:rPr lang="en-US" sz="2400" dirty="0"/>
              <a:t>ensure the suffix is unique in the </a:t>
            </a:r>
            <a:r>
              <a:rPr lang="en-US" sz="2400" dirty="0" smtClean="0"/>
              <a:t>pattern</a:t>
            </a:r>
          </a:p>
          <a:p>
            <a:pPr marL="457200" indent="-457200">
              <a:buAutoNum type="alphaUcPeriod"/>
            </a:pPr>
            <a:r>
              <a:rPr lang="en-US" sz="2400" dirty="0" smtClean="0"/>
              <a:t>To </a:t>
            </a:r>
            <a:r>
              <a:rPr lang="en-US" sz="2400" dirty="0"/>
              <a:t>avoid infinite </a:t>
            </a:r>
            <a:r>
              <a:rPr lang="en-US" sz="2400" dirty="0" smtClean="0"/>
              <a:t>loops</a:t>
            </a:r>
          </a:p>
          <a:p>
            <a:pPr marL="457200" indent="-457200">
              <a:buAutoNum type="alphaUcPeriod"/>
            </a:pPr>
            <a:r>
              <a:rPr lang="en-US" sz="2400" dirty="0" smtClean="0"/>
              <a:t>To </a:t>
            </a:r>
            <a:r>
              <a:rPr lang="en-US" sz="2400" dirty="0"/>
              <a:t>prevent repeating the same mismatch after </a:t>
            </a:r>
            <a:r>
              <a:rPr lang="en-US" sz="2400" dirty="0" smtClean="0"/>
              <a:t>shifting</a:t>
            </a:r>
          </a:p>
          <a:p>
            <a:pPr marL="457200" indent="-457200">
              <a:buAutoNum type="alphaUcPeriod"/>
            </a:pPr>
            <a:r>
              <a:rPr lang="en-US" sz="2400" dirty="0" smtClean="0"/>
              <a:t>To </a:t>
            </a:r>
            <a:r>
              <a:rPr lang="en-US" sz="2400" dirty="0"/>
              <a:t>reduce preprocessing </a:t>
            </a:r>
            <a:r>
              <a:rPr lang="en-US" sz="2400" dirty="0" smtClean="0"/>
              <a:t>time</a:t>
            </a:r>
          </a:p>
          <a:p>
            <a:pPr marL="0" indent="0">
              <a:buNone/>
            </a:pPr>
            <a:endParaRPr lang="en-US" sz="2400" dirty="0" smtClean="0"/>
          </a:p>
          <a:p>
            <a:pPr marL="0" indent="0">
              <a:buNone/>
            </a:pPr>
            <a:r>
              <a:rPr lang="en-US" sz="2400" dirty="0" smtClean="0"/>
              <a:t>Answer: C.</a:t>
            </a:r>
            <a:r>
              <a:rPr lang="en-US" sz="2400" dirty="0"/>
              <a:t> To prevent repeating the same mismatch after shifting</a:t>
            </a:r>
          </a:p>
          <a:p>
            <a:pPr marL="0" indent="0">
              <a:buNone/>
            </a:pPr>
            <a:endParaRPr lang="en-US" sz="2400" dirty="0"/>
          </a:p>
          <a:p>
            <a:pPr marL="457200" indent="-457200">
              <a:buAutoNum type="alphaUcPeriod"/>
            </a:pPr>
            <a:endParaRPr lang="en-US" sz="2400" dirty="0" smtClean="0"/>
          </a:p>
          <a:p>
            <a:pPr marL="457200" indent="-457200">
              <a:buAutoNum type="alphaUcPeriod"/>
            </a:pPr>
            <a:endParaRPr lang="en-US" sz="2400" dirty="0"/>
          </a:p>
          <a:p>
            <a:pPr marL="457200" indent="-457200">
              <a:buAutoNum type="alphaUcPeriod"/>
            </a:pPr>
            <a:endParaRPr lang="en-US" sz="2400" dirty="0"/>
          </a:p>
          <a:p>
            <a:pPr marL="457200" indent="-457200">
              <a:buAutoNum type="alphaUcPeriod"/>
            </a:pPr>
            <a:endParaRPr lang="en-US" sz="2400" dirty="0" smtClean="0"/>
          </a:p>
          <a:p>
            <a:endParaRPr lang="en-US" sz="2400" dirty="0"/>
          </a:p>
          <a:p>
            <a:pPr marL="0" indent="0">
              <a:buNone/>
            </a:pPr>
            <a:endParaRPr lang="en-US" sz="2400" dirty="0"/>
          </a:p>
          <a:p>
            <a:endParaRPr lang="en-US" sz="2400" dirty="0" smtClean="0"/>
          </a:p>
          <a:p>
            <a:endParaRPr lang="en-US" sz="2400" dirty="0"/>
          </a:p>
          <a:p>
            <a:endParaRPr lang="en-US" sz="2400" dirty="0" smtClean="0"/>
          </a:p>
          <a:p>
            <a:endParaRPr lang="en-US" sz="2400" dirty="0"/>
          </a:p>
          <a:p>
            <a:endParaRPr lang="en-US" sz="2400" dirty="0" smtClean="0"/>
          </a:p>
          <a:p>
            <a:endParaRPr lang="en-US" sz="2400" dirty="0"/>
          </a:p>
          <a:p>
            <a:endParaRPr lang="en-US" sz="2400" b="1" dirty="0"/>
          </a:p>
        </p:txBody>
      </p:sp>
      <p:pic>
        <p:nvPicPr>
          <p:cNvPr id="11" name="Picture 10"/>
          <p:cNvPicPr>
            <a:picLocks noChangeAspect="1"/>
          </p:cNvPicPr>
          <p:nvPr/>
        </p:nvPicPr>
        <p:blipFill>
          <a:blip r:embed="rId2"/>
          <a:stretch>
            <a:fillRect/>
          </a:stretch>
        </p:blipFill>
        <p:spPr>
          <a:xfrm>
            <a:off x="10406760" y="230188"/>
            <a:ext cx="1542422" cy="792549"/>
          </a:xfrm>
          <a:prstGeom prst="rect">
            <a:avLst/>
          </a:prstGeom>
        </p:spPr>
      </p:pic>
    </p:spTree>
    <p:extLst>
      <p:ext uri="{BB962C8B-B14F-4D97-AF65-F5344CB8AC3E}">
        <p14:creationId xmlns:p14="http://schemas.microsoft.com/office/powerpoint/2010/main" val="9750057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Google Shape;1862;p148"/>
          <p:cNvSpPr>
            <a:spLocks noChangeArrowheads="1"/>
          </p:cNvSpPr>
          <p:nvPr/>
        </p:nvSpPr>
        <p:spPr bwMode="auto">
          <a:xfrm>
            <a:off x="5667375" y="2566988"/>
            <a:ext cx="4603750"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sz="3600" b="1" dirty="0">
                <a:solidFill>
                  <a:srgbClr val="C55A11"/>
                </a:solidFill>
                <a:latin typeface="Calibri" panose="020F0502020204030204" pitchFamily="34" charset="0"/>
                <a:cs typeface="Calibri" panose="020F0502020204030204" pitchFamily="34" charset="0"/>
                <a:sym typeface="Calibri" panose="020F0502020204030204" pitchFamily="34" charset="0"/>
              </a:rPr>
              <a:t>THANK </a:t>
            </a:r>
            <a:r>
              <a:rPr lang="en-US" sz="3600" b="1" dirty="0" smtClean="0">
                <a:solidFill>
                  <a:srgbClr val="C55A11"/>
                </a:solidFill>
                <a:latin typeface="Calibri" panose="020F0502020204030204" pitchFamily="34" charset="0"/>
                <a:cs typeface="Calibri" panose="020F0502020204030204" pitchFamily="34" charset="0"/>
                <a:sym typeface="Calibri" panose="020F0502020204030204" pitchFamily="34" charset="0"/>
              </a:rPr>
              <a:t>YOU</a:t>
            </a:r>
          </a:p>
          <a:p>
            <a:pPr eaLnBrk="1" hangingPunct="1"/>
            <a:endParaRPr lang="en-US" sz="3600" b="1" dirty="0" smtClean="0">
              <a:solidFill>
                <a:srgbClr val="C55A11"/>
              </a:solidFill>
              <a:latin typeface="Calibri" panose="020F0502020204030204" pitchFamily="34" charset="0"/>
              <a:cs typeface="Calibri" panose="020F0502020204030204" pitchFamily="34" charset="0"/>
              <a:sym typeface="Calibri" panose="020F0502020204030204" pitchFamily="34" charset="0"/>
            </a:endParaRPr>
          </a:p>
          <a:p>
            <a:pPr eaLnBrk="1" hangingPunct="1"/>
            <a:r>
              <a:rPr lang="en-US" sz="2400" b="1" dirty="0" smtClean="0">
                <a:solidFill>
                  <a:schemeClr val="tx1"/>
                </a:solidFill>
                <a:latin typeface="Calibri" panose="020F0502020204030204" pitchFamily="34" charset="0"/>
                <a:cs typeface="Calibri" panose="020F0502020204030204" pitchFamily="34" charset="0"/>
                <a:sym typeface="Calibri" panose="020F0502020204030204" pitchFamily="34" charset="0"/>
              </a:rPr>
              <a:t>Dinesh Singh</a:t>
            </a:r>
          </a:p>
          <a:p>
            <a:pPr eaLnBrk="1" hangingPunct="1"/>
            <a:r>
              <a:rPr lang="en-US" sz="2400" b="1" dirty="0" smtClean="0">
                <a:solidFill>
                  <a:schemeClr val="tx1"/>
                </a:solidFill>
                <a:latin typeface="Calibri" panose="020F0502020204030204" pitchFamily="34" charset="0"/>
                <a:cs typeface="Calibri" panose="020F0502020204030204" pitchFamily="34" charset="0"/>
                <a:sym typeface="Calibri" panose="020F0502020204030204" pitchFamily="34" charset="0"/>
              </a:rPr>
              <a:t>Department of Computer Science &amp; Engineering</a:t>
            </a:r>
            <a:endParaRPr lang="en-US" sz="2400" b="1" dirty="0">
              <a:solidFill>
                <a:schemeClr val="tx1"/>
              </a:solidFill>
              <a:latin typeface="Calibri" panose="020F0502020204030204" pitchFamily="34" charset="0"/>
              <a:cs typeface="Calibri" panose="020F0502020204030204" pitchFamily="34" charset="0"/>
              <a:sym typeface="Calibri" panose="020F0502020204030204" pitchFamily="34" charset="0"/>
            </a:endParaRPr>
          </a:p>
        </p:txBody>
      </p:sp>
      <p:sp>
        <p:nvSpPr>
          <p:cNvPr id="11268" name="Google Shape;1864;p148"/>
          <p:cNvSpPr>
            <a:spLocks noChangeArrowheads="1"/>
          </p:cNvSpPr>
          <p:nvPr/>
        </p:nvSpPr>
        <p:spPr bwMode="auto">
          <a:xfrm>
            <a:off x="5680075" y="3127375"/>
            <a:ext cx="5256213"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endParaRPr lang="en-US" sz="2400" b="1" dirty="0">
              <a:latin typeface="Calibri" panose="020F0502020204030204" pitchFamily="34" charset="0"/>
              <a:cs typeface="Calibri" panose="020F0502020204030204" pitchFamily="34" charset="0"/>
              <a:sym typeface="Calibri" panose="020F0502020204030204" pitchFamily="34" charset="0"/>
            </a:endParaRPr>
          </a:p>
        </p:txBody>
      </p:sp>
      <p:pic>
        <p:nvPicPr>
          <p:cNvPr id="5" name="object 7"/>
          <p:cNvPicPr/>
          <p:nvPr/>
        </p:nvPicPr>
        <p:blipFill>
          <a:blip r:embed="rId3" cstate="print"/>
          <a:stretch>
            <a:fillRect/>
          </a:stretch>
        </p:blipFill>
        <p:spPr>
          <a:xfrm>
            <a:off x="1380739" y="2334597"/>
            <a:ext cx="3150920" cy="1712968"/>
          </a:xfrm>
          <a:prstGeom prst="rect">
            <a:avLst/>
          </a:prstGeom>
        </p:spPr>
      </p:pic>
      <p:cxnSp>
        <p:nvCxnSpPr>
          <p:cNvPr id="6" name="Straight Connector 5">
            <a:extLst>
              <a:ext uri="{FF2B5EF4-FFF2-40B4-BE49-F238E27FC236}">
                <a16:creationId xmlns:a16="http://schemas.microsoft.com/office/drawing/2014/main" xmlns="" id="{1EEB87D2-BD33-43D4-B135-6F0E91C4917A}"/>
              </a:ext>
            </a:extLst>
          </p:cNvPr>
          <p:cNvCxnSpPr>
            <a:cxnSpLocks/>
          </p:cNvCxnSpPr>
          <p:nvPr/>
        </p:nvCxnSpPr>
        <p:spPr>
          <a:xfrm>
            <a:off x="4994108" y="3339537"/>
            <a:ext cx="4583156" cy="27277"/>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56392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1991</TotalTime>
  <Words>1589</Words>
  <Application>Microsoft Office PowerPoint</Application>
  <PresentationFormat>Widescreen</PresentationFormat>
  <Paragraphs>323</Paragraphs>
  <Slides>23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Vandana M Ladwani</dc:creator>
  <cp:lastModifiedBy>Microsoft account</cp:lastModifiedBy>
  <cp:revision>220</cp:revision>
  <dcterms:created xsi:type="dcterms:W3CDTF">2021-01-07T04:42:57Z</dcterms:created>
  <dcterms:modified xsi:type="dcterms:W3CDTF">2026-03-21T04:49:36Z</dcterms:modified>
</cp:coreProperties>
</file>